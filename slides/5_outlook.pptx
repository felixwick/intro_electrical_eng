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78" r:id="rId5"/>
    <p:sldId id="279" r:id="rId6"/>
    <p:sldId id="280" r:id="rId7"/>
    <p:sldId id="265" r:id="rId8"/>
    <p:sldId id="276" r:id="rId9"/>
    <p:sldId id="277" r:id="rId10"/>
    <p:sldId id="281" r:id="rId11"/>
    <p:sldId id="283" r:id="rId12"/>
    <p:sldId id="282" r:id="rId13"/>
    <p:sldId id="264" r:id="rId14"/>
    <p:sldId id="268" r:id="rId15"/>
    <p:sldId id="266" r:id="rId16"/>
    <p:sldId id="269" r:id="rId17"/>
    <p:sldId id="267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35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D2B9E5-E14E-A242-A6EC-A933D52BB951}" type="datetimeFigureOut">
              <a:rPr lang="de-DE" smtClean="0"/>
              <a:t>13.11.25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A7A671-D5F2-9D4C-84FC-656630B711D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64329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712905-2743-AFED-147F-81776CF6F0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4318666-1438-27E1-C033-EE71845768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020269-2EC7-9F14-21DA-04F90C291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D7779-9ED7-6548-B26D-2134BA4A857B}" type="datetime1">
              <a:rPr lang="de-DE" smtClean="0"/>
              <a:t>13.11.25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0AD186B-D606-80A9-3231-AFDD3ED03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E8124F-2E7C-B927-EFF6-B63A2CD1C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67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25E2BF-ADF2-3DC4-FA4E-D1369C745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33677BD-47FF-E5CB-CA78-D198E9798F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E5F8D5-5387-AC83-A38D-C9D2D53D0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5AE1B-76E6-F54D-86C0-AD1CFF11F96B}" type="datetime1">
              <a:rPr lang="de-DE" smtClean="0"/>
              <a:t>13.11.25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78E1981-3471-5501-CCD5-6B9F4593F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DB0F79-1415-EDE4-4CAD-98C1B0444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0937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F1E6C0-2754-E4D7-05DC-D933A957C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338ED65-5A15-10DD-4EE0-8E64840B12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7B6ECD0-891D-FE0D-57FF-FD19ADCFA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7A32C-3B0E-9046-9BCA-8D3CFD0D0D95}" type="datetime1">
              <a:rPr lang="de-DE" smtClean="0"/>
              <a:t>13.11.25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499EC5-9A04-E847-2381-66E46C6B7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1DD20D-4DE3-E370-2973-6F4FFEEDF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18414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27C080-2699-8C4D-247E-9FE16E5C4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B54751-8ECC-CEA3-C507-5B5D09A962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48AD17D-3682-A49A-121F-18B8D4750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175B295-1D41-A158-ADB3-422310B1D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A52F7-8793-A141-AE69-198742CC6702}" type="datetime1">
              <a:rPr lang="de-DE" smtClean="0"/>
              <a:t>13.11.25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CADF4B4-6342-5B87-3209-5DA3E9511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E060A6E-D7D0-7CE4-40FA-842FB2B9E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1917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8A690E-99D7-8012-E26A-9804DE759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7CDD5AF-A291-F2AC-0241-760A39B277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0558158-1749-D25D-9748-A209250DEE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E16DB6A-98E6-2659-02FE-545663A1BA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7EFD3DE-A60C-EB3D-1760-F0A4BF68CC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CC0260F-A8D6-2982-23A9-993FD5B82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5A209-622F-A54E-9C3A-3E2911113FDF}" type="datetime1">
              <a:rPr lang="de-DE" smtClean="0"/>
              <a:t>13.11.25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5F23EA3-9641-3552-922A-12706AE94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23A5E1F-6B47-573A-205E-66DF31205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8225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92E2D8-3CFB-CACB-F4FE-48FD415F2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EA3E912-6B21-741E-F960-084895FD9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34749A-61C6-C743-AD5E-DC0649EEC230}" type="datetime1">
              <a:rPr lang="de-DE" smtClean="0"/>
              <a:t>13.11.25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E41F180-2F19-901A-6BB9-E39F4A097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13575F-F27C-E6B1-BFC3-AE7D3B6CF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583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40B4247-6CD9-D5D3-5FC5-4451C0CD0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4BC4F-BCF2-2249-A269-0F72DF7AA52E}" type="datetime1">
              <a:rPr lang="de-DE" smtClean="0"/>
              <a:t>13.11.25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2546EC6-688E-8AB5-43AD-9052480D7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8C0EAD-7DC8-6BE1-FC64-56F2C984E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1566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CC33DC-A160-FB41-D126-A3547DABA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60B66D-791F-2292-2551-FC679BD4F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5D77A34-3875-8E8C-32D1-A95073EC1F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A8726F4-783A-FDF2-85A6-51B3CC354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04219-3111-8B48-BBA8-24CFD5B6C566}" type="datetime1">
              <a:rPr lang="de-DE" smtClean="0"/>
              <a:t>13.11.25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4D22A29-924F-4DC7-260D-925F8CD1C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A22BD22-5E11-DF4F-3360-771C07DE5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44596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A0A593-BEDC-0486-27C0-B20E1034C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D33F0EA-39EA-1492-EC71-CF4A0D3717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1604F41-D921-DB0E-3BF6-83CE9D25BA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0A5A97E-E1C8-BD1D-559E-7EE2C118F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E936FB-CAFC-9C44-A14F-A26CC8C15BFF}" type="datetime1">
              <a:rPr lang="de-DE" smtClean="0"/>
              <a:t>13.11.25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05F6FA6-3415-E1C1-428A-99882D864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6B9EA77-33C3-5945-059C-072F6C40F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1247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BEC98F-CC9A-0186-D2BE-90BE76616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387358D-B732-C69B-8720-1527F72603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8560E2-1F1C-7C54-0B5D-7D38BEFE5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11470-8E75-0440-9190-9B2DFC272B83}" type="datetime1">
              <a:rPr lang="de-DE" smtClean="0"/>
              <a:t>13.11.25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D77F92-171F-0BB3-150E-129BFCFAF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53C126-B175-5233-BDD7-A2956420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5592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AD9EF2E-F39C-3B63-05CC-CA2C840BCA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103AAA-5A8F-FE59-4E5E-B35CE4C20D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0324D1-AED3-3B17-572D-5CFBA3D4B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19E69-F517-504E-AF77-B00F51394D07}" type="datetime1">
              <a:rPr lang="de-DE" smtClean="0"/>
              <a:t>13.11.25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6D390D-93DE-9405-703A-669B6E31A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0D12D8F-D478-B753-C5DA-ABE412730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0142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A2A1AAB-D249-9CE3-38D9-E508FCFDE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E54D105-C730-104C-F17C-AD4D41831E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8A545F5-8879-1CE0-CD12-E49DC913CC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96802-0338-9943-B015-E12CC58B8DD0}" type="datetime1">
              <a:rPr lang="de-DE" smtClean="0"/>
              <a:t>13.11.25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648488-4094-4FAA-C1CD-8E5B9DA481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D25D587-8B29-F662-F0EC-F07FBC5D34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7C53EB-36EE-1F44-B26B-550DFA5AE2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44888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F2923D-3895-BF25-8FF0-9063E9CAEE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8E1015-F0F7-BDF7-81A6-8D77EBEA0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80" y="4581128"/>
            <a:ext cx="1973065" cy="19192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AF523FF-EDDE-CBCE-CF3C-23754CE877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71664" y="4581128"/>
            <a:ext cx="2193433" cy="191925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5D6C663-1B18-BF64-775E-7688EF4041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0" y="4581128"/>
            <a:ext cx="2846090" cy="227687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037BBB93-FC05-4423-CA66-B8B94BF79C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2090" y="4582955"/>
            <a:ext cx="2712054" cy="1988840"/>
          </a:xfrm>
          <a:prstGeom prst="rect">
            <a:avLst/>
          </a:prstGeom>
        </p:spPr>
      </p:pic>
      <p:pic>
        <p:nvPicPr>
          <p:cNvPr id="9" name="Grafik 8" descr="Ein Bild, das Grafiken, Schrift, Screenshot, Grafikdesign enthält.&#10;&#10;KI-generierte Inhalte können fehlerhaft sein.">
            <a:extLst>
              <a:ext uri="{FF2B5EF4-FFF2-40B4-BE49-F238E27FC236}">
                <a16:creationId xmlns:a16="http://schemas.microsoft.com/office/drawing/2014/main" id="{44C8233E-B9AF-4B79-8A1E-12D4DBDF58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2572" y="286205"/>
            <a:ext cx="2251572" cy="117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368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9877E-8B63-4736-A589-18D96CCD1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0A3E6E-DB3F-1143-1ADE-C8BBC012D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Principles</a:t>
            </a:r>
            <a:r>
              <a:rPr lang="de-DE" dirty="0"/>
              <a:t> and Basic </a:t>
            </a:r>
            <a:r>
              <a:rPr lang="de-DE" dirty="0" err="1"/>
              <a:t>Concepts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b="1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Electric and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Technology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b="1" dirty="0"/>
              <a:t>Wrap-Up and Outlook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48FD64-4E75-C8DE-40EE-ED62EA01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1228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F60613-2D57-5D53-4AB7-BF7C305DC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Wrap-Up and Outlook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5A4278-BC46-68BC-5F4E-DFB10F578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Summary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Applications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Outlook</a:t>
            </a:r>
          </a:p>
          <a:p>
            <a:pPr lvl="1"/>
            <a:r>
              <a:rPr lang="de-DE" dirty="0"/>
              <a:t>Semiconductor Devices and Electronics</a:t>
            </a:r>
          </a:p>
          <a:p>
            <a:pPr lvl="1"/>
            <a:r>
              <a:rPr lang="de-DE" dirty="0"/>
              <a:t>Energy Systems</a:t>
            </a:r>
          </a:p>
          <a:p>
            <a:pPr lvl="1"/>
            <a:r>
              <a:rPr lang="de-DE" dirty="0"/>
              <a:t>Information Systems</a:t>
            </a:r>
          </a:p>
          <a:p>
            <a:pPr lvl="1"/>
            <a:r>
              <a:rPr lang="de-DE" dirty="0"/>
              <a:t>Control Systems</a:t>
            </a:r>
          </a:p>
          <a:p>
            <a:pPr lvl="1"/>
            <a:r>
              <a:rPr lang="de-DE" dirty="0"/>
              <a:t>Embedded Systems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059137-A0C8-B0D7-3727-67AB4E5BD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3494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3B94CE-A8FF-0FB9-D08E-9192C1EA2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Fuse</a:t>
            </a:r>
            <a:r>
              <a:rPr lang="de-DE" dirty="0"/>
              <a:t> and Circuit Breaker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B77FFBF-FA08-B624-1218-B627F3FF0A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protect </a:t>
                </a:r>
                <a:r>
                  <a:rPr lang="de-DE" dirty="0" err="1"/>
                  <a:t>circuits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excess</a:t>
                </a:r>
                <a:r>
                  <a:rPr lang="de-DE" dirty="0"/>
                  <a:t> </a:t>
                </a:r>
                <a:r>
                  <a:rPr lang="de-DE" dirty="0" err="1"/>
                  <a:t>current</a:t>
                </a:r>
                <a:r>
                  <a:rPr lang="de-DE" dirty="0"/>
                  <a:t>, </a:t>
                </a:r>
                <a:r>
                  <a:rPr lang="de-DE" dirty="0" err="1"/>
                  <a:t>which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usually</a:t>
                </a:r>
                <a:r>
                  <a:rPr lang="de-DE" dirty="0"/>
                  <a:t> </a:t>
                </a:r>
                <a:r>
                  <a:rPr lang="de-DE" dirty="0" err="1"/>
                  <a:t>caused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overload</a:t>
                </a:r>
                <a:r>
                  <a:rPr lang="de-DE" dirty="0"/>
                  <a:t> (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devices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circuit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handle)</a:t>
                </a:r>
              </a:p>
              <a:p>
                <a:r>
                  <a:rPr lang="de-DE" dirty="0" err="1"/>
                  <a:t>short</a:t>
                </a:r>
                <a:r>
                  <a:rPr lang="de-DE" dirty="0"/>
                  <a:t> </a:t>
                </a:r>
                <a:r>
                  <a:rPr lang="de-DE" dirty="0" err="1"/>
                  <a:t>circuit</a:t>
                </a:r>
                <a:r>
                  <a:rPr lang="de-DE" dirty="0"/>
                  <a:t> (</a:t>
                </a:r>
                <a:r>
                  <a:rPr lang="de-DE" dirty="0" err="1"/>
                  <a:t>very</a:t>
                </a:r>
                <a:r>
                  <a:rPr lang="de-DE" dirty="0"/>
                  <a:t> </a:t>
                </a:r>
                <a:r>
                  <a:rPr lang="de-DE" dirty="0" err="1"/>
                  <a:t>low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 </a:t>
                </a:r>
                <a:r>
                  <a:rPr lang="de-DE" dirty="0" err="1"/>
                  <a:t>path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typically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16 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power </a:t>
                </a:r>
                <a:r>
                  <a:rPr lang="de-DE" dirty="0" err="1"/>
                  <a:t>outlets</a:t>
                </a:r>
                <a:r>
                  <a:rPr lang="de-DE" dirty="0"/>
                  <a:t>:</a:t>
                </a:r>
              </a:p>
              <a:p>
                <a:r>
                  <a:rPr lang="de-DE" sz="2200" dirty="0"/>
                  <a:t>maximum </a:t>
                </a:r>
                <a:r>
                  <a:rPr lang="de-DE" sz="2200" dirty="0" err="1"/>
                  <a:t>continuous</a:t>
                </a:r>
                <a:r>
                  <a:rPr lang="de-DE" sz="2200" dirty="0"/>
                  <a:t> power (</a:t>
                </a:r>
                <a:r>
                  <a:rPr lang="de-DE" sz="2200" dirty="0" err="1"/>
                  <a:t>assuming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230 </m:t>
                    </m:r>
                    <m:r>
                      <m:rPr>
                        <m:sty m:val="p"/>
                      </m:rPr>
                      <a:rPr lang="de-DE" sz="2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sz="2200" dirty="0"/>
                  <a:t>): </a:t>
                </a: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=230 </m:t>
                    </m:r>
                    <m:r>
                      <m:rPr>
                        <m:sty m:val="p"/>
                      </m:rPr>
                      <a:rPr lang="de-DE" sz="2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∙16 </m:t>
                    </m:r>
                    <m:r>
                      <m:rPr>
                        <m:sty m:val="p"/>
                      </m:rPr>
                      <a:rPr lang="de-DE" sz="2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A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=3680</m:t>
                    </m:r>
                    <m:r>
                      <a:rPr lang="de-DE" sz="2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W</m:t>
                    </m:r>
                  </m:oMath>
                </a14:m>
                <a:endParaRPr lang="de-DE" sz="2200" dirty="0"/>
              </a:p>
              <a:p>
                <a:r>
                  <a:rPr lang="de-DE" sz="2200" dirty="0"/>
                  <a:t>this </a:t>
                </a:r>
                <a:r>
                  <a:rPr lang="de-DE" sz="2200" dirty="0" err="1"/>
                  <a:t>is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enough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power </a:t>
                </a:r>
                <a:r>
                  <a:rPr lang="de-DE" sz="2200" dirty="0" err="1"/>
                  <a:t>several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devices</a:t>
                </a:r>
                <a:r>
                  <a:rPr lang="de-DE" sz="2200" dirty="0"/>
                  <a:t> at </a:t>
                </a:r>
                <a:r>
                  <a:rPr lang="de-DE" sz="2200" dirty="0" err="1"/>
                  <a:t>once</a:t>
                </a:r>
                <a:r>
                  <a:rPr lang="de-DE" sz="2200" dirty="0"/>
                  <a:t>, like: 1–2 </a:t>
                </a:r>
                <a:r>
                  <a:rPr lang="de-DE" sz="2200" dirty="0" err="1"/>
                  <a:t>kettles</a:t>
                </a:r>
                <a:r>
                  <a:rPr lang="de-DE" sz="2200" dirty="0"/>
                  <a:t>, 1 </a:t>
                </a:r>
                <a:r>
                  <a:rPr lang="de-DE" sz="2200" dirty="0" err="1"/>
                  <a:t>microwave</a:t>
                </a:r>
                <a:r>
                  <a:rPr lang="de-DE" sz="2200" dirty="0"/>
                  <a:t>, </a:t>
                </a:r>
                <a:r>
                  <a:rPr lang="de-DE" sz="2200" dirty="0" err="1"/>
                  <a:t>some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small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appliances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together</a:t>
                </a:r>
                <a:endParaRPr lang="de-DE" sz="2200" dirty="0"/>
              </a:p>
              <a:p>
                <a:r>
                  <a:rPr lang="de-DE" sz="2200" dirty="0" err="1"/>
                  <a:t>Beyond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16 </m:t>
                    </m:r>
                    <m:r>
                      <m:rPr>
                        <m:sty m:val="p"/>
                      </m:rPr>
                      <a:rPr lang="de-DE" sz="2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200" dirty="0"/>
                  <a:t>,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circuit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breaker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trips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prevent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overheating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fire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risk</a:t>
                </a:r>
                <a:r>
                  <a:rPr lang="de-DE" sz="2200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B77FFBF-FA08-B624-1218-B627F3FF0A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r="-3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890169-3348-EF83-EA1B-95CFB2422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1387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25CEF4-343C-FDCC-3BAB-D894E6A29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Thermistor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A23CFA-0975-4482-D291-F4C778FA11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36758" cy="4351338"/>
          </a:xfrm>
        </p:spPr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temperature-dependent</a:t>
            </a:r>
            <a:r>
              <a:rPr lang="de-DE" dirty="0"/>
              <a:t> </a:t>
            </a:r>
            <a:r>
              <a:rPr lang="de-DE" dirty="0" err="1"/>
              <a:t>resistance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applied</a:t>
            </a:r>
            <a:r>
              <a:rPr lang="de-DE" dirty="0"/>
              <a:t> in electronic </a:t>
            </a:r>
            <a:r>
              <a:rPr lang="de-DE" dirty="0" err="1"/>
              <a:t>thermometers</a:t>
            </a:r>
            <a:r>
              <a:rPr lang="de-DE" dirty="0"/>
              <a:t> and </a:t>
            </a:r>
            <a:r>
              <a:rPr lang="de-DE" dirty="0" err="1"/>
              <a:t>thermostats</a:t>
            </a:r>
            <a:r>
              <a:rPr lang="de-DE" dirty="0"/>
              <a:t> (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device</a:t>
            </a:r>
            <a:r>
              <a:rPr lang="de-DE" dirty="0"/>
              <a:t>):</a:t>
            </a:r>
          </a:p>
          <a:p>
            <a:pPr marL="0" indent="0">
              <a:buNone/>
            </a:pPr>
            <a:r>
              <a:rPr lang="de-DE" dirty="0"/>
              <a:t>By </a:t>
            </a:r>
            <a:r>
              <a:rPr lang="de-DE" dirty="0" err="1"/>
              <a:t>measuring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resistance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corresponding</a:t>
            </a:r>
            <a:r>
              <a:rPr lang="de-DE" dirty="0"/>
              <a:t> </a:t>
            </a:r>
            <a:r>
              <a:rPr lang="de-DE" dirty="0" err="1"/>
              <a:t>temperature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inferred</a:t>
            </a:r>
            <a:r>
              <a:rPr lang="de-DE" dirty="0"/>
              <a:t>. 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4D5BC0-C249-C11E-8440-B175B800D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5</a:t>
            </a:fld>
            <a:endParaRPr lang="de-DE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174F7F71-ACFE-62D1-8535-53F0988F44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3560" y="838616"/>
            <a:ext cx="3059181" cy="275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6B5BDE12-4DEE-2748-854C-5553334EB8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3579" y="4063273"/>
            <a:ext cx="2145119" cy="2295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1950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3CE8B1-F546-8497-9D7E-EE5BA39E3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LED and </a:t>
            </a:r>
            <a:r>
              <a:rPr lang="de-DE" dirty="0" err="1"/>
              <a:t>Resistor</a:t>
            </a:r>
            <a:r>
              <a:rPr lang="de-DE" dirty="0"/>
              <a:t> Circuit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B2B985-EA88-C5D5-1E02-05C55BC84B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87902" cy="4351338"/>
          </a:xfrm>
        </p:spPr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DC </a:t>
            </a:r>
            <a:r>
              <a:rPr lang="de-DE" dirty="0" err="1"/>
              <a:t>circuit</a:t>
            </a:r>
            <a:r>
              <a:rPr lang="de-DE" dirty="0"/>
              <a:t> (LED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diode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resistor</a:t>
            </a:r>
            <a:r>
              <a:rPr lang="de-DE" dirty="0"/>
              <a:t> </a:t>
            </a:r>
            <a:r>
              <a:rPr lang="de-DE" dirty="0" err="1"/>
              <a:t>limits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LED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preventing</a:t>
            </a:r>
            <a:r>
              <a:rPr lang="de-DE" dirty="0"/>
              <a:t> </a:t>
            </a:r>
            <a:r>
              <a:rPr lang="de-DE" dirty="0" err="1"/>
              <a:t>damage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C0C5690-4861-CD3E-2D59-BEDB4367E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6</a:t>
            </a:fld>
            <a:endParaRPr lang="de-DE"/>
          </a:p>
        </p:txBody>
      </p:sp>
      <p:pic>
        <p:nvPicPr>
          <p:cNvPr id="9218" name="Picture 2" descr="Resistors for LED Circuits | Resistor Applications | Resistor Guide">
            <a:extLst>
              <a:ext uri="{FF2B5EF4-FFF2-40B4-BE49-F238E27FC236}">
                <a16:creationId xmlns:a16="http://schemas.microsoft.com/office/drawing/2014/main" id="{505BCEFC-0C62-49E9-4E19-555E037720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6102" y="2246068"/>
            <a:ext cx="3891221" cy="2365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5278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9C170B-9873-B68B-138D-F1299B4F4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Capacitive</a:t>
            </a:r>
            <a:r>
              <a:rPr lang="de-DE" dirty="0"/>
              <a:t> Touchscreen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FE36DE-F6D4-07BE-3AFC-86EEFF8738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19530" cy="4351338"/>
          </a:xfrm>
        </p:spPr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usage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fields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sensing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finger</a:t>
            </a:r>
            <a:r>
              <a:rPr lang="de-DE" dirty="0"/>
              <a:t> </a:t>
            </a:r>
            <a:r>
              <a:rPr lang="de-DE" dirty="0" err="1"/>
              <a:t>changes</a:t>
            </a:r>
            <a:r>
              <a:rPr lang="de-DE" dirty="0"/>
              <a:t>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capacitance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electrodes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variation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detected</a:t>
            </a:r>
            <a:r>
              <a:rPr lang="de-DE" dirty="0"/>
              <a:t> and </a:t>
            </a:r>
            <a:r>
              <a:rPr lang="de-DE" dirty="0" err="1"/>
              <a:t>processed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determine</a:t>
            </a:r>
            <a:r>
              <a:rPr lang="de-DE" dirty="0"/>
              <a:t> </a:t>
            </a:r>
            <a:r>
              <a:rPr lang="de-DE" dirty="0" err="1"/>
              <a:t>touch</a:t>
            </a:r>
            <a:r>
              <a:rPr lang="de-DE" dirty="0"/>
              <a:t> </a:t>
            </a:r>
            <a:r>
              <a:rPr lang="de-DE" dirty="0" err="1"/>
              <a:t>position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130081-4835-1F09-CE6F-BC968A689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7</a:t>
            </a:fld>
            <a:endParaRPr lang="de-DE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61C19EA-5B99-7316-5665-F827718D13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1013" y="1429122"/>
            <a:ext cx="3560136" cy="4927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872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8D044F-0264-A3D4-6226-B93EDC271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Inductive</a:t>
            </a:r>
            <a:r>
              <a:rPr lang="de-DE" dirty="0"/>
              <a:t> Sensor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1813F3-0DCD-1D31-A6BF-E8AB84F2E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741266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enables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metallic </a:t>
            </a:r>
            <a:r>
              <a:rPr lang="de-DE" dirty="0" err="1"/>
              <a:t>objects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contact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operation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When</a:t>
            </a:r>
            <a:r>
              <a:rPr lang="de-DE" dirty="0"/>
              <a:t> a </a:t>
            </a:r>
            <a:r>
              <a:rPr lang="de-DE" dirty="0" err="1"/>
              <a:t>metal</a:t>
            </a:r>
            <a:r>
              <a:rPr lang="de-DE" dirty="0"/>
              <a:t> </a:t>
            </a:r>
            <a:r>
              <a:rPr lang="de-DE" dirty="0" err="1"/>
              <a:t>object</a:t>
            </a:r>
            <a:r>
              <a:rPr lang="de-DE" dirty="0"/>
              <a:t> </a:t>
            </a:r>
            <a:r>
              <a:rPr lang="de-DE" dirty="0" err="1"/>
              <a:t>enters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field</a:t>
            </a:r>
            <a:r>
              <a:rPr lang="de-DE" dirty="0"/>
              <a:t> </a:t>
            </a:r>
            <a:r>
              <a:rPr lang="de-DE" dirty="0" err="1"/>
              <a:t>produced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a </a:t>
            </a:r>
            <a:r>
              <a:rPr lang="de-DE" dirty="0" err="1"/>
              <a:t>coil</a:t>
            </a:r>
            <a:r>
              <a:rPr lang="de-DE" dirty="0"/>
              <a:t>, </a:t>
            </a:r>
            <a:r>
              <a:rPr lang="de-DE" dirty="0" err="1"/>
              <a:t>eddy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alter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coil’s</a:t>
            </a:r>
            <a:r>
              <a:rPr lang="de-DE" dirty="0"/>
              <a:t> </a:t>
            </a:r>
            <a:r>
              <a:rPr lang="de-DE" dirty="0" err="1"/>
              <a:t>impedance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B3BAAE-686C-56FB-B2CD-A92AAF80F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8</a:t>
            </a:fld>
            <a:endParaRPr lang="de-DE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627649DE-5C38-F7B7-9856-CFC0BAF721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4700" y="2368550"/>
            <a:ext cx="3175000" cy="212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84754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F57596-D64B-8C5C-1ABE-907D07303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Residual </a:t>
            </a:r>
            <a:r>
              <a:rPr lang="de-DE" dirty="0" err="1"/>
              <a:t>Current</a:t>
            </a:r>
            <a:r>
              <a:rPr lang="de-DE" dirty="0"/>
              <a:t> Device (RCD)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E54D016-7F25-9A0B-13F2-75D2853D06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7833" y="1887279"/>
                <a:ext cx="8394269" cy="4605596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circuit </a:t>
                </a:r>
                <a:r>
                  <a:rPr lang="de-DE" dirty="0" err="1"/>
                  <a:t>for</a:t>
                </a:r>
                <a:r>
                  <a:rPr lang="de-DE" dirty="0"/>
                  <a:t> fault </a:t>
                </a:r>
                <a:r>
                  <a:rPr lang="de-DE" dirty="0" err="1"/>
                  <a:t>current</a:t>
                </a:r>
                <a:r>
                  <a:rPr lang="de-DE" dirty="0"/>
                  <a:t> </a:t>
                </a:r>
                <a:r>
                  <a:rPr lang="de-DE" dirty="0" err="1"/>
                  <a:t>measurement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30</m:t>
                    </m:r>
                    <m:r>
                      <a:rPr lang="de-DE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de-DE" b="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dirty="0"/>
                  <a:t>):</a:t>
                </a:r>
              </a:p>
              <a:p>
                <a:r>
                  <a:rPr lang="de-DE" dirty="0"/>
                  <a:t>Both </a:t>
                </a:r>
                <a:r>
                  <a:rPr lang="de-DE" dirty="0" err="1"/>
                  <a:t>conductors</a:t>
                </a:r>
                <a:r>
                  <a:rPr lang="de-DE" dirty="0"/>
                  <a:t> pass </a:t>
                </a:r>
                <a:r>
                  <a:rPr lang="de-DE" dirty="0" err="1"/>
                  <a:t>through</a:t>
                </a:r>
                <a:r>
                  <a:rPr lang="de-DE" dirty="0"/>
                  <a:t> a </a:t>
                </a:r>
                <a:r>
                  <a:rPr lang="de-DE" dirty="0" err="1"/>
                  <a:t>toroidal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.</a:t>
                </a:r>
              </a:p>
              <a:p>
                <a:r>
                  <a:rPr lang="de-DE" dirty="0"/>
                  <a:t>The </a:t>
                </a:r>
                <a:r>
                  <a:rPr lang="de-DE" dirty="0" err="1"/>
                  <a:t>equally</a:t>
                </a:r>
                <a:r>
                  <a:rPr lang="de-DE" dirty="0"/>
                  <a:t> large but </a:t>
                </a:r>
                <a:r>
                  <a:rPr lang="de-DE" dirty="0" err="1"/>
                  <a:t>opposing</a:t>
                </a:r>
                <a:r>
                  <a:rPr lang="de-DE" dirty="0"/>
                  <a:t> </a:t>
                </a:r>
                <a:r>
                  <a:rPr lang="de-DE" dirty="0" err="1"/>
                  <a:t>currents</a:t>
                </a:r>
                <a:r>
                  <a:rPr lang="de-DE" dirty="0"/>
                  <a:t> </a:t>
                </a:r>
                <a:r>
                  <a:rPr lang="de-DE" dirty="0" err="1"/>
                  <a:t>normally</a:t>
                </a:r>
                <a:r>
                  <a:rPr lang="de-DE" dirty="0"/>
                  <a:t> </a:t>
                </a:r>
                <a:r>
                  <a:rPr lang="de-DE" dirty="0" err="1"/>
                  <a:t>produce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fields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cancel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other</a:t>
                </a:r>
                <a:r>
                  <a:rPr lang="de-DE" dirty="0"/>
                  <a:t>, </a:t>
                </a:r>
                <a:r>
                  <a:rPr lang="de-DE" dirty="0" err="1"/>
                  <a:t>resulting</a:t>
                </a:r>
                <a:r>
                  <a:rPr lang="de-DE" dirty="0"/>
                  <a:t> in 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net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flux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If</a:t>
                </a:r>
                <a:r>
                  <a:rPr lang="de-DE" dirty="0"/>
                  <a:t> a fault </a:t>
                </a:r>
                <a:r>
                  <a:rPr lang="de-DE" dirty="0" err="1"/>
                  <a:t>occurs</a:t>
                </a:r>
                <a:r>
                  <a:rPr lang="de-DE" dirty="0"/>
                  <a:t> (such </a:t>
                </a:r>
                <a:r>
                  <a:rPr lang="de-DE" dirty="0" err="1"/>
                  <a:t>as</a:t>
                </a:r>
                <a:r>
                  <a:rPr lang="de-DE" dirty="0"/>
                  <a:t> a </a:t>
                </a:r>
                <a:r>
                  <a:rPr lang="de-DE" dirty="0" err="1"/>
                  <a:t>person</a:t>
                </a:r>
                <a:r>
                  <a:rPr lang="de-DE" dirty="0"/>
                  <a:t> </a:t>
                </a:r>
                <a:r>
                  <a:rPr lang="de-DE" dirty="0" err="1"/>
                  <a:t>touching</a:t>
                </a:r>
                <a:r>
                  <a:rPr lang="de-DE" dirty="0"/>
                  <a:t> a live </a:t>
                </a:r>
                <a:r>
                  <a:rPr lang="de-DE" dirty="0" err="1"/>
                  <a:t>part</a:t>
                </a:r>
                <a:r>
                  <a:rPr lang="de-DE" dirty="0"/>
                  <a:t>) </a:t>
                </a:r>
                <a:r>
                  <a:rPr lang="de-DE" dirty="0" err="1"/>
                  <a:t>some</a:t>
                </a:r>
                <a:r>
                  <a:rPr lang="de-DE" dirty="0"/>
                  <a:t> </a:t>
                </a:r>
                <a:r>
                  <a:rPr lang="de-DE" dirty="0" err="1"/>
                  <a:t>current</a:t>
                </a:r>
                <a:r>
                  <a:rPr lang="de-DE" dirty="0"/>
                  <a:t> </a:t>
                </a:r>
                <a:r>
                  <a:rPr lang="de-DE" dirty="0" err="1"/>
                  <a:t>flows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ground</a:t>
                </a:r>
                <a:r>
                  <a:rPr lang="de-DE" dirty="0"/>
                  <a:t> (</a:t>
                </a:r>
                <a:r>
                  <a:rPr lang="de-DE" dirty="0" err="1"/>
                  <a:t>leakage</a:t>
                </a:r>
                <a:r>
                  <a:rPr lang="de-DE" dirty="0"/>
                  <a:t> </a:t>
                </a:r>
                <a:r>
                  <a:rPr lang="de-DE" dirty="0" err="1"/>
                  <a:t>current</a:t>
                </a:r>
                <a:r>
                  <a:rPr lang="de-DE" dirty="0"/>
                  <a:t>), </a:t>
                </a:r>
                <a:r>
                  <a:rPr lang="de-DE" dirty="0" err="1"/>
                  <a:t>creating</a:t>
                </a:r>
                <a:r>
                  <a:rPr lang="de-DE" dirty="0"/>
                  <a:t> an </a:t>
                </a:r>
                <a:r>
                  <a:rPr lang="de-DE" dirty="0" err="1"/>
                  <a:t>imbalance</a:t>
                </a:r>
                <a:r>
                  <a:rPr lang="de-DE" dirty="0"/>
                  <a:t>.</a:t>
                </a:r>
              </a:p>
              <a:p>
                <a:r>
                  <a:rPr lang="de-DE" dirty="0"/>
                  <a:t>This </a:t>
                </a:r>
                <a:r>
                  <a:rPr lang="de-DE" dirty="0" err="1"/>
                  <a:t>imbalance</a:t>
                </a:r>
                <a:r>
                  <a:rPr lang="de-DE" dirty="0"/>
                  <a:t> </a:t>
                </a:r>
                <a:r>
                  <a:rPr lang="de-DE" dirty="0" err="1"/>
                  <a:t>produces</a:t>
                </a:r>
                <a:r>
                  <a:rPr lang="de-DE" dirty="0"/>
                  <a:t> a </a:t>
                </a:r>
                <a:r>
                  <a:rPr lang="de-DE" dirty="0" err="1"/>
                  <a:t>net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flux</a:t>
                </a:r>
                <a:r>
                  <a:rPr lang="de-DE" dirty="0"/>
                  <a:t> in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, </a:t>
                </a:r>
                <a:r>
                  <a:rPr lang="de-DE" dirty="0" err="1"/>
                  <a:t>which</a:t>
                </a:r>
                <a:r>
                  <a:rPr lang="de-DE" dirty="0"/>
                  <a:t> </a:t>
                </a:r>
                <a:r>
                  <a:rPr lang="de-DE" dirty="0" err="1"/>
                  <a:t>induces</a:t>
                </a:r>
                <a:r>
                  <a:rPr lang="de-DE" dirty="0"/>
                  <a:t> a </a:t>
                </a:r>
                <a:r>
                  <a:rPr lang="de-DE" dirty="0" err="1"/>
                  <a:t>voltage</a:t>
                </a:r>
                <a:r>
                  <a:rPr lang="de-DE" dirty="0"/>
                  <a:t> in a </a:t>
                </a:r>
                <a:r>
                  <a:rPr lang="de-DE" dirty="0" err="1"/>
                  <a:t>secondary</a:t>
                </a:r>
                <a:r>
                  <a:rPr lang="de-DE" dirty="0"/>
                  <a:t> </a:t>
                </a:r>
                <a:r>
                  <a:rPr lang="de-DE" dirty="0" err="1"/>
                  <a:t>winding</a:t>
                </a:r>
                <a:r>
                  <a:rPr lang="de-DE" dirty="0"/>
                  <a:t>.</a:t>
                </a:r>
              </a:p>
              <a:p>
                <a:r>
                  <a:rPr lang="de-DE" dirty="0"/>
                  <a:t>The </a:t>
                </a:r>
                <a:r>
                  <a:rPr lang="de-DE" dirty="0" err="1"/>
                  <a:t>induced</a:t>
                </a:r>
                <a:r>
                  <a:rPr lang="de-DE" dirty="0"/>
                  <a:t> </a:t>
                </a:r>
                <a:r>
                  <a:rPr lang="de-DE" dirty="0" err="1"/>
                  <a:t>signal</a:t>
                </a:r>
                <a:r>
                  <a:rPr lang="de-DE" dirty="0"/>
                  <a:t> </a:t>
                </a:r>
                <a:r>
                  <a:rPr lang="de-DE" dirty="0" err="1"/>
                  <a:t>activates</a:t>
                </a:r>
                <a:r>
                  <a:rPr lang="de-DE" dirty="0"/>
                  <a:t> a </a:t>
                </a:r>
                <a:r>
                  <a:rPr lang="de-DE" dirty="0" err="1"/>
                  <a:t>trip</a:t>
                </a:r>
                <a:r>
                  <a:rPr lang="de-DE" dirty="0"/>
                  <a:t> </a:t>
                </a:r>
                <a:r>
                  <a:rPr lang="de-DE" dirty="0" err="1"/>
                  <a:t>mechanism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disconnects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circuit</a:t>
                </a:r>
                <a:r>
                  <a:rPr lang="de-DE" dirty="0"/>
                  <a:t> </a:t>
                </a:r>
                <a:r>
                  <a:rPr lang="de-DE" dirty="0" err="1"/>
                  <a:t>within</a:t>
                </a:r>
                <a:r>
                  <a:rPr lang="de-DE" dirty="0"/>
                  <a:t> </a:t>
                </a:r>
                <a:r>
                  <a:rPr lang="de-DE" dirty="0" err="1"/>
                  <a:t>milliseconds</a:t>
                </a:r>
                <a:r>
                  <a:rPr lang="de-DE" dirty="0"/>
                  <a:t>, </a:t>
                </a:r>
                <a:r>
                  <a:rPr lang="de-DE" dirty="0" err="1"/>
                  <a:t>preventing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shock</a:t>
                </a:r>
                <a:r>
                  <a:rPr lang="de-DE" dirty="0"/>
                  <a:t>.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E54D016-7F25-9A0B-13F2-75D2853D06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7833" y="1887279"/>
                <a:ext cx="8394269" cy="4605596"/>
              </a:xfrm>
              <a:blipFill>
                <a:blip r:embed="rId2"/>
                <a:stretch>
                  <a:fillRect l="-1208" t="-3297" r="-7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8D15F4-361B-6544-787C-D3A8275BE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9</a:t>
            </a:fld>
            <a:endParaRPr lang="de-DE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AFD239F5-D29E-3C26-FFD3-E6E1E7CAE3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2102" y="2354521"/>
            <a:ext cx="3175000" cy="278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81350CC0-9F4A-4CA9-9767-66773726AE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2102" y="168534"/>
            <a:ext cx="3175000" cy="200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23C0606-08F9-E0FA-C736-64DCA0A9106C}"/>
              </a:ext>
            </a:extLst>
          </p:cNvPr>
          <p:cNvSpPr txBox="1"/>
          <p:nvPr/>
        </p:nvSpPr>
        <p:spPr>
          <a:xfrm>
            <a:off x="8799408" y="5156021"/>
            <a:ext cx="33003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1: Electromagnet</a:t>
            </a:r>
            <a:b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2: </a:t>
            </a:r>
            <a:r>
              <a:rPr kumimoji="0" lang="de-DE" altLang="de-DE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Current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de-DE" altLang="de-DE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transformer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de-DE" altLang="de-DE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secondary</a:t>
            </a: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de-DE" altLang="de-DE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winding</a:t>
            </a:r>
            <a:b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3: Transformer </a:t>
            </a:r>
            <a:r>
              <a:rPr kumimoji="0" lang="de-DE" altLang="de-DE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core</a:t>
            </a:r>
            <a:b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4: Test push-button</a:t>
            </a:r>
            <a:b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L: Line </a:t>
            </a:r>
            <a:r>
              <a:rPr kumimoji="0" lang="de-DE" altLang="de-DE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conductor</a:t>
            </a:r>
            <a:b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de-DE" altLang="de-DE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N: Neutral </a:t>
            </a:r>
            <a:r>
              <a:rPr kumimoji="0" lang="de-DE" altLang="de-DE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conductor</a:t>
            </a:r>
            <a:endParaRPr kumimoji="0" lang="de-DE" altLang="de-DE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59798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6FFD7B-59D8-41D4-CF8F-01343640A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Motors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DD47009-6EE5-EEDB-983E-BCCEF9D246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working</a:t>
            </a:r>
            <a:r>
              <a:rPr lang="de-DE" dirty="0"/>
              <a:t> </a:t>
            </a:r>
            <a:r>
              <a:rPr lang="de-DE" dirty="0" err="1"/>
              <a:t>principle</a:t>
            </a:r>
            <a:r>
              <a:rPr lang="de-DE" dirty="0"/>
              <a:t>: </a:t>
            </a:r>
            <a:r>
              <a:rPr lang="de-DE" dirty="0" err="1"/>
              <a:t>convert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</a:t>
            </a:r>
            <a:r>
              <a:rPr lang="de-DE" dirty="0" err="1"/>
              <a:t>energy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mechanical</a:t>
            </a:r>
            <a:r>
              <a:rPr lang="de-DE" dirty="0"/>
              <a:t> </a:t>
            </a:r>
            <a:r>
              <a:rPr lang="de-DE" dirty="0" err="1"/>
              <a:t>motion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interaction</a:t>
            </a:r>
            <a:endParaRPr lang="de-DE" dirty="0"/>
          </a:p>
          <a:p>
            <a:endParaRPr lang="de-DE" dirty="0"/>
          </a:p>
          <a:p>
            <a:r>
              <a:rPr lang="de-DE" b="1" dirty="0"/>
              <a:t>AC </a:t>
            </a:r>
            <a:r>
              <a:rPr lang="de-DE" b="1" dirty="0" err="1"/>
              <a:t>motor</a:t>
            </a:r>
            <a:r>
              <a:rPr lang="de-DE" dirty="0"/>
              <a:t>: </a:t>
            </a:r>
            <a:r>
              <a:rPr lang="de-DE" dirty="0" err="1"/>
              <a:t>rotating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field</a:t>
            </a:r>
            <a:r>
              <a:rPr lang="de-DE" dirty="0"/>
              <a:t> </a:t>
            </a:r>
            <a:r>
              <a:rPr lang="de-DE" dirty="0" err="1"/>
              <a:t>generated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AC, </a:t>
            </a:r>
            <a:r>
              <a:rPr lang="de-DE" dirty="0" err="1"/>
              <a:t>producing</a:t>
            </a:r>
            <a:r>
              <a:rPr lang="de-DE" dirty="0"/>
              <a:t> </a:t>
            </a:r>
            <a:r>
              <a:rPr lang="de-DE" dirty="0" err="1"/>
              <a:t>torque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</a:t>
            </a:r>
            <a:r>
              <a:rPr lang="de-DE" dirty="0" err="1"/>
              <a:t>contact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rotor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b="1" dirty="0"/>
              <a:t>DC </a:t>
            </a:r>
            <a:r>
              <a:rPr lang="de-DE" b="1" dirty="0" err="1"/>
              <a:t>motor</a:t>
            </a:r>
            <a:r>
              <a:rPr lang="de-DE" b="1" dirty="0"/>
              <a:t>:</a:t>
            </a:r>
            <a:r>
              <a:rPr lang="de-DE" dirty="0"/>
              <a:t> </a:t>
            </a:r>
            <a:r>
              <a:rPr lang="de-DE" dirty="0" err="1"/>
              <a:t>commutator</a:t>
            </a:r>
            <a:r>
              <a:rPr lang="de-DE" dirty="0"/>
              <a:t> and </a:t>
            </a:r>
            <a:r>
              <a:rPr lang="de-DE" dirty="0" err="1"/>
              <a:t>brushes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reverse </a:t>
            </a:r>
            <a:r>
              <a:rPr lang="de-DE" dirty="0" err="1"/>
              <a:t>rotor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half </a:t>
            </a:r>
            <a:r>
              <a:rPr lang="de-DE" dirty="0" err="1"/>
              <a:t>revolution</a:t>
            </a:r>
            <a:r>
              <a:rPr lang="de-DE" dirty="0"/>
              <a:t>, </a:t>
            </a:r>
            <a:r>
              <a:rPr lang="de-DE" dirty="0" err="1"/>
              <a:t>maintaining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 </a:t>
            </a:r>
            <a:r>
              <a:rPr lang="de-DE" dirty="0" err="1"/>
              <a:t>rotation</a:t>
            </a:r>
            <a:r>
              <a:rPr lang="de-DE" dirty="0"/>
              <a:t> </a:t>
            </a:r>
            <a:r>
              <a:rPr lang="de-DE" dirty="0" err="1"/>
              <a:t>under</a:t>
            </a:r>
            <a:r>
              <a:rPr lang="de-DE" dirty="0"/>
              <a:t> DC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13294A-6DBA-9633-DB6C-D9C910C74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52190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3DA2EF-ABA8-86ED-EA4C-72A57FEBD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AC </a:t>
            </a:r>
            <a:r>
              <a:rPr lang="de-DE" dirty="0" err="1"/>
              <a:t>vs</a:t>
            </a:r>
            <a:r>
              <a:rPr lang="de-DE" dirty="0"/>
              <a:t> DC in Devices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345681-B5C4-6541-3DDD-CC1734C3C1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simple </a:t>
            </a:r>
            <a:r>
              <a:rPr lang="de-DE" dirty="0" err="1"/>
              <a:t>appliances</a:t>
            </a:r>
            <a:r>
              <a:rPr lang="de-DE" dirty="0"/>
              <a:t> (</a:t>
            </a:r>
            <a:r>
              <a:rPr lang="de-DE" dirty="0" err="1"/>
              <a:t>kettles</a:t>
            </a:r>
            <a:r>
              <a:rPr lang="de-DE" dirty="0"/>
              <a:t>, </a:t>
            </a:r>
            <a:r>
              <a:rPr lang="de-DE" dirty="0" err="1"/>
              <a:t>irons</a:t>
            </a:r>
            <a:r>
              <a:rPr lang="de-DE" dirty="0"/>
              <a:t>, </a:t>
            </a:r>
            <a:r>
              <a:rPr lang="de-DE" dirty="0" err="1"/>
              <a:t>heaters</a:t>
            </a:r>
            <a:r>
              <a:rPr lang="de-DE" dirty="0"/>
              <a:t>) </a:t>
            </a:r>
            <a:r>
              <a:rPr lang="de-DE" dirty="0" err="1"/>
              <a:t>run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 on AC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electronics</a:t>
            </a:r>
            <a:r>
              <a:rPr lang="de-DE" dirty="0"/>
              <a:t> (</a:t>
            </a:r>
            <a:r>
              <a:rPr lang="de-DE" dirty="0" err="1"/>
              <a:t>laptops</a:t>
            </a:r>
            <a:r>
              <a:rPr lang="de-DE" dirty="0"/>
              <a:t>, </a:t>
            </a:r>
            <a:r>
              <a:rPr lang="de-DE" dirty="0" err="1"/>
              <a:t>phones</a:t>
            </a:r>
            <a:r>
              <a:rPr lang="de-DE" dirty="0"/>
              <a:t>, TVs) </a:t>
            </a:r>
            <a:r>
              <a:rPr lang="de-DE" dirty="0" err="1"/>
              <a:t>run</a:t>
            </a:r>
            <a:r>
              <a:rPr lang="de-DE" dirty="0"/>
              <a:t> on DC </a:t>
            </a:r>
            <a:r>
              <a:rPr lang="de-DE" dirty="0" err="1"/>
              <a:t>internally</a:t>
            </a:r>
            <a:endParaRPr lang="de-DE" dirty="0"/>
          </a:p>
          <a:p>
            <a:r>
              <a:rPr lang="de-DE" sz="2400" dirty="0" err="1"/>
              <a:t>chips</a:t>
            </a:r>
            <a:r>
              <a:rPr lang="de-DE" sz="2400" dirty="0"/>
              <a:t> and </a:t>
            </a:r>
            <a:r>
              <a:rPr lang="de-DE" sz="2400" dirty="0" err="1"/>
              <a:t>memory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a </a:t>
            </a:r>
            <a:r>
              <a:rPr lang="de-DE" sz="2400" dirty="0" err="1"/>
              <a:t>constant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work</a:t>
            </a:r>
            <a:r>
              <a:rPr lang="de-DE" sz="2400" dirty="0"/>
              <a:t> </a:t>
            </a:r>
            <a:r>
              <a:rPr lang="de-DE" sz="2400" dirty="0" err="1"/>
              <a:t>properly</a:t>
            </a:r>
            <a:endParaRPr lang="de-DE" sz="2400" dirty="0"/>
          </a:p>
          <a:p>
            <a:r>
              <a:rPr lang="de-DE" sz="2400" dirty="0" err="1"/>
              <a:t>semiconductors</a:t>
            </a:r>
            <a:r>
              <a:rPr lang="de-DE" sz="2400" dirty="0"/>
              <a:t> (CPU, GPU, LEDs) </a:t>
            </a:r>
            <a:r>
              <a:rPr lang="de-DE" sz="2400" dirty="0" err="1"/>
              <a:t>only</a:t>
            </a:r>
            <a:r>
              <a:rPr lang="de-DE" sz="2400" dirty="0"/>
              <a:t> </a:t>
            </a:r>
            <a:r>
              <a:rPr lang="de-DE" sz="2400" dirty="0" err="1"/>
              <a:t>allow</a:t>
            </a:r>
            <a:r>
              <a:rPr lang="de-DE" sz="2400" dirty="0"/>
              <a:t> </a:t>
            </a:r>
            <a:r>
              <a:rPr lang="de-DE" sz="2400" dirty="0" err="1"/>
              <a:t>current</a:t>
            </a:r>
            <a:r>
              <a:rPr lang="de-DE" sz="2400" dirty="0"/>
              <a:t> in </a:t>
            </a:r>
            <a:r>
              <a:rPr lang="de-DE" sz="2400" dirty="0" err="1"/>
              <a:t>one</a:t>
            </a:r>
            <a:r>
              <a:rPr lang="de-DE" sz="2400" dirty="0"/>
              <a:t> </a:t>
            </a:r>
            <a:r>
              <a:rPr lang="de-DE" sz="2400" dirty="0" err="1"/>
              <a:t>direction</a:t>
            </a:r>
            <a:endParaRPr lang="de-DE" sz="2400" dirty="0"/>
          </a:p>
          <a:p>
            <a:r>
              <a:rPr lang="de-DE" sz="2400" dirty="0"/>
              <a:t>DRAM, </a:t>
            </a:r>
            <a:r>
              <a:rPr lang="de-DE" sz="2400" dirty="0" err="1"/>
              <a:t>flash</a:t>
            </a:r>
            <a:r>
              <a:rPr lang="de-DE" sz="2400" dirty="0"/>
              <a:t>, and </a:t>
            </a:r>
            <a:r>
              <a:rPr lang="de-DE" sz="2400" dirty="0" err="1"/>
              <a:t>other</a:t>
            </a:r>
            <a:r>
              <a:rPr lang="de-DE" sz="2400" dirty="0"/>
              <a:t> </a:t>
            </a:r>
            <a:r>
              <a:rPr lang="de-DE" sz="2400" dirty="0" err="1"/>
              <a:t>memory</a:t>
            </a:r>
            <a:r>
              <a:rPr lang="de-DE" sz="2400" dirty="0"/>
              <a:t> </a:t>
            </a:r>
            <a:r>
              <a:rPr lang="de-DE" sz="2400" dirty="0" err="1"/>
              <a:t>need</a:t>
            </a:r>
            <a:r>
              <a:rPr lang="de-DE" sz="2400" dirty="0"/>
              <a:t> </a:t>
            </a:r>
            <a:r>
              <a:rPr lang="de-DE" sz="2400" dirty="0" err="1"/>
              <a:t>consistent</a:t>
            </a:r>
            <a:r>
              <a:rPr lang="de-DE" sz="2400" dirty="0"/>
              <a:t> DC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store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endParaRPr lang="de-DE" sz="2400" dirty="0"/>
          </a:p>
          <a:p>
            <a:r>
              <a:rPr lang="de-DE" sz="2400" dirty="0"/>
              <a:t>AC </a:t>
            </a:r>
            <a:r>
              <a:rPr lang="de-DE" sz="2400" dirty="0" err="1"/>
              <a:t>fluctuations</a:t>
            </a:r>
            <a:r>
              <a:rPr lang="de-DE" sz="2400" dirty="0"/>
              <a:t> </a:t>
            </a:r>
            <a:r>
              <a:rPr lang="de-DE" sz="2400" dirty="0" err="1"/>
              <a:t>could</a:t>
            </a:r>
            <a:r>
              <a:rPr lang="de-DE" sz="2400" dirty="0"/>
              <a:t> </a:t>
            </a:r>
            <a:r>
              <a:rPr lang="de-DE" sz="2400" dirty="0" err="1"/>
              <a:t>damage</a:t>
            </a:r>
            <a:r>
              <a:rPr lang="de-DE" sz="2400" dirty="0"/>
              <a:t> </a:t>
            </a:r>
            <a:r>
              <a:rPr lang="de-DE" sz="2400" dirty="0" err="1"/>
              <a:t>circuits</a:t>
            </a:r>
            <a:r>
              <a:rPr lang="de-DE" sz="2400" dirty="0"/>
              <a:t> </a:t>
            </a:r>
            <a:r>
              <a:rPr lang="de-DE" sz="2400" dirty="0" err="1"/>
              <a:t>or</a:t>
            </a:r>
            <a:r>
              <a:rPr lang="de-DE" sz="2400" dirty="0"/>
              <a:t> </a:t>
            </a:r>
            <a:r>
              <a:rPr lang="de-DE" sz="2400" dirty="0" err="1"/>
              <a:t>cause</a:t>
            </a:r>
            <a:r>
              <a:rPr lang="de-DE" sz="2400" dirty="0"/>
              <a:t> </a:t>
            </a:r>
            <a:r>
              <a:rPr lang="de-DE" sz="2400" dirty="0" err="1"/>
              <a:t>malfunction</a:t>
            </a:r>
            <a:endParaRPr lang="de-DE" sz="2400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adapters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convert</a:t>
            </a:r>
            <a:r>
              <a:rPr lang="de-DE" dirty="0"/>
              <a:t> AC </a:t>
            </a:r>
            <a:r>
              <a:rPr lang="de-DE" dirty="0" err="1"/>
              <a:t>to</a:t>
            </a:r>
            <a:r>
              <a:rPr lang="de-DE" dirty="0"/>
              <a:t> DC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8AE9F7-E31C-36F2-7183-6A19BA929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561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D4F2D7-D60E-BFDE-367D-043D1DEE8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Smartphone Charger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269BEF7-5CA9-5EE1-2720-F68AFAA23B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141503" cy="4667250"/>
              </a:xfrm>
            </p:spPr>
            <p:txBody>
              <a:bodyPr>
                <a:noAutofit/>
              </a:bodyPr>
              <a:lstStyle/>
              <a:p>
                <a:r>
                  <a:rPr lang="de-DE" sz="2600" dirty="0" err="1"/>
                  <a:t>input</a:t>
                </a:r>
                <a:r>
                  <a:rPr lang="de-DE" sz="2600" dirty="0"/>
                  <a:t>: AC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wall </a:t>
                </a:r>
                <a:r>
                  <a:rPr lang="de-DE" sz="2600" dirty="0" err="1"/>
                  <a:t>outlet</a:t>
                </a:r>
                <a:r>
                  <a:rPr lang="de-DE" sz="2600" dirty="0"/>
                  <a:t> (e.g., </a:t>
                </a:r>
                <a14:m>
                  <m:oMath xmlns:m="http://schemas.openxmlformats.org/officeDocument/2006/math">
                    <m:r>
                      <a:rPr lang="de-DE" sz="26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de-DE" sz="2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30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r>
                  <a:rPr lang="de-DE" sz="2600" dirty="0" err="1"/>
                  <a:t>diode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bridge</a:t>
                </a:r>
                <a:r>
                  <a:rPr lang="de-DE" sz="2600" dirty="0"/>
                  <a:t> (4 </a:t>
                </a:r>
                <a:r>
                  <a:rPr lang="de-DE" sz="2600" dirty="0" err="1"/>
                  <a:t>diodes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converts</a:t>
                </a:r>
                <a:r>
                  <a:rPr lang="de-DE" sz="2600" dirty="0"/>
                  <a:t> AC </a:t>
                </a:r>
                <a:r>
                  <a:rPr lang="de-DE" sz="2600" dirty="0" err="1"/>
                  <a:t>into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pulsating</a:t>
                </a:r>
                <a:r>
                  <a:rPr lang="de-DE" sz="2600" dirty="0"/>
                  <a:t> DC (</a:t>
                </a:r>
                <a:r>
                  <a:rPr lang="de-DE" sz="2600" dirty="0" err="1"/>
                  <a:t>rectification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r>
                  <a:rPr lang="de-DE" sz="2600" dirty="0" err="1"/>
                  <a:t>capacitor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smooths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pulsating</a:t>
                </a:r>
                <a:r>
                  <a:rPr lang="de-DE" sz="2600" dirty="0"/>
                  <a:t> DC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r>
                  <a:rPr lang="de-DE" sz="2600" dirty="0" err="1"/>
                  <a:t>switching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regulator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steps</a:t>
                </a:r>
                <a:r>
                  <a:rPr lang="de-DE" sz="2600" dirty="0"/>
                  <a:t> high DC 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down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required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level</a:t>
                </a:r>
                <a:r>
                  <a:rPr lang="de-DE" sz="2600" dirty="0"/>
                  <a:t> (e.g., </a:t>
                </a:r>
                <a14:m>
                  <m:oMath xmlns:m="http://schemas.openxmlformats.org/officeDocument/2006/math">
                    <m:r>
                      <a:rPr lang="de-DE" sz="26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sz="2600" dirty="0"/>
                  <a:t>), </a:t>
                </a:r>
                <a:r>
                  <a:rPr lang="de-DE" sz="2600" dirty="0" err="1"/>
                  <a:t>using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transistor</a:t>
                </a:r>
                <a:r>
                  <a:rPr lang="de-DE" sz="2600" dirty="0"/>
                  <a:t> (switch) and a high-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transformer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r>
                  <a:rPr lang="de-DE" sz="2600" dirty="0" err="1"/>
                  <a:t>output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stable</a:t>
                </a:r>
                <a:r>
                  <a:rPr lang="de-DE" sz="2600" dirty="0"/>
                  <a:t> DC 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battery</a:t>
                </a:r>
                <a:endParaRPr lang="de-DE" sz="26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269BEF7-5CA9-5EE1-2720-F68AFAA23B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141503" cy="4667250"/>
              </a:xfrm>
              <a:blipFill>
                <a:blip r:embed="rId2"/>
                <a:stretch>
                  <a:fillRect l="-796" t="-1897" b="-352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AB2F485-9575-28D1-4D95-5EEB6D0DF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12</a:t>
            </a:fld>
            <a:endParaRPr lang="de-DE"/>
          </a:p>
        </p:txBody>
      </p:sp>
      <p:pic>
        <p:nvPicPr>
          <p:cNvPr id="11266" name="Picture 2" descr="Die schnellsten Handy-Ladegeräte: Alles, was Du wissen musst">
            <a:extLst>
              <a:ext uri="{FF2B5EF4-FFF2-40B4-BE49-F238E27FC236}">
                <a16:creationId xmlns:a16="http://schemas.microsoft.com/office/drawing/2014/main" id="{74DB5081-9CD6-0524-C830-226A3225C4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59" t="10716" r="4396" b="8226"/>
          <a:stretch>
            <a:fillRect/>
          </a:stretch>
        </p:blipFill>
        <p:spPr bwMode="auto">
          <a:xfrm>
            <a:off x="9403433" y="136525"/>
            <a:ext cx="2576270" cy="1729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4702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B5AFDD-6905-A1A6-D8E9-30779D340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Semiconductor Devices and Electronics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E38531-D0DF-A922-4ACF-65C093FFD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56870" cy="4351338"/>
          </a:xfrm>
        </p:spPr>
        <p:txBody>
          <a:bodyPr>
            <a:normAutofit lnSpcReduction="10000"/>
          </a:bodyPr>
          <a:lstStyle/>
          <a:p>
            <a:r>
              <a:rPr lang="de-DE" dirty="0" err="1"/>
              <a:t>diodes</a:t>
            </a:r>
            <a:r>
              <a:rPr lang="de-DE" dirty="0"/>
              <a:t> and </a:t>
            </a:r>
            <a:r>
              <a:rPr lang="de-DE" dirty="0" err="1"/>
              <a:t>transistors</a:t>
            </a:r>
            <a:r>
              <a:rPr lang="de-DE" dirty="0"/>
              <a:t> — </a:t>
            </a:r>
            <a:r>
              <a:rPr lang="de-DE" dirty="0" err="1"/>
              <a:t>switching</a:t>
            </a:r>
            <a:r>
              <a:rPr lang="de-DE" dirty="0"/>
              <a:t> and </a:t>
            </a:r>
            <a:r>
              <a:rPr lang="de-DE" dirty="0" err="1"/>
              <a:t>amplification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operational </a:t>
            </a:r>
            <a:r>
              <a:rPr lang="de-DE" dirty="0" err="1"/>
              <a:t>amplifiers</a:t>
            </a:r>
            <a:r>
              <a:rPr lang="de-DE" dirty="0"/>
              <a:t> — </a:t>
            </a:r>
            <a:r>
              <a:rPr lang="de-DE" dirty="0" err="1"/>
              <a:t>building</a:t>
            </a:r>
            <a:r>
              <a:rPr lang="de-DE" dirty="0"/>
              <a:t> </a:t>
            </a:r>
            <a:r>
              <a:rPr lang="de-DE" dirty="0" err="1"/>
              <a:t>blocks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analog </a:t>
            </a:r>
            <a:r>
              <a:rPr lang="de-DE" dirty="0" err="1"/>
              <a:t>circuits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analog </a:t>
            </a:r>
            <a:r>
              <a:rPr lang="de-DE" dirty="0" err="1"/>
              <a:t>circuit</a:t>
            </a:r>
            <a:r>
              <a:rPr lang="de-DE" dirty="0"/>
              <a:t> design — </a:t>
            </a:r>
            <a:r>
              <a:rPr lang="de-DE" dirty="0" err="1"/>
              <a:t>filters</a:t>
            </a:r>
            <a:r>
              <a:rPr lang="de-DE" dirty="0"/>
              <a:t>, </a:t>
            </a:r>
            <a:r>
              <a:rPr lang="de-DE" dirty="0" err="1"/>
              <a:t>amplifiers</a:t>
            </a:r>
            <a:r>
              <a:rPr lang="de-DE" dirty="0"/>
              <a:t>, </a:t>
            </a:r>
            <a:r>
              <a:rPr lang="de-DE" dirty="0" err="1"/>
              <a:t>signal</a:t>
            </a:r>
            <a:r>
              <a:rPr lang="de-DE" dirty="0"/>
              <a:t> </a:t>
            </a:r>
            <a:r>
              <a:rPr lang="de-DE" dirty="0" err="1"/>
              <a:t>conditioning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digital </a:t>
            </a:r>
            <a:r>
              <a:rPr lang="de-DE" dirty="0" err="1"/>
              <a:t>electronics</a:t>
            </a:r>
            <a:r>
              <a:rPr lang="de-DE" dirty="0"/>
              <a:t> — </a:t>
            </a:r>
            <a:r>
              <a:rPr lang="de-DE" dirty="0" err="1"/>
              <a:t>logic</a:t>
            </a:r>
            <a:r>
              <a:rPr lang="de-DE" dirty="0"/>
              <a:t> </a:t>
            </a:r>
            <a:r>
              <a:rPr lang="de-DE" dirty="0" err="1"/>
              <a:t>gates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9A813EC-88BD-575E-2667-FDC1D47FE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13</a:t>
            </a:fld>
            <a:endParaRPr lang="de-DE"/>
          </a:p>
        </p:txBody>
      </p:sp>
      <p:pic>
        <p:nvPicPr>
          <p:cNvPr id="2050" name="Picture 2" descr="Prinzipieller Aufbau eines n-Kanal-MOSFETs im Querschnitt (Planartechnik)">
            <a:extLst>
              <a:ext uri="{FF2B5EF4-FFF2-40B4-BE49-F238E27FC236}">
                <a16:creationId xmlns:a16="http://schemas.microsoft.com/office/drawing/2014/main" id="{6F9EE460-7BD2-5613-A70A-E416A5BC1A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2160" y="2375284"/>
            <a:ext cx="3771640" cy="3323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79040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86C014-A999-0992-19B5-7233A1A1E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Energy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299970-2F98-E623-F08D-D9041FD7B2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490254" cy="4351338"/>
          </a:xfrm>
        </p:spPr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generation</a:t>
            </a:r>
            <a:r>
              <a:rPr lang="de-DE" dirty="0"/>
              <a:t>, </a:t>
            </a:r>
            <a:r>
              <a:rPr lang="de-DE" dirty="0" err="1"/>
              <a:t>conversion</a:t>
            </a:r>
            <a:r>
              <a:rPr lang="de-DE" dirty="0"/>
              <a:t>, and </a:t>
            </a:r>
            <a:r>
              <a:rPr lang="de-DE" dirty="0" err="1"/>
              <a:t>distribution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power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transformers</a:t>
            </a:r>
            <a:r>
              <a:rPr lang="de-DE" dirty="0"/>
              <a:t> and power </a:t>
            </a:r>
            <a:r>
              <a:rPr lang="de-DE" dirty="0" err="1"/>
              <a:t>converters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power </a:t>
            </a:r>
            <a:r>
              <a:rPr lang="de-DE" dirty="0" err="1"/>
              <a:t>electronics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80B9A4-BF32-EF21-5482-EF7FCC8F7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14</a:t>
            </a:fld>
            <a:endParaRPr lang="de-DE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3B4E319-1E7D-F835-9644-7BB75318BD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0600" y="2108994"/>
            <a:ext cx="3175000" cy="378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92050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69BA13-B9D6-E7FF-B225-4E17A4B17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Information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35AB8D-9101-AF00-247C-3C2F0D5E1A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19260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transmitting</a:t>
            </a:r>
            <a:r>
              <a:rPr lang="de-DE" dirty="0"/>
              <a:t> and </a:t>
            </a:r>
            <a:r>
              <a:rPr lang="de-DE" dirty="0" err="1"/>
              <a:t>processing</a:t>
            </a:r>
            <a:r>
              <a:rPr lang="de-DE" dirty="0"/>
              <a:t> </a:t>
            </a:r>
            <a:r>
              <a:rPr lang="de-DE" dirty="0" err="1"/>
              <a:t>information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signal</a:t>
            </a:r>
            <a:r>
              <a:rPr lang="de-DE" dirty="0"/>
              <a:t> </a:t>
            </a:r>
            <a:r>
              <a:rPr lang="de-DE" dirty="0" err="1"/>
              <a:t>processing</a:t>
            </a:r>
            <a:endParaRPr lang="de-DE" dirty="0"/>
          </a:p>
          <a:p>
            <a:r>
              <a:rPr lang="de-DE" dirty="0"/>
              <a:t>time-domain vs. </a:t>
            </a:r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analysis</a:t>
            </a:r>
            <a:endParaRPr lang="de-DE" dirty="0"/>
          </a:p>
          <a:p>
            <a:r>
              <a:rPr lang="de-DE" dirty="0"/>
              <a:t>Fourier and Laplace </a:t>
            </a:r>
            <a:r>
              <a:rPr lang="de-DE" dirty="0" err="1"/>
              <a:t>transforms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communication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 err="1"/>
              <a:t>amplitude</a:t>
            </a:r>
            <a:r>
              <a:rPr lang="de-DE" dirty="0"/>
              <a:t>/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modulation</a:t>
            </a:r>
            <a:r>
              <a:rPr lang="de-DE" dirty="0"/>
              <a:t> (AM/FM)</a:t>
            </a:r>
          </a:p>
          <a:p>
            <a:r>
              <a:rPr lang="de-DE" dirty="0"/>
              <a:t>digital </a:t>
            </a:r>
            <a:r>
              <a:rPr lang="de-DE" dirty="0" err="1"/>
              <a:t>modulation</a:t>
            </a:r>
            <a:r>
              <a:rPr lang="de-DE" dirty="0"/>
              <a:t> (ASK, FSK, PSK)</a:t>
            </a:r>
          </a:p>
          <a:p>
            <a:r>
              <a:rPr lang="de-DE" dirty="0" err="1"/>
              <a:t>noise</a:t>
            </a:r>
            <a:r>
              <a:rPr lang="de-DE" dirty="0"/>
              <a:t>, </a:t>
            </a:r>
            <a:r>
              <a:rPr lang="de-DE" dirty="0" err="1"/>
              <a:t>bandwidth</a:t>
            </a:r>
            <a:r>
              <a:rPr lang="de-DE" dirty="0"/>
              <a:t>, and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concepts</a:t>
            </a:r>
            <a:endParaRPr lang="de-DE" dirty="0"/>
          </a:p>
          <a:p>
            <a:r>
              <a:rPr lang="de-DE" dirty="0" err="1"/>
              <a:t>communication</a:t>
            </a:r>
            <a:r>
              <a:rPr lang="de-DE" dirty="0"/>
              <a:t> </a:t>
            </a:r>
            <a:r>
              <a:rPr lang="de-DE" dirty="0" err="1"/>
              <a:t>channels</a:t>
            </a:r>
            <a:r>
              <a:rPr lang="de-DE" dirty="0"/>
              <a:t> and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transmission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1D00159-36CB-5D28-5E14-AAA7EC157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15</a:t>
            </a:fld>
            <a:endParaRPr lang="de-DE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7E39474-BF12-F855-43A6-2828480300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4700" y="2674144"/>
            <a:ext cx="3175000" cy="265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9869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66A4C2-9266-7203-BB84-BAA0BBA2D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987060-39ED-4C85-1627-55E612B0A8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7329616" cy="4351338"/>
          </a:xfrm>
        </p:spPr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feedback</a:t>
            </a:r>
            <a:r>
              <a:rPr lang="de-DE" dirty="0"/>
              <a:t>, </a:t>
            </a:r>
            <a:r>
              <a:rPr lang="de-DE" dirty="0" err="1"/>
              <a:t>stability</a:t>
            </a:r>
            <a:r>
              <a:rPr lang="de-DE" dirty="0"/>
              <a:t>, and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root </a:t>
            </a:r>
            <a:r>
              <a:rPr lang="de-DE" dirty="0" err="1"/>
              <a:t>locus</a:t>
            </a:r>
            <a:r>
              <a:rPr lang="de-DE" dirty="0"/>
              <a:t>, Bode, and </a:t>
            </a:r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techniques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PID </a:t>
            </a:r>
            <a:r>
              <a:rPr lang="de-DE" dirty="0" err="1"/>
              <a:t>control</a:t>
            </a:r>
            <a:r>
              <a:rPr lang="de-DE" dirty="0"/>
              <a:t> and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applications</a:t>
            </a:r>
            <a:r>
              <a:rPr lang="de-DE" dirty="0"/>
              <a:t> (</a:t>
            </a:r>
            <a:r>
              <a:rPr lang="de-DE" dirty="0" err="1"/>
              <a:t>motors</a:t>
            </a:r>
            <a:r>
              <a:rPr lang="de-DE" dirty="0"/>
              <a:t>, </a:t>
            </a:r>
            <a:r>
              <a:rPr lang="de-DE" dirty="0" err="1"/>
              <a:t>robotics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96D762-A330-9A42-BD7C-EF29141C8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16</a:t>
            </a:fld>
            <a:endParaRPr lang="de-DE"/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F961C27B-5EA1-0289-C56C-E3292661BC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5700" y="2185194"/>
            <a:ext cx="2413000" cy="3632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04697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C534FC-41EE-3B24-00E4-8C41F9D5F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Embedded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8D2C43-4882-46AA-3BF3-E056EC9B43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60852" cy="4351338"/>
          </a:xfrm>
        </p:spPr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hardware</a:t>
            </a:r>
            <a:r>
              <a:rPr lang="de-DE" dirty="0"/>
              <a:t>–</a:t>
            </a:r>
            <a:r>
              <a:rPr lang="de-DE" dirty="0" err="1"/>
              <a:t>software</a:t>
            </a:r>
            <a:r>
              <a:rPr lang="de-DE" dirty="0"/>
              <a:t> </a:t>
            </a:r>
            <a:r>
              <a:rPr lang="de-DE" dirty="0" err="1"/>
              <a:t>integration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microcontrollers</a:t>
            </a:r>
            <a:r>
              <a:rPr lang="de-DE" dirty="0"/>
              <a:t> and digital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 err="1"/>
              <a:t>sensors</a:t>
            </a:r>
            <a:r>
              <a:rPr lang="de-DE" dirty="0"/>
              <a:t>, </a:t>
            </a:r>
            <a:r>
              <a:rPr lang="de-DE" dirty="0" err="1"/>
              <a:t>actuators</a:t>
            </a:r>
            <a:r>
              <a:rPr lang="de-DE" dirty="0"/>
              <a:t>, and real-time </a:t>
            </a:r>
            <a:r>
              <a:rPr lang="de-DE" dirty="0" err="1"/>
              <a:t>control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27894F-ECF0-2F7F-F1EF-4C561180A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17</a:t>
            </a:fld>
            <a:endParaRPr lang="de-DE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FA803D64-FAE6-D0C5-3957-62AAE5941C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9052" y="2248731"/>
            <a:ext cx="6288103" cy="350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81923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750</Words>
  <Application>Microsoft Macintosh PowerPoint</Application>
  <PresentationFormat>Breitbild</PresentationFormat>
  <Paragraphs>144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Wingdings</vt:lpstr>
      <vt:lpstr>Office</vt:lpstr>
      <vt:lpstr>Introduction to Electrical Engineering</vt:lpstr>
      <vt:lpstr>Overview</vt:lpstr>
      <vt:lpstr>Wrap-Up and Outlook</vt:lpstr>
      <vt:lpstr>Fuse and Circuit Breaker</vt:lpstr>
      <vt:lpstr>Thermistor</vt:lpstr>
      <vt:lpstr>LED and Resistor Circuit</vt:lpstr>
      <vt:lpstr>Capacitive Touchscreen</vt:lpstr>
      <vt:lpstr>Inductive Sensor</vt:lpstr>
      <vt:lpstr>Residual Current Device (RCD)</vt:lpstr>
      <vt:lpstr>Electric Motors</vt:lpstr>
      <vt:lpstr>AC vs DC in Devices</vt:lpstr>
      <vt:lpstr>Smartphone Charger</vt:lpstr>
      <vt:lpstr>Semiconductor Devices and Electronics</vt:lpstr>
      <vt:lpstr>Energy Systems</vt:lpstr>
      <vt:lpstr>Information Systems</vt:lpstr>
      <vt:lpstr>Control Systems</vt:lpstr>
      <vt:lpstr>Embedded Systems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162</cp:revision>
  <dcterms:created xsi:type="dcterms:W3CDTF">2025-08-07T16:30:24Z</dcterms:created>
  <dcterms:modified xsi:type="dcterms:W3CDTF">2025-11-13T14:09:19Z</dcterms:modified>
</cp:coreProperties>
</file>