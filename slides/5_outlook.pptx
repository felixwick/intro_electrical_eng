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8" r:id="rId5"/>
    <p:sldId id="277" r:id="rId6"/>
    <p:sldId id="265" r:id="rId7"/>
    <p:sldId id="276" r:id="rId8"/>
    <p:sldId id="279" r:id="rId9"/>
    <p:sldId id="264" r:id="rId10"/>
    <p:sldId id="268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2B9E5-E14E-A242-A6EC-A933D52BB95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7A671-D5F2-9D4C-84FC-656630B711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43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12905-2743-AFED-147F-81776CF6F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318666-1438-27E1-C033-EE7184576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020269-2EC7-9F14-21DA-04F90C29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7779-9ED7-6548-B26D-2134BA4A857B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AD186B-D606-80A9-3231-AFDD3ED0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E8124F-2E7C-B927-EFF6-B63A2CD1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5E2BF-ADF2-3DC4-FA4E-D1369C74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3677BD-47FF-E5CB-CA78-D198E9798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E5F8D5-5387-AC83-A38D-C9D2D53D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5AE1B-76E6-F54D-86C0-AD1CFF11F96B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8E1981-3471-5501-CCD5-6B9F4593F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DB0F79-1415-EDE4-4CAD-98C1B044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09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E6C0-2754-E4D7-05DC-D933A957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38ED65-5A15-10DD-4EE0-8E64840B1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B6ECD0-891D-FE0D-57FF-FD19ADCF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7A32C-3B0E-9046-9BCA-8D3CFD0D0D95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499EC5-9A04-E847-2381-66E46C6B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DD20D-4DE3-E370-2973-6F4FFEED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84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27C080-2699-8C4D-247E-9FE16E5C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B54751-8ECC-CEA3-C507-5B5D09A96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8AD17D-3682-A49A-121F-18B8D4750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75B295-1D41-A158-ADB3-422310B1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52F7-8793-A141-AE69-198742CC6702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ADF4B4-6342-5B87-3209-5DA3E951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60A6E-D7D0-7CE4-40FA-842FB2B9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91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A690E-99D7-8012-E26A-9804DE75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CDD5AF-A291-F2AC-0241-760A39B27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558158-1749-D25D-9748-A209250DE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16DB6A-98E6-2659-02FE-545663A1B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EFD3DE-A60C-EB3D-1760-F0A4BF68C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CC0260F-A8D6-2982-23A9-993FD5B8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A209-622F-A54E-9C3A-3E2911113FDF}" type="datetime1">
              <a:rPr lang="de-DE" smtClean="0"/>
              <a:t>06.11.25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5F23EA3-9641-3552-922A-12706AE9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3A5E1F-6B47-573A-205E-66DF3120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822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2E2D8-3CFB-CACB-F4FE-48FD415F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A3E912-6B21-741E-F960-084895FD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749A-61C6-C743-AD5E-DC0649EEC230}" type="datetime1">
              <a:rPr lang="de-DE" smtClean="0"/>
              <a:t>06.11.25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41F180-2F19-901A-6BB9-E39F4A09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13575F-F27C-E6B1-BFC3-AE7D3B6C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0B4247-6CD9-D5D3-5FC5-4451C0CD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BC4F-BCF2-2249-A269-0F72DF7AA52E}" type="datetime1">
              <a:rPr lang="de-DE" smtClean="0"/>
              <a:t>06.11.25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546EC6-688E-8AB5-43AD-9052480D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8C0EAD-7DC8-6BE1-FC64-56F2C984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56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C33DC-A160-FB41-D126-A3547DAB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60B66D-791F-2292-2551-FC679BD4F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D77A34-3875-8E8C-32D1-A95073EC1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8726F4-783A-FDF2-85A6-51B3CC35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04219-3111-8B48-BBA8-24CFD5B6C566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D22A29-924F-4DC7-260D-925F8CD1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22BD22-5E11-DF4F-3360-771C07DE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45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0A593-BEDC-0486-27C0-B20E1034C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D33F0EA-39EA-1492-EC71-CF4A0D371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1604F41-D921-DB0E-3BF6-83CE9D2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A5A97E-E1C8-BD1D-559E-7EE2C118F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936FB-CAFC-9C44-A14F-A26CC8C15BFF}" type="datetime1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5F6FA6-3415-E1C1-428A-99882D86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B9EA77-33C3-5945-059C-072F6C40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24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EC98F-CC9A-0186-D2BE-90BE7661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387358D-B732-C69B-8720-1527F7260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560E2-1F1C-7C54-0B5D-7D38BEFE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1470-8E75-0440-9190-9B2DFC272B83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D77F92-171F-0BB3-150E-129BFCFA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53C126-B175-5233-BDD7-A2956420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559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D9EF2E-F39C-3B63-05CC-CA2C840BC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103AAA-5A8F-FE59-4E5E-B35CE4C20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0324D1-AED3-3B17-572D-5CFBA3D4B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19E69-F517-504E-AF77-B00F51394D07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6D390D-93DE-9405-703A-669B6E31A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D12D8F-D478-B753-C5DA-ABE41273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14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A2A1AAB-D249-9CE3-38D9-E508FCFDE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54D105-C730-104C-F17C-AD4D41831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545F5-8879-1CE0-CD12-E49DC913CC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96802-0338-9943-B015-E12CC58B8DD0}" type="datetime1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648488-4094-4FAA-C1CD-8E5B9DA48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25D587-8B29-F662-F0EC-F07FBC5D3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C53EB-36EE-1F44-B26B-550DFA5AE23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88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b="1" dirty="0"/>
              <a:t>Wrap-Up and Outlook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60613-2D57-5D53-4AB7-BF7C305D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Wrap-Up and 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5A4278-BC46-68BC-5F4E-DFB10F578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Summary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Outlook</a:t>
            </a:r>
          </a:p>
          <a:p>
            <a:pPr lvl="1"/>
            <a:r>
              <a:rPr lang="de-DE" dirty="0"/>
              <a:t>Semiconductor Devices and Electronics</a:t>
            </a:r>
          </a:p>
          <a:p>
            <a:pPr lvl="1"/>
            <a:r>
              <a:rPr lang="de-DE" dirty="0"/>
              <a:t>Energy Systems</a:t>
            </a:r>
          </a:p>
          <a:p>
            <a:pPr lvl="1"/>
            <a:r>
              <a:rPr lang="de-DE" dirty="0"/>
              <a:t>Information Systems</a:t>
            </a:r>
          </a:p>
          <a:p>
            <a:pPr lvl="1"/>
            <a:r>
              <a:rPr lang="de-DE" dirty="0"/>
              <a:t>Control Systems</a:t>
            </a:r>
          </a:p>
          <a:p>
            <a:pPr lvl="1"/>
            <a:r>
              <a:rPr lang="de-DE" dirty="0"/>
              <a:t>Embedded Systems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059137-A0C8-B0D7-3727-67AB4E5B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49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3B94CE-A8FF-0FB9-D08E-9192C1EA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Fuse</a:t>
            </a:r>
            <a:r>
              <a:rPr lang="de-DE" dirty="0"/>
              <a:t> and Circuit Breaker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77FFBF-FA08-B624-1218-B627F3FF0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protect</a:t>
            </a:r>
            <a:r>
              <a:rPr lang="de-DE" dirty="0"/>
              <a:t> </a:t>
            </a:r>
            <a:r>
              <a:rPr lang="de-DE" dirty="0" err="1"/>
              <a:t>circuits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b="1" dirty="0" err="1"/>
              <a:t>excess</a:t>
            </a:r>
            <a:r>
              <a:rPr lang="de-DE" b="1" dirty="0"/>
              <a:t> </a:t>
            </a:r>
            <a:r>
              <a:rPr lang="de-DE" b="1" dirty="0" err="1"/>
              <a:t>current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caused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</a:t>
            </a:r>
          </a:p>
          <a:p>
            <a:r>
              <a:rPr lang="de-DE" dirty="0" err="1"/>
              <a:t>overload</a:t>
            </a:r>
            <a:r>
              <a:rPr lang="de-DE" dirty="0"/>
              <a:t> (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devices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handle)</a:t>
            </a:r>
          </a:p>
          <a:p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(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resistance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typically</a:t>
            </a:r>
            <a:r>
              <a:rPr lang="de-DE" dirty="0"/>
              <a:t> 16 A </a:t>
            </a:r>
            <a:r>
              <a:rPr lang="de-DE" dirty="0" err="1"/>
              <a:t>for</a:t>
            </a:r>
            <a:r>
              <a:rPr lang="de-DE" dirty="0"/>
              <a:t> power </a:t>
            </a:r>
            <a:r>
              <a:rPr lang="de-DE" dirty="0" err="1"/>
              <a:t>outlets</a:t>
            </a:r>
            <a:r>
              <a:rPr lang="de-DE" dirty="0"/>
              <a:t>:</a:t>
            </a:r>
          </a:p>
          <a:p>
            <a:r>
              <a:rPr lang="de-DE" sz="2200" dirty="0"/>
              <a:t>maximum </a:t>
            </a:r>
            <a:r>
              <a:rPr lang="de-DE" sz="2200" dirty="0" err="1"/>
              <a:t>continuous</a:t>
            </a:r>
            <a:r>
              <a:rPr lang="de-DE" sz="2200" dirty="0"/>
              <a:t> power (</a:t>
            </a:r>
            <a:r>
              <a:rPr lang="de-DE" sz="2200" dirty="0" err="1"/>
              <a:t>assuming</a:t>
            </a:r>
            <a:r>
              <a:rPr lang="de-DE" sz="2200" dirty="0"/>
              <a:t> 230 V): P = V I = 230 V 16 A = 3680 W</a:t>
            </a:r>
          </a:p>
          <a:p>
            <a:r>
              <a:rPr lang="de-DE" sz="2200" dirty="0" err="1"/>
              <a:t>this</a:t>
            </a:r>
            <a:r>
              <a:rPr lang="de-DE" sz="2200" dirty="0"/>
              <a:t> </a:t>
            </a:r>
            <a:r>
              <a:rPr lang="de-DE" sz="2200" dirty="0" err="1"/>
              <a:t>is</a:t>
            </a:r>
            <a:r>
              <a:rPr lang="de-DE" sz="2200" dirty="0"/>
              <a:t> </a:t>
            </a:r>
            <a:r>
              <a:rPr lang="de-DE" sz="2200" dirty="0" err="1"/>
              <a:t>enough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power </a:t>
            </a:r>
            <a:r>
              <a:rPr lang="de-DE" sz="2200" dirty="0" err="1"/>
              <a:t>several</a:t>
            </a:r>
            <a:r>
              <a:rPr lang="de-DE" sz="2200" dirty="0"/>
              <a:t> </a:t>
            </a:r>
            <a:r>
              <a:rPr lang="de-DE" sz="2200" dirty="0" err="1"/>
              <a:t>devices</a:t>
            </a:r>
            <a:r>
              <a:rPr lang="de-DE" sz="2200" dirty="0"/>
              <a:t> at </a:t>
            </a:r>
            <a:r>
              <a:rPr lang="de-DE" sz="2200" dirty="0" err="1"/>
              <a:t>once</a:t>
            </a:r>
            <a:r>
              <a:rPr lang="de-DE" sz="2200" dirty="0"/>
              <a:t>, like: 1–2 </a:t>
            </a:r>
            <a:r>
              <a:rPr lang="de-DE" sz="2200" dirty="0" err="1"/>
              <a:t>kettles</a:t>
            </a:r>
            <a:r>
              <a:rPr lang="de-DE" sz="2200" dirty="0"/>
              <a:t>, 1 </a:t>
            </a:r>
            <a:r>
              <a:rPr lang="de-DE" sz="2200" dirty="0" err="1"/>
              <a:t>microwave</a:t>
            </a:r>
            <a:r>
              <a:rPr lang="de-DE" sz="2200" dirty="0"/>
              <a:t>, </a:t>
            </a:r>
            <a:r>
              <a:rPr lang="de-DE" sz="2200" dirty="0" err="1"/>
              <a:t>some</a:t>
            </a:r>
            <a:r>
              <a:rPr lang="de-DE" sz="2200" dirty="0"/>
              <a:t> </a:t>
            </a:r>
            <a:r>
              <a:rPr lang="de-DE" sz="2200" dirty="0" err="1"/>
              <a:t>small</a:t>
            </a:r>
            <a:r>
              <a:rPr lang="de-DE" sz="2200" dirty="0"/>
              <a:t> </a:t>
            </a:r>
            <a:r>
              <a:rPr lang="de-DE" sz="2200" dirty="0" err="1"/>
              <a:t>appliances</a:t>
            </a:r>
            <a:r>
              <a:rPr lang="de-DE" sz="2200" dirty="0"/>
              <a:t> </a:t>
            </a:r>
            <a:r>
              <a:rPr lang="de-DE" sz="2200" dirty="0" err="1"/>
              <a:t>together</a:t>
            </a:r>
            <a:endParaRPr lang="de-DE" sz="2200" dirty="0"/>
          </a:p>
          <a:p>
            <a:r>
              <a:rPr lang="de-DE" sz="2200" dirty="0" err="1"/>
              <a:t>Beyond</a:t>
            </a:r>
            <a:r>
              <a:rPr lang="de-DE" sz="2200" dirty="0"/>
              <a:t> 16 A,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circuit</a:t>
            </a:r>
            <a:r>
              <a:rPr lang="de-DE" sz="2200" dirty="0"/>
              <a:t> </a:t>
            </a:r>
            <a:r>
              <a:rPr lang="de-DE" sz="2200" dirty="0" err="1"/>
              <a:t>breaker</a:t>
            </a:r>
            <a:r>
              <a:rPr lang="de-DE" sz="2200" dirty="0"/>
              <a:t> </a:t>
            </a:r>
            <a:r>
              <a:rPr lang="de-DE" sz="2200" dirty="0" err="1"/>
              <a:t>trips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prevent</a:t>
            </a:r>
            <a:r>
              <a:rPr lang="de-DE" sz="2200" dirty="0"/>
              <a:t> </a:t>
            </a:r>
            <a:r>
              <a:rPr lang="de-DE" sz="2200" dirty="0" err="1"/>
              <a:t>overheating</a:t>
            </a:r>
            <a:r>
              <a:rPr lang="de-DE" sz="2200" dirty="0"/>
              <a:t> and </a:t>
            </a:r>
            <a:r>
              <a:rPr lang="de-DE" sz="2200" dirty="0" err="1"/>
              <a:t>fire</a:t>
            </a:r>
            <a:r>
              <a:rPr lang="de-DE" sz="2200" dirty="0"/>
              <a:t> </a:t>
            </a:r>
            <a:r>
              <a:rPr lang="de-DE" sz="2200" dirty="0" err="1"/>
              <a:t>risk</a:t>
            </a:r>
            <a:r>
              <a:rPr lang="de-DE" sz="2200" dirty="0"/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890169-3348-EF83-EA1B-95CFB242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138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57596-D64B-8C5C-1ABE-907D0730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Residual </a:t>
            </a:r>
            <a:r>
              <a:rPr lang="de-DE" dirty="0" err="1"/>
              <a:t>Current</a:t>
            </a:r>
            <a:r>
              <a:rPr lang="de-DE" dirty="0"/>
              <a:t> Device (RCD)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54D016-7F25-9A0B-13F2-75D2853D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fault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(30 mA)</a:t>
            </a:r>
          </a:p>
          <a:p>
            <a:pPr marL="0" indent="0"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safety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8D15F4-361B-6544-787C-D3A8275BE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97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9C170B-9873-B68B-138D-F1299B4F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Capacitive</a:t>
            </a:r>
            <a:r>
              <a:rPr lang="de-DE" dirty="0"/>
              <a:t> Touchscreen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FE36DE-F6D4-07BE-3AFC-86EEFF873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130081-4835-1F09-CE6F-BC968A68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87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D044F-0264-A3D4-6226-B93EDC27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Inductive</a:t>
            </a:r>
            <a:r>
              <a:rPr lang="de-DE" dirty="0"/>
              <a:t> Sensor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1813F3-0DCD-1D31-A6BF-E8AB84F2E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B3BAAE-686C-56FB-B2CD-A92AAF80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47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5CEF4-343C-FDCC-3BAB-D894E6A2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A23CFA-0975-4482-D291-F4C778FA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4D5BC0-C249-C11E-8440-B175B800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19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5AFDD-6905-A1A6-D8E9-30779D34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Semiconductor Devices and Electronics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E38531-D0DF-A922-4ACF-65C093FF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diodes</a:t>
            </a:r>
            <a:r>
              <a:rPr lang="de-DE" dirty="0"/>
              <a:t> and </a:t>
            </a:r>
            <a:r>
              <a:rPr lang="de-DE" dirty="0" err="1"/>
              <a:t>transistors</a:t>
            </a:r>
            <a:r>
              <a:rPr lang="de-DE" dirty="0"/>
              <a:t> — </a:t>
            </a:r>
            <a:r>
              <a:rPr lang="de-DE" dirty="0" err="1"/>
              <a:t>switching</a:t>
            </a:r>
            <a:r>
              <a:rPr lang="de-DE" dirty="0"/>
              <a:t> and </a:t>
            </a:r>
            <a:r>
              <a:rPr lang="de-DE" dirty="0" err="1"/>
              <a:t>amplification</a:t>
            </a:r>
            <a:endParaRPr lang="de-DE" dirty="0"/>
          </a:p>
          <a:p>
            <a:r>
              <a:rPr lang="de-DE" dirty="0"/>
              <a:t>operational </a:t>
            </a:r>
            <a:r>
              <a:rPr lang="de-DE" dirty="0" err="1"/>
              <a:t>amplifiers</a:t>
            </a:r>
            <a:r>
              <a:rPr lang="de-DE" dirty="0"/>
              <a:t> —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blocks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analog </a:t>
            </a:r>
            <a:r>
              <a:rPr lang="de-DE" dirty="0" err="1"/>
              <a:t>circuits</a:t>
            </a:r>
            <a:endParaRPr lang="de-DE" dirty="0"/>
          </a:p>
          <a:p>
            <a:r>
              <a:rPr lang="de-DE" dirty="0"/>
              <a:t>analog </a:t>
            </a:r>
            <a:r>
              <a:rPr lang="de-DE" dirty="0" err="1"/>
              <a:t>circuit</a:t>
            </a:r>
            <a:r>
              <a:rPr lang="de-DE" dirty="0"/>
              <a:t> design — </a:t>
            </a:r>
            <a:r>
              <a:rPr lang="de-DE" dirty="0" err="1"/>
              <a:t>filters</a:t>
            </a:r>
            <a:r>
              <a:rPr lang="de-DE" dirty="0"/>
              <a:t>, </a:t>
            </a:r>
            <a:r>
              <a:rPr lang="de-DE" dirty="0" err="1"/>
              <a:t>amplifiers</a:t>
            </a:r>
            <a:r>
              <a:rPr lang="de-DE" dirty="0"/>
              <a:t>,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conditioning</a:t>
            </a:r>
            <a:endParaRPr lang="de-DE" dirty="0"/>
          </a:p>
          <a:p>
            <a:r>
              <a:rPr lang="de-DE" dirty="0"/>
              <a:t>digital </a:t>
            </a:r>
            <a:r>
              <a:rPr lang="de-DE" dirty="0" err="1"/>
              <a:t>electronics</a:t>
            </a:r>
            <a:r>
              <a:rPr lang="de-DE" dirty="0"/>
              <a:t> —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de-DE" dirty="0" err="1"/>
              <a:t>gates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A813EC-88BD-575E-2667-FDC1D47FE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904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6C014-A999-0992-19B5-7233A1A1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299970-2F98-E623-F08D-D9041FD7B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generation</a:t>
            </a:r>
            <a:r>
              <a:rPr lang="de-DE" dirty="0"/>
              <a:t>, </a:t>
            </a:r>
            <a:r>
              <a:rPr lang="de-DE" dirty="0" err="1"/>
              <a:t>conversion</a:t>
            </a:r>
            <a:r>
              <a:rPr lang="de-DE" dirty="0"/>
              <a:t>, and </a:t>
            </a:r>
            <a:r>
              <a:rPr lang="de-DE" dirty="0" err="1"/>
              <a:t>distribution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power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transformers</a:t>
            </a:r>
            <a:r>
              <a:rPr lang="de-DE" dirty="0"/>
              <a:t> and power </a:t>
            </a:r>
            <a:r>
              <a:rPr lang="de-DE" dirty="0" err="1"/>
              <a:t>converters</a:t>
            </a:r>
            <a:endParaRPr lang="de-DE" dirty="0"/>
          </a:p>
          <a:p>
            <a:r>
              <a:rPr lang="de-DE" dirty="0"/>
              <a:t>power </a:t>
            </a:r>
            <a:r>
              <a:rPr lang="de-DE" dirty="0" err="1"/>
              <a:t>electronics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80B9A4-BF32-EF21-5482-EF7FCC8F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205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9BA13-B9D6-E7FF-B225-4E17A4B1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35AB8D-9101-AF00-247C-3C2F0D5E1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transmitting</a:t>
            </a:r>
            <a:r>
              <a:rPr lang="de-DE" dirty="0"/>
              <a:t> and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processing</a:t>
            </a:r>
            <a:endParaRPr lang="de-DE" dirty="0"/>
          </a:p>
          <a:p>
            <a:r>
              <a:rPr lang="de-DE" dirty="0"/>
              <a:t>time-domain vs. </a:t>
            </a:r>
            <a:r>
              <a:rPr lang="de-DE" dirty="0" err="1"/>
              <a:t>frequency</a:t>
            </a:r>
            <a:r>
              <a:rPr lang="de-DE" dirty="0"/>
              <a:t>-domain </a:t>
            </a:r>
            <a:r>
              <a:rPr lang="de-DE" dirty="0" err="1"/>
              <a:t>analysis</a:t>
            </a:r>
            <a:endParaRPr lang="de-DE" dirty="0"/>
          </a:p>
          <a:p>
            <a:r>
              <a:rPr lang="de-DE" dirty="0"/>
              <a:t>Fourier and Laplace </a:t>
            </a:r>
            <a:r>
              <a:rPr lang="de-DE" dirty="0" err="1"/>
              <a:t>transforms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 err="1"/>
              <a:t>amplitude</a:t>
            </a:r>
            <a:r>
              <a:rPr lang="de-DE" dirty="0"/>
              <a:t>/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modulation</a:t>
            </a:r>
            <a:r>
              <a:rPr lang="de-DE" dirty="0"/>
              <a:t> (AM/FM)</a:t>
            </a:r>
          </a:p>
          <a:p>
            <a:r>
              <a:rPr lang="de-DE" dirty="0"/>
              <a:t>digital </a:t>
            </a:r>
            <a:r>
              <a:rPr lang="de-DE" dirty="0" err="1"/>
              <a:t>modulation</a:t>
            </a:r>
            <a:endParaRPr lang="de-DE" dirty="0"/>
          </a:p>
          <a:p>
            <a:r>
              <a:rPr lang="de-DE" dirty="0" err="1"/>
              <a:t>noise</a:t>
            </a:r>
            <a:r>
              <a:rPr lang="de-DE" dirty="0"/>
              <a:t>, </a:t>
            </a:r>
            <a:r>
              <a:rPr lang="de-DE" dirty="0" err="1"/>
              <a:t>bandwidth</a:t>
            </a:r>
            <a:r>
              <a:rPr lang="de-DE" dirty="0"/>
              <a:t>, and </a:t>
            </a:r>
            <a:r>
              <a:rPr lang="de-DE" dirty="0" err="1"/>
              <a:t>filtering</a:t>
            </a:r>
            <a:r>
              <a:rPr lang="de-DE" dirty="0"/>
              <a:t> </a:t>
            </a:r>
            <a:r>
              <a:rPr lang="de-DE" dirty="0" err="1"/>
              <a:t>concepts</a:t>
            </a:r>
            <a:endParaRPr lang="de-DE" dirty="0"/>
          </a:p>
          <a:p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and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transmission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D00159-36CB-5D28-5E14-AAA7EC15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86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6A4C2-9266-7203-BB84-BAA0BBA2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987060-39ED-4C85-1627-55E612B0A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feedback</a:t>
            </a:r>
            <a:r>
              <a:rPr lang="de-DE" dirty="0"/>
              <a:t>, </a:t>
            </a:r>
            <a:r>
              <a:rPr lang="de-DE" dirty="0" err="1"/>
              <a:t>stability</a:t>
            </a:r>
            <a:r>
              <a:rPr lang="de-DE" dirty="0"/>
              <a:t>, and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  <a:p>
            <a:r>
              <a:rPr lang="de-DE" dirty="0"/>
              <a:t>root </a:t>
            </a:r>
            <a:r>
              <a:rPr lang="de-DE" dirty="0" err="1"/>
              <a:t>locus</a:t>
            </a:r>
            <a:r>
              <a:rPr lang="de-DE" dirty="0"/>
              <a:t>, Bode, and </a:t>
            </a:r>
            <a:r>
              <a:rPr lang="de-DE" dirty="0" err="1"/>
              <a:t>Nyquist</a:t>
            </a:r>
            <a:r>
              <a:rPr lang="de-DE" dirty="0"/>
              <a:t> </a:t>
            </a:r>
            <a:r>
              <a:rPr lang="de-DE" dirty="0" err="1"/>
              <a:t>techniques</a:t>
            </a:r>
            <a:endParaRPr lang="de-DE" dirty="0"/>
          </a:p>
          <a:p>
            <a:r>
              <a:rPr lang="de-DE" dirty="0"/>
              <a:t>PID </a:t>
            </a:r>
            <a:r>
              <a:rPr lang="de-DE" dirty="0" err="1"/>
              <a:t>control</a:t>
            </a:r>
            <a:r>
              <a:rPr lang="de-DE" dirty="0"/>
              <a:t> and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 (</a:t>
            </a:r>
            <a:r>
              <a:rPr lang="de-DE" dirty="0" err="1"/>
              <a:t>motors</a:t>
            </a:r>
            <a:r>
              <a:rPr lang="de-DE" dirty="0"/>
              <a:t>, </a:t>
            </a:r>
            <a:r>
              <a:rPr lang="de-DE" dirty="0" err="1"/>
              <a:t>robotics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96D762-A330-9A42-BD7C-EF29141C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46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534FC-41EE-3B24-00E4-8C41F9D5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Embedded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8D2C43-4882-46AA-3BF3-E056EC9B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hardware</a:t>
            </a:r>
            <a:r>
              <a:rPr lang="de-DE" dirty="0"/>
              <a:t>–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integration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microcontrollers</a:t>
            </a:r>
            <a:r>
              <a:rPr lang="de-DE" dirty="0"/>
              <a:t> and digital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 err="1"/>
              <a:t>sensors</a:t>
            </a:r>
            <a:r>
              <a:rPr lang="de-DE" dirty="0"/>
              <a:t>, </a:t>
            </a:r>
            <a:r>
              <a:rPr lang="de-DE" dirty="0" err="1"/>
              <a:t>actuators</a:t>
            </a:r>
            <a:r>
              <a:rPr lang="de-DE" dirty="0"/>
              <a:t>, and real-time </a:t>
            </a:r>
            <a:r>
              <a:rPr lang="de-DE" dirty="0" err="1"/>
              <a:t>control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27894F-ECF0-2F7F-F1EF-4C561180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8192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Macintosh PowerPoint</Application>
  <PresentationFormat>Breitbild</PresentationFormat>
  <Paragraphs>77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Introduction to Electrical Engineering</vt:lpstr>
      <vt:lpstr>Overview</vt:lpstr>
      <vt:lpstr>Wrap-Up and Outlook</vt:lpstr>
      <vt:lpstr>Fuse and Circuit Breaker</vt:lpstr>
      <vt:lpstr>Residual Current Device (RCD)</vt:lpstr>
      <vt:lpstr>Capacitive Touchscreen</vt:lpstr>
      <vt:lpstr>Inductive Sensor</vt:lpstr>
      <vt:lpstr>PowerPoint-Präsentation</vt:lpstr>
      <vt:lpstr>Semiconductor Devices and Electronics</vt:lpstr>
      <vt:lpstr>Energy Systems</vt:lpstr>
      <vt:lpstr>Information Systems</vt:lpstr>
      <vt:lpstr>Control Systems</vt:lpstr>
      <vt:lpstr>Embedded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145</cp:revision>
  <dcterms:created xsi:type="dcterms:W3CDTF">2025-08-07T16:30:24Z</dcterms:created>
  <dcterms:modified xsi:type="dcterms:W3CDTF">2025-11-06T14:45:19Z</dcterms:modified>
</cp:coreProperties>
</file>