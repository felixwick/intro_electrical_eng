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4"/>
  </p:notesMasterIdLst>
  <p:sldIdLst>
    <p:sldId id="257" r:id="rId2"/>
    <p:sldId id="258" r:id="rId3"/>
    <p:sldId id="259" r:id="rId4"/>
    <p:sldId id="273" r:id="rId5"/>
    <p:sldId id="266" r:id="rId6"/>
    <p:sldId id="297" r:id="rId7"/>
    <p:sldId id="262" r:id="rId8"/>
    <p:sldId id="272" r:id="rId9"/>
    <p:sldId id="263" r:id="rId10"/>
    <p:sldId id="260" r:id="rId11"/>
    <p:sldId id="261" r:id="rId12"/>
    <p:sldId id="268" r:id="rId13"/>
    <p:sldId id="279" r:id="rId14"/>
    <p:sldId id="285" r:id="rId15"/>
    <p:sldId id="278" r:id="rId16"/>
    <p:sldId id="286" r:id="rId17"/>
    <p:sldId id="274" r:id="rId18"/>
    <p:sldId id="280" r:id="rId19"/>
    <p:sldId id="282" r:id="rId20"/>
    <p:sldId id="283" r:id="rId21"/>
    <p:sldId id="284" r:id="rId22"/>
    <p:sldId id="287" r:id="rId23"/>
    <p:sldId id="288" r:id="rId24"/>
    <p:sldId id="289" r:id="rId25"/>
    <p:sldId id="295" r:id="rId26"/>
    <p:sldId id="294" r:id="rId27"/>
    <p:sldId id="293" r:id="rId28"/>
    <p:sldId id="298" r:id="rId29"/>
    <p:sldId id="292" r:id="rId30"/>
    <p:sldId id="290" r:id="rId31"/>
    <p:sldId id="291" r:id="rId32"/>
    <p:sldId id="296" r:id="rId3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38"/>
    <p:restoredTop sz="94784"/>
  </p:normalViewPr>
  <p:slideViewPr>
    <p:cSldViewPr snapToGrid="0">
      <p:cViewPr varScale="1">
        <p:scale>
          <a:sx n="110" d="100"/>
          <a:sy n="110" d="100"/>
        </p:scale>
        <p:origin x="6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F0DBE5-119B-9546-A717-70798062973B}" type="datetimeFigureOut">
              <a:rPr lang="de-DE" smtClean="0"/>
              <a:t>21.10.26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DE6195-90EE-3742-8546-99F2F41297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8024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14F06C-E38E-16BD-7DCB-A02917BF75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63E02D5-3018-50CA-CB8E-2B0273FB28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7CFF7FE-96C7-A3B2-8515-7E248C31F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B6352-3465-4344-964A-B25153893676}" type="datetime1">
              <a:rPr lang="de-DE" smtClean="0"/>
              <a:t>21.10.26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171111-E8C0-534A-0D38-6BBC61EDD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70ED76-5E40-64AE-B6BA-2022E82F6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EAA6B-85FB-CD46-8BDC-C1BC3364C8C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8381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B40775-0779-660C-24E2-2209643E4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54E09F2-329D-301B-4E24-EF661394C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0CA5D0D-8618-0E98-26C5-8E8480A60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1BE91-62CD-C14F-A910-7294FC82D4A0}" type="datetime1">
              <a:rPr lang="de-DE" smtClean="0"/>
              <a:t>21.10.26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056ADFB-E3B7-9B01-7578-7AA27B797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A61069B-51D3-8CFE-0F21-DFE5651A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EAA6B-85FB-CD46-8BDC-C1BC3364C8C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5730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D7EB80-11B7-B7E4-67ED-43C639A02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CB0497D-0171-AE8E-CEAF-87CB0D6FD6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31323BE-9988-14EF-9B62-BBD77563A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74C23-8003-8246-BE47-B5ECC9F69FCF}" type="datetime1">
              <a:rPr lang="de-DE" smtClean="0"/>
              <a:t>21.10.26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BC051C0-A422-B063-A2EE-8813A7CD0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1363CC1-AC2B-4D9F-0431-8F345961B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EAA6B-85FB-CD46-8BDC-C1BC3364C8C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6920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28133C-9F2A-3D07-C40B-F118E0E82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BC576D8-F780-352F-39A4-EEE2521E27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CB35EA3-E055-6360-07DD-7058052E92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F039E95-85DB-08B1-8146-B84AA76B0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9C134-D3BA-F044-A1BA-5D8F00C16B33}" type="datetime1">
              <a:rPr lang="de-DE" smtClean="0"/>
              <a:t>21.10.26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4CCA4C7-7744-8294-F106-967893DA8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1EF05C6-A18F-CAF5-6741-291E9069E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EAA6B-85FB-CD46-8BDC-C1BC3364C8C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0511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1E7204-5F12-F8F5-FC42-AEB57FA38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C65B6B3-483C-8CDD-49A7-DEBBE818E2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D86DF69-7267-4581-6EBA-92BEB9A0C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3801C6C-AB57-DEB2-E8E9-951A816C98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1A1DE7E-602A-2DFF-AB90-0C33A22BAA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1A13BC0-D066-A8DF-FA7D-4C1D09F34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0E14A-B13F-B84D-BA0A-4382E133E05F}" type="datetime1">
              <a:rPr lang="de-DE" smtClean="0"/>
              <a:t>21.10.26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D8C5106-2154-31AE-0C69-CD805D861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BB7468F-B25B-BD41-47CC-F3B004C1F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EAA6B-85FB-CD46-8BDC-C1BC3364C8C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9981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C0E992-B6D8-F254-226A-ED6F71E80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C21A48D-8B72-698A-4BEC-05BB5331B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99081-64A1-E641-A060-B3FE5E7414AE}" type="datetime1">
              <a:rPr lang="de-DE" smtClean="0"/>
              <a:t>21.10.26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F5B43F9-A9F6-C8B5-08B3-A9724CE3B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C65B4CE-8187-A4DB-E184-DF48BF24E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EAA6B-85FB-CD46-8BDC-C1BC3364C8C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6725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0661D7B-2F5E-DEE1-1577-3841FA4C3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07737-E8BF-5348-A8D5-F635D39F9B4A}" type="datetime1">
              <a:rPr lang="de-DE" smtClean="0"/>
              <a:t>21.10.26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D05F845-0DFB-4414-D581-3D0E52758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ACD63DC-2819-72D6-A907-7CAEACA30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EAA6B-85FB-CD46-8BDC-C1BC3364C8C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5261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DC0E7C-F51D-380F-07EC-1AE8BA36C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CC87DA6-C732-048A-9588-1ED148204B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DB8FEE6-460C-C565-4491-9D525083C4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46C0CBC-574A-5053-2110-A0547B5B1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F2D44-8DB2-1E42-B969-A879F4E80DE2}" type="datetime1">
              <a:rPr lang="de-DE" smtClean="0"/>
              <a:t>21.10.26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A12A5F6-793D-40D6-E422-47A6B322C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CBC6977-CD68-ED8F-20FB-76A3B46C8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EAA6B-85FB-CD46-8BDC-C1BC3364C8C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538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1431AD-5A62-3A0D-414E-439385A54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1699CB0-D7C0-9A54-0634-A95CFD0C18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59D7D7A-0FB8-D6CC-1B1F-B6BEC9C0AA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5F1AE38-2F50-30E9-BA08-9C7075819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C8AD7-B1B1-5742-9D45-5FF116011C65}" type="datetime1">
              <a:rPr lang="de-DE" smtClean="0"/>
              <a:t>21.10.26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442F51C-30F6-205F-CC5B-9A1D827C7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BD1D5ED-944B-281D-530A-74436CC52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EAA6B-85FB-CD46-8BDC-C1BC3364C8C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338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53ACA7-8488-47CB-17DB-B1E8347FF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D3D7141-239F-0484-5CC1-1CD9EDDA6B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C331242-0B1E-594A-6BBD-10F635AE4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476C1-F079-0F40-9C5B-039EA12ABDAA}" type="datetime1">
              <a:rPr lang="de-DE" smtClean="0"/>
              <a:t>21.10.26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BFD2ECA-7F86-13E2-8F9E-A100CF2D9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63D6640-877E-76CD-C55D-3FE2C8D3E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EAA6B-85FB-CD46-8BDC-C1BC3364C8C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8102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03FBC2E-1EA1-B808-E3B8-83C7E848D7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8D0204D-CEF3-F688-5B0F-EED50BE9A7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6251832-86B3-9A67-B6D1-06C02043D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166F0-C736-5846-BD29-206B3FE0CE89}" type="datetime1">
              <a:rPr lang="de-DE" smtClean="0"/>
              <a:t>21.10.26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75F0E4-A840-B119-65A1-98F775849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54831D-5BB8-8AA2-05E7-31C54AC57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EAA6B-85FB-CD46-8BDC-C1BC3364C8C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26385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D235971-8887-6021-0EC5-8709B14DE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EC0D36C-1B25-A41A-75AE-B112566D08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6AA8A7E-99C5-4117-BF89-B0A9A8A603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8D9C44-3672-2C4D-8D64-277C579E81B1}" type="datetime1">
              <a:rPr lang="de-DE" smtClean="0"/>
              <a:t>21.10.26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B9B529F-F865-4B99-BDEB-EE92056BC8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F388F8C-25B7-A32E-E8A6-99AA5E297D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3EAA6B-85FB-CD46-8BDC-C1BC3364C8C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777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4.sv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svg"/><Relationship Id="rId9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17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4" Type="http://schemas.openxmlformats.org/officeDocument/2006/relationships/image" Target="../media/image16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0.png"/><Relationship Id="rId5" Type="http://schemas.openxmlformats.org/officeDocument/2006/relationships/image" Target="../media/image36.png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6.png"/><Relationship Id="rId4" Type="http://schemas.openxmlformats.org/officeDocument/2006/relationships/image" Target="../media/image41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5" Type="http://schemas.openxmlformats.org/officeDocument/2006/relationships/image" Target="../media/image54.png"/><Relationship Id="rId4" Type="http://schemas.openxmlformats.org/officeDocument/2006/relationships/image" Target="../media/image5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68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7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30.png"/><Relationship Id="rId4" Type="http://schemas.openxmlformats.org/officeDocument/2006/relationships/image" Target="../media/image72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80.png"/><Relationship Id="rId5" Type="http://schemas.openxmlformats.org/officeDocument/2006/relationships/image" Target="../media/image760.png"/><Relationship Id="rId4" Type="http://schemas.openxmlformats.org/officeDocument/2006/relationships/image" Target="../media/image6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20.png"/><Relationship Id="rId4" Type="http://schemas.openxmlformats.org/officeDocument/2006/relationships/image" Target="../media/image8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F2923D-3895-BF25-8FF0-9063E9CAEE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/>
          <a:lstStyle/>
          <a:p>
            <a:r>
              <a:rPr lang="de-DE" dirty="0" err="1"/>
              <a:t>Introduction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Electrical</a:t>
            </a:r>
            <a:r>
              <a:rPr lang="de-DE" dirty="0"/>
              <a:t> Engineering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C68E1015-F0F7-BDF7-81A6-8D77EBEA05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0080" y="4581128"/>
            <a:ext cx="1973065" cy="1919254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DAF523FF-EDDE-CBCE-CF3C-23754CE877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71664" y="4581128"/>
            <a:ext cx="2193433" cy="1919254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35D6C663-1B18-BF64-775E-7688EF4041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4581128"/>
            <a:ext cx="2846090" cy="2276872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037BBB93-FC05-4423-CA66-B8B94BF79C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42090" y="4582955"/>
            <a:ext cx="2712054" cy="1988840"/>
          </a:xfrm>
          <a:prstGeom prst="rect">
            <a:avLst/>
          </a:prstGeom>
        </p:spPr>
      </p:pic>
      <p:pic>
        <p:nvPicPr>
          <p:cNvPr id="9" name="Grafik 8" descr="Ein Bild, das Grafiken, Schrift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44C8233E-B9AF-4B79-8A1E-12D4DBDF58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2572" y="286205"/>
            <a:ext cx="2251572" cy="1174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368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59877E-8B63-4736-A589-18D96CCD1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Overview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50A3E6E-DB3F-1143-1ADE-C8BBC012D1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de-DE" dirty="0" err="1"/>
              <a:t>Physical</a:t>
            </a:r>
            <a:r>
              <a:rPr lang="de-DE" dirty="0"/>
              <a:t> </a:t>
            </a:r>
            <a:r>
              <a:rPr lang="de-DE" dirty="0" err="1"/>
              <a:t>Principles</a:t>
            </a:r>
            <a:r>
              <a:rPr lang="de-DE" dirty="0"/>
              <a:t> and Basic </a:t>
            </a:r>
            <a:r>
              <a:rPr lang="de-DE" dirty="0" err="1"/>
              <a:t>Concepts</a:t>
            </a:r>
            <a:endParaRPr lang="de-DE" dirty="0"/>
          </a:p>
          <a:p>
            <a:pPr marL="514350" indent="-514350">
              <a:buFont typeface="+mj-lt"/>
              <a:buAutoNum type="arabicPeriod"/>
            </a:pPr>
            <a:endParaRPr lang="de-DE" b="1" dirty="0"/>
          </a:p>
          <a:p>
            <a:pPr marL="514350" indent="-514350">
              <a:buFont typeface="+mj-lt"/>
              <a:buAutoNum type="arabicPeriod"/>
            </a:pPr>
            <a:r>
              <a:rPr lang="de-DE" b="1" dirty="0" err="1"/>
              <a:t>Direct</a:t>
            </a:r>
            <a:r>
              <a:rPr lang="de-DE" b="1" dirty="0"/>
              <a:t> </a:t>
            </a:r>
            <a:r>
              <a:rPr lang="de-DE" b="1" dirty="0" err="1"/>
              <a:t>Current</a:t>
            </a:r>
            <a:r>
              <a:rPr lang="de-DE" b="1" dirty="0"/>
              <a:t> </a:t>
            </a:r>
            <a:r>
              <a:rPr lang="de-DE" b="1" dirty="0" err="1"/>
              <a:t>Circuits</a:t>
            </a:r>
            <a:endParaRPr lang="de-DE" b="1" dirty="0"/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Electric and </a:t>
            </a:r>
            <a:r>
              <a:rPr lang="de-DE" dirty="0" err="1"/>
              <a:t>Magnetic</a:t>
            </a:r>
            <a:r>
              <a:rPr lang="de-DE" dirty="0"/>
              <a:t> Fields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Alternating</a:t>
            </a:r>
            <a:r>
              <a:rPr lang="de-DE" dirty="0"/>
              <a:t> </a:t>
            </a:r>
            <a:r>
              <a:rPr lang="de-DE" dirty="0" err="1"/>
              <a:t>Current</a:t>
            </a:r>
            <a:r>
              <a:rPr lang="de-DE" dirty="0"/>
              <a:t> Technology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Wrap-Up and Outlook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748FD64-4E75-C8DE-40EE-ED62EA019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C53EB-36EE-1F44-B26B-550DFA5AE236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1228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74D2FB-12C7-57AA-FADD-8E8C9694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Direct</a:t>
            </a:r>
            <a:r>
              <a:rPr lang="de-DE" dirty="0"/>
              <a:t> </a:t>
            </a:r>
            <a:r>
              <a:rPr lang="de-DE" dirty="0" err="1"/>
              <a:t>Current</a:t>
            </a:r>
            <a:r>
              <a:rPr lang="de-DE" dirty="0"/>
              <a:t> </a:t>
            </a:r>
            <a:r>
              <a:rPr lang="de-DE" dirty="0" err="1"/>
              <a:t>Circuits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6CB17E7-EF89-1307-64B3-BBA6BC800C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/>
              <a:t>Reference </a:t>
            </a:r>
            <a:r>
              <a:rPr lang="de-DE" dirty="0" err="1"/>
              <a:t>Directions</a:t>
            </a:r>
            <a:endParaRPr lang="de-DE" dirty="0"/>
          </a:p>
          <a:p>
            <a:r>
              <a:rPr lang="de-DE" dirty="0" err="1"/>
              <a:t>Kirchhoff‘s</a:t>
            </a:r>
            <a:r>
              <a:rPr lang="de-DE" dirty="0"/>
              <a:t> </a:t>
            </a:r>
            <a:r>
              <a:rPr lang="de-DE" dirty="0" err="1"/>
              <a:t>Current</a:t>
            </a:r>
            <a:r>
              <a:rPr lang="de-DE" dirty="0"/>
              <a:t> Law</a:t>
            </a:r>
          </a:p>
          <a:p>
            <a:r>
              <a:rPr lang="de-DE" dirty="0" err="1"/>
              <a:t>Kirchhoff‘s</a:t>
            </a:r>
            <a:r>
              <a:rPr lang="de-DE" dirty="0"/>
              <a:t> </a:t>
            </a:r>
            <a:r>
              <a:rPr lang="de-DE" dirty="0" err="1"/>
              <a:t>Voltage</a:t>
            </a:r>
            <a:r>
              <a:rPr lang="de-DE" dirty="0"/>
              <a:t> Law</a:t>
            </a:r>
          </a:p>
          <a:p>
            <a:r>
              <a:rPr lang="de-DE" dirty="0"/>
              <a:t>Series Circuit</a:t>
            </a:r>
          </a:p>
          <a:p>
            <a:r>
              <a:rPr lang="de-DE" dirty="0"/>
              <a:t>Parallel Circuit</a:t>
            </a:r>
          </a:p>
          <a:p>
            <a:r>
              <a:rPr lang="de-DE" dirty="0" err="1"/>
              <a:t>Practical</a:t>
            </a:r>
            <a:r>
              <a:rPr lang="de-DE" dirty="0"/>
              <a:t> </a:t>
            </a:r>
            <a:r>
              <a:rPr lang="de-DE" dirty="0" err="1"/>
              <a:t>Voltage</a:t>
            </a:r>
            <a:r>
              <a:rPr lang="de-DE" dirty="0"/>
              <a:t> &amp; </a:t>
            </a:r>
            <a:r>
              <a:rPr lang="de-DE" dirty="0" err="1"/>
              <a:t>Current</a:t>
            </a:r>
            <a:r>
              <a:rPr lang="de-DE" dirty="0"/>
              <a:t> Sources</a:t>
            </a:r>
          </a:p>
          <a:p>
            <a:r>
              <a:rPr lang="de-DE" dirty="0"/>
              <a:t>Network Analysis</a:t>
            </a:r>
          </a:p>
          <a:p>
            <a:r>
              <a:rPr lang="de-DE" dirty="0"/>
              <a:t>Efficiency &amp; Power/</a:t>
            </a:r>
            <a:r>
              <a:rPr lang="de-DE" dirty="0" err="1"/>
              <a:t>Impedance</a:t>
            </a:r>
            <a:r>
              <a:rPr lang="de-DE" dirty="0"/>
              <a:t> </a:t>
            </a:r>
            <a:r>
              <a:rPr lang="de-DE" dirty="0" err="1"/>
              <a:t>Matching</a:t>
            </a:r>
            <a:endParaRPr lang="de-DE" dirty="0"/>
          </a:p>
          <a:p>
            <a:r>
              <a:rPr lang="de-DE" dirty="0" err="1"/>
              <a:t>Voltage</a:t>
            </a:r>
            <a:r>
              <a:rPr lang="de-DE" dirty="0"/>
              <a:t> &amp; </a:t>
            </a:r>
            <a:r>
              <a:rPr lang="de-DE" dirty="0" err="1"/>
              <a:t>Current</a:t>
            </a:r>
            <a:r>
              <a:rPr lang="de-DE" dirty="0"/>
              <a:t> Measurement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F88B751-5AB7-71F9-9B7D-4A3F44B12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EAA6B-85FB-CD46-8BDC-C1BC3364C8C0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7866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793F0F-73D9-3430-8D16-0502A26D3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Direct</a:t>
            </a:r>
            <a:r>
              <a:rPr lang="de-DE" dirty="0"/>
              <a:t> </a:t>
            </a:r>
            <a:r>
              <a:rPr lang="de-DE" dirty="0" err="1"/>
              <a:t>Current</a:t>
            </a:r>
            <a:r>
              <a:rPr lang="de-DE" dirty="0"/>
              <a:t> (DC)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53EEDA9-8CF4-DBB9-AEB5-EE58E7EC0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/>
              <a:t>one-directional</a:t>
            </a:r>
            <a:r>
              <a:rPr lang="de-DE" dirty="0"/>
              <a:t> (</a:t>
            </a:r>
            <a:r>
              <a:rPr lang="de-DE" dirty="0" err="1"/>
              <a:t>typically</a:t>
            </a:r>
            <a:r>
              <a:rPr lang="de-DE" dirty="0"/>
              <a:t> </a:t>
            </a:r>
            <a:r>
              <a:rPr lang="de-DE" dirty="0" err="1"/>
              <a:t>constant</a:t>
            </a:r>
            <a:r>
              <a:rPr lang="de-DE" dirty="0"/>
              <a:t>) </a:t>
            </a:r>
            <a:r>
              <a:rPr lang="de-DE" dirty="0" err="1"/>
              <a:t>flow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electric</a:t>
            </a:r>
            <a:r>
              <a:rPr lang="de-DE" dirty="0"/>
              <a:t> </a:t>
            </a:r>
            <a:r>
              <a:rPr lang="de-DE" dirty="0" err="1"/>
              <a:t>charge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3416065-8574-D998-3BAA-593F4CBFB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EAA6B-85FB-CD46-8BDC-C1BC3364C8C0}" type="slidenum">
              <a:rPr lang="de-DE" smtClean="0"/>
              <a:t>4</a:t>
            </a:fld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EAFC3B7A-47C8-1131-E165-33910D87F3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24790" y="2608925"/>
            <a:ext cx="6742419" cy="36577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7E996AA6-B9E3-EDF5-24C3-8C90A85715DD}"/>
                  </a:ext>
                </a:extLst>
              </p:cNvPr>
              <p:cNvSpPr txBox="1"/>
              <p:nvPr/>
            </p:nvSpPr>
            <p:spPr>
              <a:xfrm>
                <a:off x="2823559" y="3520483"/>
                <a:ext cx="59080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e-DE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de-DE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de-DE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de-DE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7E996AA6-B9E3-EDF5-24C3-8C90A85715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3559" y="3520483"/>
                <a:ext cx="590803" cy="430887"/>
              </a:xfrm>
              <a:prstGeom prst="rect">
                <a:avLst/>
              </a:prstGeom>
              <a:blipFill>
                <a:blip r:embed="rId4"/>
                <a:stretch>
                  <a:fillRect l="-14894" r="-12766" b="-285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feld 9">
            <a:extLst>
              <a:ext uri="{FF2B5EF4-FFF2-40B4-BE49-F238E27FC236}">
                <a16:creationId xmlns:a16="http://schemas.microsoft.com/office/drawing/2014/main" id="{E5A2BA64-B9DD-82F1-4A5F-1E989B0C179C}"/>
              </a:ext>
            </a:extLst>
          </p:cNvPr>
          <p:cNvSpPr txBox="1"/>
          <p:nvPr/>
        </p:nvSpPr>
        <p:spPr>
          <a:xfrm>
            <a:off x="197067" y="2876688"/>
            <a:ext cx="211628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200" dirty="0"/>
              <a:t>time </a:t>
            </a:r>
            <a:r>
              <a:rPr lang="de-DE" sz="2200" dirty="0" err="1"/>
              <a:t>dependent</a:t>
            </a:r>
            <a:endParaRPr lang="de-DE" sz="2200" dirty="0"/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F54987D2-D813-47CE-22FA-136D3B9E830F}"/>
              </a:ext>
            </a:extLst>
          </p:cNvPr>
          <p:cNvCxnSpPr>
            <a:cxnSpLocks/>
          </p:cNvCxnSpPr>
          <p:nvPr/>
        </p:nvCxnSpPr>
        <p:spPr>
          <a:xfrm>
            <a:off x="2260802" y="3113152"/>
            <a:ext cx="56275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feld 12">
            <a:extLst>
              <a:ext uri="{FF2B5EF4-FFF2-40B4-BE49-F238E27FC236}">
                <a16:creationId xmlns:a16="http://schemas.microsoft.com/office/drawing/2014/main" id="{96892B48-5F64-B357-ECC4-B3945D1FCF22}"/>
              </a:ext>
            </a:extLst>
          </p:cNvPr>
          <p:cNvSpPr txBox="1"/>
          <p:nvPr/>
        </p:nvSpPr>
        <p:spPr>
          <a:xfrm>
            <a:off x="9306776" y="4992413"/>
            <a:ext cx="80156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600" dirty="0"/>
              <a:t>(AC)</a:t>
            </a:r>
          </a:p>
        </p:txBody>
      </p:sp>
    </p:spTree>
    <p:extLst>
      <p:ext uri="{BB962C8B-B14F-4D97-AF65-F5344CB8AC3E}">
        <p14:creationId xmlns:p14="http://schemas.microsoft.com/office/powerpoint/2010/main" val="3174296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95E602-375B-E609-53F2-A0B27C4D7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Circuit </a:t>
            </a:r>
            <a:r>
              <a:rPr lang="de-DE" dirty="0" err="1"/>
              <a:t>Calculations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44AB1F-ECB6-3DAC-24D7-5CD28A767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8083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de-DE" dirty="0" err="1"/>
              <a:t>goal</a:t>
            </a:r>
            <a:r>
              <a:rPr lang="de-DE" dirty="0"/>
              <a:t>: </a:t>
            </a:r>
            <a:r>
              <a:rPr lang="de-DE" dirty="0" err="1"/>
              <a:t>calculate</a:t>
            </a:r>
            <a:r>
              <a:rPr lang="de-DE" dirty="0"/>
              <a:t> </a:t>
            </a:r>
            <a:r>
              <a:rPr lang="de-DE" dirty="0" err="1"/>
              <a:t>currents</a:t>
            </a:r>
            <a:r>
              <a:rPr lang="de-DE" dirty="0"/>
              <a:t> and </a:t>
            </a:r>
            <a:r>
              <a:rPr lang="de-DE" dirty="0" err="1"/>
              <a:t>voltages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network: </a:t>
            </a:r>
            <a:r>
              <a:rPr lang="de-DE" dirty="0" err="1"/>
              <a:t>interconnection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electrical</a:t>
            </a:r>
            <a:r>
              <a:rPr lang="de-DE" dirty="0"/>
              <a:t> </a:t>
            </a:r>
            <a:r>
              <a:rPr lang="de-DE" dirty="0" err="1"/>
              <a:t>components</a:t>
            </a:r>
            <a:r>
              <a:rPr lang="de-DE" dirty="0"/>
              <a:t>/</a:t>
            </a:r>
            <a:r>
              <a:rPr lang="de-DE" dirty="0" err="1"/>
              <a:t>elements</a:t>
            </a:r>
            <a:r>
              <a:rPr lang="de-DE" dirty="0"/>
              <a:t> (</a:t>
            </a:r>
            <a:r>
              <a:rPr lang="de-DE" dirty="0" err="1"/>
              <a:t>often</a:t>
            </a:r>
            <a:r>
              <a:rPr lang="de-DE" dirty="0"/>
              <a:t> large-</a:t>
            </a:r>
            <a:r>
              <a:rPr lang="de-DE" dirty="0" err="1"/>
              <a:t>scale</a:t>
            </a:r>
            <a:r>
              <a:rPr lang="de-DE" dirty="0"/>
              <a:t>)</a:t>
            </a:r>
          </a:p>
          <a:p>
            <a:pPr marL="0" indent="0">
              <a:buNone/>
            </a:pPr>
            <a:r>
              <a:rPr lang="de-DE" dirty="0" err="1"/>
              <a:t>circuit</a:t>
            </a:r>
            <a:r>
              <a:rPr lang="de-DE" dirty="0"/>
              <a:t>: </a:t>
            </a:r>
            <a:r>
              <a:rPr lang="de-DE" dirty="0" err="1"/>
              <a:t>closed</a:t>
            </a:r>
            <a:r>
              <a:rPr lang="de-DE" dirty="0"/>
              <a:t>-loop network (</a:t>
            </a:r>
            <a:r>
              <a:rPr lang="de-DE" dirty="0" err="1"/>
              <a:t>rather</a:t>
            </a:r>
            <a:r>
              <a:rPr lang="de-DE" dirty="0"/>
              <a:t> </a:t>
            </a:r>
            <a:r>
              <a:rPr lang="de-DE" dirty="0" err="1"/>
              <a:t>small</a:t>
            </a:r>
            <a:r>
              <a:rPr lang="de-DE" dirty="0"/>
              <a:t>)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fundamental </a:t>
            </a:r>
            <a:r>
              <a:rPr lang="de-DE" dirty="0" err="1"/>
              <a:t>concepts</a:t>
            </a:r>
            <a:r>
              <a:rPr lang="de-DE" dirty="0"/>
              <a:t>:</a:t>
            </a:r>
          </a:p>
          <a:p>
            <a:r>
              <a:rPr lang="de-DE" dirty="0" err="1"/>
              <a:t>nodes</a:t>
            </a:r>
            <a:r>
              <a:rPr lang="de-DE" dirty="0"/>
              <a:t> (</a:t>
            </a:r>
            <a:r>
              <a:rPr lang="de-DE" dirty="0" err="1"/>
              <a:t>junctions</a:t>
            </a:r>
            <a:r>
              <a:rPr lang="de-DE" dirty="0"/>
              <a:t>)</a:t>
            </a:r>
          </a:p>
          <a:p>
            <a:r>
              <a:rPr lang="de-DE" dirty="0" err="1"/>
              <a:t>branches</a:t>
            </a:r>
            <a:endParaRPr lang="de-DE" dirty="0"/>
          </a:p>
          <a:p>
            <a:r>
              <a:rPr lang="de-DE" dirty="0" err="1"/>
              <a:t>loops</a:t>
            </a:r>
            <a:endParaRPr lang="de-DE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B30FBE80-4B11-BAC5-7830-663D59836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EAA6B-85FB-CD46-8BDC-C1BC3364C8C0}" type="slidenum">
              <a:rPr lang="de-DE" smtClean="0"/>
              <a:t>5</a:t>
            </a:fld>
            <a:endParaRPr lang="de-DE"/>
          </a:p>
        </p:txBody>
      </p:sp>
      <p:pic>
        <p:nvPicPr>
          <p:cNvPr id="1026" name="Picture 2" descr="loops of electric circuit">
            <a:extLst>
              <a:ext uri="{FF2B5EF4-FFF2-40B4-BE49-F238E27FC236}">
                <a16:creationId xmlns:a16="http://schemas.microsoft.com/office/drawing/2014/main" id="{2617946A-D582-7F8A-DA96-97F7CBAD69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9031" y="4777617"/>
            <a:ext cx="4201729" cy="1662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nodes of electric circuit">
            <a:extLst>
              <a:ext uri="{FF2B5EF4-FFF2-40B4-BE49-F238E27FC236}">
                <a16:creationId xmlns:a16="http://schemas.microsoft.com/office/drawing/2014/main" id="{AB2049E2-EB78-6294-DFCE-2704256875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9031" y="121543"/>
            <a:ext cx="4201729" cy="1943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branch of electric circuit">
            <a:extLst>
              <a:ext uri="{FF2B5EF4-FFF2-40B4-BE49-F238E27FC236}">
                <a16:creationId xmlns:a16="http://schemas.microsoft.com/office/drawing/2014/main" id="{C4235E21-B034-DEB5-AE72-33BFC9A882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9030" y="2418404"/>
            <a:ext cx="4201729" cy="2021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0039136B-2EB3-C68E-E074-70C9DCF2AB55}"/>
              </a:ext>
            </a:extLst>
          </p:cNvPr>
          <p:cNvSpPr txBox="1"/>
          <p:nvPr/>
        </p:nvSpPr>
        <p:spPr>
          <a:xfrm>
            <a:off x="9924103" y="2334759"/>
            <a:ext cx="117371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500" dirty="0"/>
              <a:t>(but a </a:t>
            </a:r>
            <a:r>
              <a:rPr lang="de-DE" sz="1500" dirty="0" err="1"/>
              <a:t>node</a:t>
            </a:r>
            <a:r>
              <a:rPr lang="de-DE" sz="15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23978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3B99D1-EBCC-29D2-E226-85D490D09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Short and Open </a:t>
            </a:r>
            <a:r>
              <a:rPr lang="de-DE" dirty="0" err="1"/>
              <a:t>Circuits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64857C2-79A0-30AD-64DA-72319A7D17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short</a:t>
            </a:r>
            <a:r>
              <a:rPr lang="de-DE" dirty="0"/>
              <a:t> </a:t>
            </a:r>
            <a:r>
              <a:rPr lang="de-DE" dirty="0" err="1"/>
              <a:t>circuit</a:t>
            </a:r>
            <a:r>
              <a:rPr lang="de-DE" dirty="0"/>
              <a:t>: </a:t>
            </a:r>
            <a:r>
              <a:rPr lang="de-DE" dirty="0" err="1"/>
              <a:t>circuit</a:t>
            </a:r>
            <a:r>
              <a:rPr lang="de-DE" dirty="0"/>
              <a:t> </a:t>
            </a:r>
            <a:r>
              <a:rPr lang="de-DE" dirty="0" err="1"/>
              <a:t>element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resistance</a:t>
            </a:r>
            <a:r>
              <a:rPr lang="de-DE" dirty="0"/>
              <a:t> </a:t>
            </a:r>
            <a:r>
              <a:rPr lang="de-DE" dirty="0" err="1"/>
              <a:t>approaching</a:t>
            </a:r>
            <a:r>
              <a:rPr lang="de-DE" dirty="0"/>
              <a:t> </a:t>
            </a:r>
            <a:r>
              <a:rPr lang="de-DE" dirty="0" err="1"/>
              <a:t>zero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open </a:t>
            </a:r>
            <a:r>
              <a:rPr lang="de-DE" dirty="0" err="1"/>
              <a:t>circuit</a:t>
            </a:r>
            <a:r>
              <a:rPr lang="de-DE" dirty="0"/>
              <a:t>: </a:t>
            </a:r>
            <a:r>
              <a:rPr lang="de-DE" dirty="0" err="1"/>
              <a:t>circuit</a:t>
            </a:r>
            <a:r>
              <a:rPr lang="de-DE" dirty="0"/>
              <a:t> </a:t>
            </a:r>
            <a:r>
              <a:rPr lang="de-DE" dirty="0" err="1"/>
              <a:t>element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resistance</a:t>
            </a:r>
            <a:r>
              <a:rPr lang="de-DE" dirty="0"/>
              <a:t> </a:t>
            </a:r>
            <a:r>
              <a:rPr lang="de-DE" dirty="0" err="1"/>
              <a:t>approaching</a:t>
            </a:r>
            <a:r>
              <a:rPr lang="de-DE" dirty="0"/>
              <a:t> </a:t>
            </a:r>
            <a:r>
              <a:rPr lang="de-DE" dirty="0" err="1"/>
              <a:t>infinity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64536E2-0E92-9989-8D99-717D2FA96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EAA6B-85FB-CD46-8BDC-C1BC3364C8C0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54796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3981DD-3403-4D23-CA06-2C35CFBCD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Reference </a:t>
            </a:r>
            <a:r>
              <a:rPr lang="de-DE" dirty="0" err="1"/>
              <a:t>Directions</a:t>
            </a:r>
            <a:endParaRPr lang="de-DE" dirty="0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B4DCBE18-181E-AAB3-CFD0-745FEA85E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EAA6B-85FB-CD46-8BDC-C1BC3364C8C0}" type="slidenum">
              <a:rPr lang="de-DE" smtClean="0"/>
              <a:t>7</a:t>
            </a:fld>
            <a:endParaRPr lang="de-DE" dirty="0"/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92132178-5B98-BB73-1EDA-F8B7C64151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57090" y="2090274"/>
            <a:ext cx="5279246" cy="3866490"/>
          </a:xfrm>
          <a:prstGeom prst="rect">
            <a:avLst/>
          </a:prstGeom>
        </p:spPr>
      </p:pic>
      <p:sp>
        <p:nvSpPr>
          <p:cNvPr id="19" name="Textfeld 18">
            <a:extLst>
              <a:ext uri="{FF2B5EF4-FFF2-40B4-BE49-F238E27FC236}">
                <a16:creationId xmlns:a16="http://schemas.microsoft.com/office/drawing/2014/main" id="{B483A38A-EBFD-A446-C612-1184AA22D088}"/>
              </a:ext>
            </a:extLst>
          </p:cNvPr>
          <p:cNvSpPr txBox="1"/>
          <p:nvPr/>
        </p:nvSpPr>
        <p:spPr>
          <a:xfrm>
            <a:off x="9307223" y="2238596"/>
            <a:ext cx="4072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000" b="1" dirty="0">
                <a:solidFill>
                  <a:srgbClr val="FF0000"/>
                </a:solidFill>
              </a:rPr>
              <a:t>&gt;</a:t>
            </a:r>
          </a:p>
        </p:txBody>
      </p: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63DAFF3F-E913-A9EC-C176-B0175251E5CD}"/>
              </a:ext>
            </a:extLst>
          </p:cNvPr>
          <p:cNvCxnSpPr/>
          <p:nvPr/>
        </p:nvCxnSpPr>
        <p:spPr bwMode="auto">
          <a:xfrm>
            <a:off x="11693378" y="3113088"/>
            <a:ext cx="0" cy="1584176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33CC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" name="Textfeld 20">
            <a:extLst>
              <a:ext uri="{FF2B5EF4-FFF2-40B4-BE49-F238E27FC236}">
                <a16:creationId xmlns:a16="http://schemas.microsoft.com/office/drawing/2014/main" id="{DF7FE529-3CBF-3E47-F502-7EE55073C3E8}"/>
              </a:ext>
            </a:extLst>
          </p:cNvPr>
          <p:cNvSpPr txBox="1"/>
          <p:nvPr/>
        </p:nvSpPr>
        <p:spPr>
          <a:xfrm>
            <a:off x="9365030" y="1887208"/>
            <a:ext cx="2916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I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8FEC9F88-65F9-372D-E5CC-68AC909CA311}"/>
              </a:ext>
            </a:extLst>
          </p:cNvPr>
          <p:cNvSpPr txBox="1"/>
          <p:nvPr/>
        </p:nvSpPr>
        <p:spPr>
          <a:xfrm>
            <a:off x="11701701" y="3582010"/>
            <a:ext cx="4692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07332670-994D-137A-3675-ACA99ED610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6403412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DE" sz="2600" dirty="0" err="1"/>
                  <a:t>before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calculation</a:t>
                </a:r>
                <a:r>
                  <a:rPr lang="de-DE" sz="2600" dirty="0"/>
                  <a:t> </a:t>
                </a:r>
                <a:r>
                  <a:rPr lang="de-DE" sz="2600" dirty="0" err="1"/>
                  <a:t>of</a:t>
                </a:r>
                <a:r>
                  <a:rPr lang="de-DE" sz="2600" dirty="0"/>
                  <a:t> </a:t>
                </a:r>
                <a:r>
                  <a:rPr lang="de-DE" sz="2600" dirty="0" err="1"/>
                  <a:t>voltages</a:t>
                </a:r>
                <a:r>
                  <a:rPr lang="de-DE" sz="2600" dirty="0"/>
                  <a:t> and </a:t>
                </a:r>
                <a:r>
                  <a:rPr lang="de-DE" sz="2600" dirty="0" err="1"/>
                  <a:t>currents</a:t>
                </a:r>
                <a:r>
                  <a:rPr lang="de-DE" sz="2600" dirty="0"/>
                  <a:t>:</a:t>
                </a:r>
              </a:p>
              <a:p>
                <a:pPr marL="0" indent="0">
                  <a:buNone/>
                </a:pPr>
                <a:r>
                  <a:rPr lang="de-DE" sz="2600" b="1" dirty="0" err="1"/>
                  <a:t>arbitrary</a:t>
                </a:r>
                <a:r>
                  <a:rPr lang="de-DE" sz="2600" b="1" dirty="0"/>
                  <a:t> </a:t>
                </a:r>
                <a:r>
                  <a:rPr lang="de-DE" sz="2600" b="1" dirty="0" err="1"/>
                  <a:t>choices</a:t>
                </a:r>
                <a:endParaRPr lang="de-DE" sz="2600" b="1" dirty="0"/>
              </a:p>
              <a:p>
                <a:r>
                  <a:rPr lang="de-DE" sz="2600" dirty="0" err="1"/>
                  <a:t>define</a:t>
                </a:r>
                <a:r>
                  <a:rPr lang="de-DE" sz="2600" dirty="0"/>
                  <a:t> positive </a:t>
                </a:r>
                <a:r>
                  <a:rPr lang="de-DE" sz="2600" dirty="0" err="1"/>
                  <a:t>current</a:t>
                </a:r>
                <a:r>
                  <a:rPr lang="de-DE" sz="2600" dirty="0"/>
                  <a:t> </a:t>
                </a:r>
                <a:r>
                  <a:rPr lang="de-DE" sz="2600" dirty="0" err="1"/>
                  <a:t>directions</a:t>
                </a:r>
                <a:endParaRPr lang="de-DE" sz="2600" dirty="0"/>
              </a:p>
              <a:p>
                <a:r>
                  <a:rPr lang="de-DE" sz="2600" dirty="0" err="1"/>
                  <a:t>define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voltage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directions</a:t>
                </a:r>
                <a:r>
                  <a:rPr lang="de-DE" sz="2600" dirty="0"/>
                  <a:t> </a:t>
                </a:r>
                <a14:m>
                  <m:oMath xmlns:m="http://schemas.openxmlformats.org/officeDocument/2006/math"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de-DE" sz="2600" dirty="0"/>
                  <a:t> </a:t>
                </a:r>
                <a:r>
                  <a:rPr lang="de-DE" sz="2600" dirty="0" err="1"/>
                  <a:t>to</a:t>
                </a:r>
                <a:r>
                  <a:rPr lang="de-DE" sz="2600" dirty="0"/>
                  <a:t> </a:t>
                </a:r>
                <a14:m>
                  <m:oMath xmlns:m="http://schemas.openxmlformats.org/officeDocument/2006/math"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endParaRPr lang="de-DE" sz="26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:r>
                  <a:rPr lang="de-DE" sz="2600" dirty="0"/>
                  <a:t>after </a:t>
                </a:r>
                <a:r>
                  <a:rPr lang="de-DE" sz="2600" dirty="0" err="1"/>
                  <a:t>calculation</a:t>
                </a:r>
                <a:r>
                  <a:rPr lang="de-DE" sz="2600" dirty="0"/>
                  <a:t>:</a:t>
                </a:r>
              </a:p>
              <a:p>
                <a:pPr marL="0" indent="0">
                  <a:buNone/>
                </a:pPr>
                <a:r>
                  <a:rPr lang="de-DE" sz="2600" dirty="0"/>
                  <a:t>negative </a:t>
                </a:r>
                <a:r>
                  <a:rPr lang="de-DE" sz="2600" dirty="0" err="1"/>
                  <a:t>value</a:t>
                </a:r>
                <a:r>
                  <a:rPr lang="de-DE" sz="2600" dirty="0"/>
                  <a:t> </a:t>
                </a:r>
                <a:r>
                  <a:rPr lang="de-DE" sz="2600" dirty="0">
                    <a:sym typeface="Wingdings" pitchFamily="2" charset="2"/>
                  </a:rPr>
                  <a:t> </a:t>
                </a:r>
                <a:r>
                  <a:rPr lang="de-DE" sz="2600" dirty="0" err="1"/>
                  <a:t>actual</a:t>
                </a:r>
                <a:r>
                  <a:rPr lang="de-DE" sz="2600" dirty="0"/>
                  <a:t> </a:t>
                </a:r>
                <a:r>
                  <a:rPr lang="de-DE" sz="2600" dirty="0" err="1"/>
                  <a:t>direction</a:t>
                </a:r>
                <a:r>
                  <a:rPr lang="de-DE" sz="2600" dirty="0"/>
                  <a:t> </a:t>
                </a:r>
                <a:r>
                  <a:rPr lang="de-DE" sz="2600" dirty="0" err="1"/>
                  <a:t>opposite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of</a:t>
                </a:r>
                <a:r>
                  <a:rPr lang="de-DE" sz="2600" dirty="0"/>
                  <a:t> </a:t>
                </a:r>
                <a:r>
                  <a:rPr lang="de-DE" sz="2600" dirty="0" err="1"/>
                  <a:t>chosen</a:t>
                </a:r>
                <a:r>
                  <a:rPr lang="de-DE" sz="2600" dirty="0"/>
                  <a:t> </a:t>
                </a:r>
                <a:r>
                  <a:rPr lang="de-DE" sz="2600" dirty="0" err="1"/>
                  <a:t>reference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direction</a:t>
                </a:r>
                <a:endParaRPr lang="de-DE" sz="26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07332670-994D-137A-3675-ACA99ED610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6403412" cy="4351338"/>
              </a:xfrm>
              <a:blipFill>
                <a:blip r:embed="rId4"/>
                <a:stretch>
                  <a:fillRect l="-1581" t="-2035" r="-79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9397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7E318EA-0231-6468-BD35-7D84F4FFB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EAA6B-85FB-CD46-8BDC-C1BC3364C8C0}" type="slidenum">
              <a:rPr lang="de-DE" smtClean="0"/>
              <a:t>8</a:t>
            </a:fld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D55C308-8CEB-B03A-986F-4F22112203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96719" y="1764453"/>
            <a:ext cx="5279246" cy="3866490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CD0C1D75-FFB7-345E-4E7A-58A108D642B2}"/>
              </a:ext>
            </a:extLst>
          </p:cNvPr>
          <p:cNvSpPr txBox="1"/>
          <p:nvPr/>
        </p:nvSpPr>
        <p:spPr>
          <a:xfrm rot="10800000">
            <a:off x="5746852" y="1912775"/>
            <a:ext cx="4072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000" b="1" dirty="0">
                <a:solidFill>
                  <a:srgbClr val="FF0000"/>
                </a:solidFill>
              </a:rPr>
              <a:t>&gt;</a:t>
            </a:r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7F7F8917-515E-52A4-0F35-CABF6CE8F78E}"/>
              </a:ext>
            </a:extLst>
          </p:cNvPr>
          <p:cNvCxnSpPr/>
          <p:nvPr/>
        </p:nvCxnSpPr>
        <p:spPr bwMode="auto">
          <a:xfrm rot="10800000">
            <a:off x="8133007" y="2787267"/>
            <a:ext cx="0" cy="1584176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33CC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" name="Textfeld 7">
            <a:extLst>
              <a:ext uri="{FF2B5EF4-FFF2-40B4-BE49-F238E27FC236}">
                <a16:creationId xmlns:a16="http://schemas.microsoft.com/office/drawing/2014/main" id="{C596AA32-828E-ACCA-54CB-72ED16696ACA}"/>
              </a:ext>
            </a:extLst>
          </p:cNvPr>
          <p:cNvSpPr txBox="1"/>
          <p:nvPr/>
        </p:nvSpPr>
        <p:spPr>
          <a:xfrm>
            <a:off x="5804659" y="1561387"/>
            <a:ext cx="2916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I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04F4A2C-A29F-C592-4175-CB552DB3144A}"/>
              </a:ext>
            </a:extLst>
          </p:cNvPr>
          <p:cNvSpPr txBox="1"/>
          <p:nvPr/>
        </p:nvSpPr>
        <p:spPr>
          <a:xfrm>
            <a:off x="8141330" y="3256189"/>
            <a:ext cx="4692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V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F1304927-5B39-8625-0E76-36EC47AF62E0}"/>
              </a:ext>
            </a:extLst>
          </p:cNvPr>
          <p:cNvSpPr txBox="1"/>
          <p:nvPr/>
        </p:nvSpPr>
        <p:spPr>
          <a:xfrm>
            <a:off x="4544614" y="635636"/>
            <a:ext cx="310277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200" dirty="0"/>
              <a:t>also </a:t>
            </a:r>
            <a:r>
              <a:rPr lang="de-DE" sz="4200" dirty="0" err="1"/>
              <a:t>correct</a:t>
            </a:r>
            <a:r>
              <a:rPr lang="de-DE" sz="4200" dirty="0"/>
              <a:t>: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99C34394-A830-25F2-56C5-DC6DAD80115A}"/>
              </a:ext>
            </a:extLst>
          </p:cNvPr>
          <p:cNvSpPr txBox="1"/>
          <p:nvPr/>
        </p:nvSpPr>
        <p:spPr>
          <a:xfrm>
            <a:off x="2700941" y="5699144"/>
            <a:ext cx="69063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Will just </a:t>
            </a:r>
            <a:r>
              <a:rPr lang="de-DE" sz="2800" dirty="0" err="1"/>
              <a:t>result</a:t>
            </a:r>
            <a:r>
              <a:rPr lang="de-DE" sz="2800" dirty="0"/>
              <a:t> in negative </a:t>
            </a:r>
            <a:r>
              <a:rPr lang="de-DE" sz="2800" dirty="0" err="1"/>
              <a:t>values</a:t>
            </a:r>
            <a:r>
              <a:rPr lang="de-DE" sz="2800" dirty="0"/>
              <a:t> </a:t>
            </a:r>
            <a:r>
              <a:rPr lang="de-DE" sz="2800" dirty="0" err="1"/>
              <a:t>for</a:t>
            </a:r>
            <a:r>
              <a:rPr lang="de-DE" sz="2800" dirty="0"/>
              <a:t> I and V!</a:t>
            </a:r>
          </a:p>
        </p:txBody>
      </p:sp>
    </p:spTree>
    <p:extLst>
      <p:ext uri="{BB962C8B-B14F-4D97-AF65-F5344CB8AC3E}">
        <p14:creationId xmlns:p14="http://schemas.microsoft.com/office/powerpoint/2010/main" val="2131669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F01998E6-89F6-92D8-E004-7AA3B186F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Sign</a:t>
            </a:r>
            <a:r>
              <a:rPr lang="de-DE" dirty="0"/>
              <a:t> Conventions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503A862E-9314-AF30-223D-A21B8EDFBB8E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5"/>
                <a:ext cx="5181600" cy="2513716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de-DE" sz="2200" b="1" dirty="0"/>
                  <a:t>passive </a:t>
                </a:r>
                <a:r>
                  <a:rPr lang="de-DE" sz="2200" b="1" dirty="0" err="1"/>
                  <a:t>sign</a:t>
                </a:r>
                <a:r>
                  <a:rPr lang="de-DE" sz="2200" b="1" dirty="0"/>
                  <a:t> </a:t>
                </a:r>
                <a:r>
                  <a:rPr lang="de-DE" sz="2200" b="1" dirty="0" err="1"/>
                  <a:t>convention</a:t>
                </a:r>
                <a:r>
                  <a:rPr lang="de-DE" sz="2200" dirty="0"/>
                  <a:t>:</a:t>
                </a:r>
              </a:p>
              <a:p>
                <a:pPr marL="0" indent="0">
                  <a:buNone/>
                </a:pPr>
                <a:r>
                  <a:rPr lang="de-DE" sz="2200" dirty="0" err="1"/>
                  <a:t>reference</a:t>
                </a:r>
                <a:r>
                  <a:rPr lang="de-DE" sz="2200" dirty="0"/>
                  <a:t> </a:t>
                </a:r>
                <a:r>
                  <a:rPr lang="de-DE" sz="2200" dirty="0" err="1"/>
                  <a:t>direction</a:t>
                </a:r>
                <a:r>
                  <a:rPr lang="de-DE" sz="2200" dirty="0"/>
                  <a:t> </a:t>
                </a:r>
                <a:r>
                  <a:rPr lang="de-DE" sz="2200" dirty="0" err="1"/>
                  <a:t>of</a:t>
                </a:r>
                <a:r>
                  <a:rPr lang="de-DE" sz="2200" dirty="0"/>
                  <a:t> </a:t>
                </a:r>
                <a:r>
                  <a:rPr lang="de-DE" sz="2200" dirty="0" err="1"/>
                  <a:t>current</a:t>
                </a:r>
                <a:r>
                  <a:rPr lang="de-DE" sz="2200" dirty="0"/>
                  <a:t> </a:t>
                </a:r>
                <a:r>
                  <a:rPr lang="de-DE" sz="2200" dirty="0" err="1"/>
                  <a:t>points</a:t>
                </a:r>
                <a:r>
                  <a:rPr lang="de-DE" sz="2200" dirty="0"/>
                  <a:t> </a:t>
                </a:r>
                <a:r>
                  <a:rPr lang="de-DE" sz="2200" dirty="0" err="1"/>
                  <a:t>into</a:t>
                </a:r>
                <a:r>
                  <a:rPr lang="de-DE" sz="2200" dirty="0"/>
                  <a:t> positive </a:t>
                </a:r>
                <a:r>
                  <a:rPr lang="de-DE" sz="2200" dirty="0" err="1"/>
                  <a:t>reference</a:t>
                </a:r>
                <a:r>
                  <a:rPr lang="de-DE" sz="2200" dirty="0"/>
                  <a:t> terminal </a:t>
                </a:r>
                <a:r>
                  <a:rPr lang="de-DE" sz="2200" dirty="0" err="1"/>
                  <a:t>of</a:t>
                </a:r>
                <a:r>
                  <a:rPr lang="de-DE" sz="2200" dirty="0"/>
                  <a:t> </a:t>
                </a:r>
                <a:r>
                  <a:rPr lang="de-DE" sz="2200" dirty="0" err="1"/>
                  <a:t>voltage</a:t>
                </a:r>
                <a:endParaRPr lang="de-DE" sz="22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de-DE" sz="22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de-DE" sz="22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de-DE" sz="2200" dirty="0"/>
                  <a:t> </a:t>
                </a:r>
                <a:r>
                  <a:rPr lang="de-DE" sz="2200" dirty="0" err="1"/>
                  <a:t>for</a:t>
                </a:r>
                <a:r>
                  <a:rPr lang="de-DE" sz="2200" dirty="0"/>
                  <a:t> power </a:t>
                </a:r>
                <a:r>
                  <a:rPr lang="de-DE" sz="2200" dirty="0" err="1"/>
                  <a:t>flowing</a:t>
                </a:r>
                <a:r>
                  <a:rPr lang="de-DE" sz="2200" dirty="0"/>
                  <a:t> </a:t>
                </a:r>
                <a:r>
                  <a:rPr lang="de-DE" sz="2200" dirty="0" err="1"/>
                  <a:t>into</a:t>
                </a:r>
                <a:r>
                  <a:rPr lang="de-DE" sz="2200" dirty="0"/>
                  <a:t> </a:t>
                </a:r>
                <a:r>
                  <a:rPr lang="de-DE" sz="2200" dirty="0" err="1"/>
                  <a:t>component</a:t>
                </a:r>
                <a:r>
                  <a:rPr lang="de-DE" sz="2200" dirty="0"/>
                  <a:t> (passive </a:t>
                </a:r>
                <a:r>
                  <a:rPr lang="de-DE" sz="2200" dirty="0" err="1"/>
                  <a:t>component</a:t>
                </a:r>
                <a:r>
                  <a:rPr lang="de-DE" sz="2200" dirty="0"/>
                  <a:t>)</a:t>
                </a:r>
              </a:p>
              <a:p>
                <a14:m>
                  <m:oMath xmlns:m="http://schemas.openxmlformats.org/officeDocument/2006/math">
                    <m:r>
                      <a:rPr lang="de-DE" sz="22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de-DE" sz="22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de-DE" sz="22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de-DE" sz="2200" dirty="0"/>
                  <a:t> for active </a:t>
                </a:r>
                <a:r>
                  <a:rPr lang="de-DE" sz="2200" dirty="0" err="1"/>
                  <a:t>component</a:t>
                </a:r>
                <a:endParaRPr lang="de-DE" sz="22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503A862E-9314-AF30-223D-A21B8EDFBB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5"/>
                <a:ext cx="5181600" cy="2513716"/>
              </a:xfrm>
              <a:blipFill>
                <a:blip r:embed="rId2"/>
                <a:stretch>
                  <a:fillRect l="-1467" t="-251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Inhaltsplatzhalter 8">
                <a:extLst>
                  <a:ext uri="{FF2B5EF4-FFF2-40B4-BE49-F238E27FC236}">
                    <a16:creationId xmlns:a16="http://schemas.microsoft.com/office/drawing/2014/main" id="{84F6B076-21A6-0E1C-FB8B-022D2BC02214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200" y="1825625"/>
                <a:ext cx="5181600" cy="2513716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de-DE" sz="2200" b="1" dirty="0" err="1"/>
                  <a:t>active</a:t>
                </a:r>
                <a:r>
                  <a:rPr lang="de-DE" sz="2200" b="1" dirty="0"/>
                  <a:t> </a:t>
                </a:r>
                <a:r>
                  <a:rPr lang="de-DE" sz="2200" b="1" dirty="0" err="1"/>
                  <a:t>sign</a:t>
                </a:r>
                <a:r>
                  <a:rPr lang="de-DE" sz="2200" b="1" dirty="0"/>
                  <a:t> </a:t>
                </a:r>
                <a:r>
                  <a:rPr lang="de-DE" sz="2200" b="1" dirty="0" err="1"/>
                  <a:t>convention</a:t>
                </a:r>
                <a:r>
                  <a:rPr lang="de-DE" sz="2200" dirty="0"/>
                  <a:t>:</a:t>
                </a:r>
              </a:p>
              <a:p>
                <a:pPr marL="0" indent="0">
                  <a:buNone/>
                </a:pPr>
                <a:r>
                  <a:rPr lang="de-DE" sz="2200" dirty="0"/>
                  <a:t>reference </a:t>
                </a:r>
                <a:r>
                  <a:rPr lang="de-DE" sz="2200" dirty="0" err="1"/>
                  <a:t>direction</a:t>
                </a:r>
                <a:r>
                  <a:rPr lang="de-DE" sz="2200" dirty="0"/>
                  <a:t> </a:t>
                </a:r>
                <a:r>
                  <a:rPr lang="de-DE" sz="2200" dirty="0" err="1"/>
                  <a:t>of</a:t>
                </a:r>
                <a:r>
                  <a:rPr lang="de-DE" sz="2200" dirty="0"/>
                  <a:t> </a:t>
                </a:r>
                <a:r>
                  <a:rPr lang="de-DE" sz="2200" dirty="0" err="1"/>
                  <a:t>current</a:t>
                </a:r>
                <a:r>
                  <a:rPr lang="de-DE" sz="2200" dirty="0"/>
                  <a:t> </a:t>
                </a:r>
                <a:r>
                  <a:rPr lang="de-DE" sz="2200" dirty="0" err="1"/>
                  <a:t>points</a:t>
                </a:r>
                <a:r>
                  <a:rPr lang="de-DE" sz="2200" dirty="0"/>
                  <a:t> </a:t>
                </a:r>
                <a:r>
                  <a:rPr lang="de-DE" sz="2200" dirty="0" err="1"/>
                  <a:t>into</a:t>
                </a:r>
                <a:r>
                  <a:rPr lang="de-DE" sz="2200" dirty="0"/>
                  <a:t> negative </a:t>
                </a:r>
                <a:r>
                  <a:rPr lang="de-DE" sz="2200" dirty="0" err="1"/>
                  <a:t>reference</a:t>
                </a:r>
                <a:r>
                  <a:rPr lang="de-DE" sz="2200" dirty="0"/>
                  <a:t> terminal </a:t>
                </a:r>
                <a:r>
                  <a:rPr lang="de-DE" sz="2200" dirty="0" err="1"/>
                  <a:t>of</a:t>
                </a:r>
                <a:r>
                  <a:rPr lang="de-DE" sz="2200" dirty="0"/>
                  <a:t> </a:t>
                </a:r>
                <a:r>
                  <a:rPr lang="de-DE" sz="2200" dirty="0" err="1"/>
                  <a:t>voltage</a:t>
                </a:r>
                <a:endParaRPr lang="de-DE" sz="220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de-DE" sz="22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de-DE" sz="2200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de-DE" sz="2200" dirty="0"/>
                  <a:t> </a:t>
                </a:r>
                <a:r>
                  <a:rPr lang="de-DE" sz="2200" dirty="0" err="1"/>
                  <a:t>for</a:t>
                </a:r>
                <a:r>
                  <a:rPr lang="de-DE" sz="2200" dirty="0"/>
                  <a:t> power </a:t>
                </a:r>
                <a:r>
                  <a:rPr lang="de-DE" sz="2200" dirty="0" err="1"/>
                  <a:t>flowing</a:t>
                </a:r>
                <a:r>
                  <a:rPr lang="de-DE" sz="2200" dirty="0"/>
                  <a:t> out </a:t>
                </a:r>
                <a:r>
                  <a:rPr lang="de-DE" sz="2200" dirty="0" err="1"/>
                  <a:t>of</a:t>
                </a:r>
                <a:r>
                  <a:rPr lang="de-DE" sz="2200" dirty="0"/>
                  <a:t> </a:t>
                </a:r>
                <a:r>
                  <a:rPr lang="de-DE" sz="2200" dirty="0" err="1"/>
                  <a:t>component</a:t>
                </a:r>
                <a:r>
                  <a:rPr lang="de-DE" sz="2200" dirty="0"/>
                  <a:t> (</a:t>
                </a:r>
                <a:r>
                  <a:rPr lang="de-DE" sz="2200" dirty="0" err="1"/>
                  <a:t>active</a:t>
                </a:r>
                <a:r>
                  <a:rPr lang="de-DE" sz="2200" dirty="0"/>
                  <a:t> </a:t>
                </a:r>
                <a:r>
                  <a:rPr lang="de-DE" sz="2200" dirty="0" err="1"/>
                  <a:t>component</a:t>
                </a:r>
                <a:r>
                  <a:rPr lang="de-DE" sz="2200" dirty="0"/>
                  <a:t>)</a:t>
                </a:r>
              </a:p>
              <a:p>
                <a14:m>
                  <m:oMath xmlns:m="http://schemas.openxmlformats.org/officeDocument/2006/math">
                    <m:r>
                      <a:rPr lang="de-DE" sz="22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de-DE" sz="2200" i="1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de-DE" sz="2200" dirty="0"/>
                  <a:t> for passive </a:t>
                </a:r>
                <a:r>
                  <a:rPr lang="de-DE" sz="2200" dirty="0" err="1"/>
                  <a:t>component</a:t>
                </a:r>
                <a:endParaRPr lang="de-DE" sz="2200" dirty="0"/>
              </a:p>
            </p:txBody>
          </p:sp>
        </mc:Choice>
        <mc:Fallback xmlns="">
          <p:sp>
            <p:nvSpPr>
              <p:cNvPr id="9" name="Inhaltsplatzhalter 8">
                <a:extLst>
                  <a:ext uri="{FF2B5EF4-FFF2-40B4-BE49-F238E27FC236}">
                    <a16:creationId xmlns:a16="http://schemas.microsoft.com/office/drawing/2014/main" id="{84F6B076-21A6-0E1C-FB8B-022D2BC022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200" y="1825625"/>
                <a:ext cx="5181600" cy="2513716"/>
              </a:xfrm>
              <a:blipFill>
                <a:blip r:embed="rId3"/>
                <a:stretch>
                  <a:fillRect l="-1467" t="-251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B1913994-E6AE-209D-2896-9CD4C7F2D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EAA6B-85FB-CD46-8BDC-C1BC3364C8C0}" type="slidenum">
              <a:rPr lang="de-DE" smtClean="0"/>
              <a:t>9</a:t>
            </a:fld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8FBDAF4-50D9-791B-51EA-AA215EF33D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29855" y="4254178"/>
            <a:ext cx="2478559" cy="2513716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CB935EA7-F242-8E1A-951D-4B0C779625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1770" y="4254178"/>
            <a:ext cx="2593940" cy="2513716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603C58DF-9C1C-E221-523F-A72092A87AF8}"/>
              </a:ext>
            </a:extLst>
          </p:cNvPr>
          <p:cNvSpPr txBox="1"/>
          <p:nvPr/>
        </p:nvSpPr>
        <p:spPr>
          <a:xfrm>
            <a:off x="3583957" y="5141704"/>
            <a:ext cx="164666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common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333423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434D68-460B-0810-0F61-31F0C5D06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Kirchhoff‘s</a:t>
            </a:r>
            <a:r>
              <a:rPr lang="de-DE" dirty="0"/>
              <a:t> </a:t>
            </a:r>
            <a:r>
              <a:rPr lang="de-DE" dirty="0" err="1"/>
              <a:t>Current</a:t>
            </a:r>
            <a:r>
              <a:rPr lang="de-DE" dirty="0"/>
              <a:t> Law (KCL)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146CD885-272B-E2E7-DA1D-5107CAF2ED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dirty="0"/>
                  <a:t>sum </a:t>
                </a:r>
                <a:r>
                  <a:rPr lang="de-DE" dirty="0" err="1"/>
                  <a:t>of</a:t>
                </a:r>
                <a:r>
                  <a:rPr lang="de-DE" dirty="0"/>
                  <a:t> all </a:t>
                </a:r>
                <a:r>
                  <a:rPr lang="de-DE" dirty="0" err="1"/>
                  <a:t>currents</a:t>
                </a:r>
                <a:r>
                  <a:rPr lang="de-DE" dirty="0"/>
                  <a:t> </a:t>
                </a:r>
                <a:r>
                  <a:rPr lang="de-DE" dirty="0" err="1"/>
                  <a:t>entering</a:t>
                </a:r>
                <a:r>
                  <a:rPr lang="de-DE" dirty="0"/>
                  <a:t> a </a:t>
                </a:r>
                <a:r>
                  <a:rPr lang="de-DE" dirty="0" err="1"/>
                  <a:t>junction</a:t>
                </a:r>
                <a:r>
                  <a:rPr lang="de-DE" dirty="0"/>
                  <a:t> (</a:t>
                </a:r>
                <a:r>
                  <a:rPr lang="de-DE" dirty="0" err="1"/>
                  <a:t>node</a:t>
                </a:r>
                <a:r>
                  <a:rPr lang="de-DE" dirty="0"/>
                  <a:t>) </a:t>
                </a:r>
                <a:r>
                  <a:rPr lang="de-DE" dirty="0" err="1"/>
                  <a:t>equals</a:t>
                </a:r>
                <a:r>
                  <a:rPr lang="de-DE" dirty="0"/>
                  <a:t> </a:t>
                </a:r>
                <a:r>
                  <a:rPr lang="de-DE" dirty="0" err="1"/>
                  <a:t>sum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all </a:t>
                </a:r>
                <a:r>
                  <a:rPr lang="de-DE" dirty="0" err="1"/>
                  <a:t>currents</a:t>
                </a:r>
                <a:r>
                  <a:rPr lang="de-DE" dirty="0"/>
                  <a:t> </a:t>
                </a:r>
                <a:r>
                  <a:rPr lang="de-DE" dirty="0" err="1"/>
                  <a:t>leaving</a:t>
                </a:r>
                <a:r>
                  <a:rPr lang="de-DE" dirty="0"/>
                  <a:t> </a:t>
                </a:r>
                <a:r>
                  <a:rPr lang="de-DE" dirty="0" err="1"/>
                  <a:t>that</a:t>
                </a:r>
                <a:r>
                  <a:rPr lang="de-DE" dirty="0"/>
                  <a:t> </a:t>
                </a:r>
                <a:r>
                  <a:rPr lang="de-DE" dirty="0" err="1"/>
                  <a:t>junction</a:t>
                </a:r>
                <a:r>
                  <a:rPr lang="de-DE" dirty="0"/>
                  <a:t> (</a:t>
                </a:r>
                <a:r>
                  <a:rPr lang="de-DE" dirty="0" err="1"/>
                  <a:t>conservation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charge</a:t>
                </a:r>
                <a:r>
                  <a:rPr lang="de-DE" dirty="0"/>
                  <a:t>)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nary>
                        <m:naryPr>
                          <m:chr m:val="∑"/>
                          <m:limLoc m:val="undOvr"/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de-DE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146CD885-272B-E2E7-DA1D-5107CAF2ED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821" t="-2326" b="-1598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0F181A0-9A1C-22EC-DFBF-DCCB5135A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EAA6B-85FB-CD46-8BDC-C1BC3364C8C0}" type="slidenum">
              <a:rPr lang="de-DE" smtClean="0"/>
              <a:t>10</a:t>
            </a:fld>
            <a:endParaRPr lang="de-DE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64B5AD93-B8BE-EE84-E78F-68D7EE5DA6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6817" y="3103181"/>
            <a:ext cx="3113783" cy="25929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3CDA6B18-DA66-F780-B3E6-FA094A163153}"/>
                  </a:ext>
                </a:extLst>
              </p:cNvPr>
              <p:cNvSpPr txBox="1"/>
              <p:nvPr/>
            </p:nvSpPr>
            <p:spPr>
              <a:xfrm>
                <a:off x="5620360" y="5945737"/>
                <a:ext cx="286669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de-DE" sz="2400" dirty="0"/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3CDA6B18-DA66-F780-B3E6-FA094A1631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0360" y="5945737"/>
                <a:ext cx="2866696" cy="461665"/>
              </a:xfrm>
              <a:prstGeom prst="rect">
                <a:avLst/>
              </a:prstGeom>
              <a:blipFill>
                <a:blip r:embed="rId4"/>
                <a:stretch>
                  <a:fillRect l="-44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94782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8902DB-D2FE-B34C-E3ED-3BB281CA3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Kirchhoff‘s</a:t>
            </a:r>
            <a:r>
              <a:rPr lang="de-DE" dirty="0"/>
              <a:t> </a:t>
            </a:r>
            <a:r>
              <a:rPr lang="de-DE" dirty="0" err="1"/>
              <a:t>Voltage</a:t>
            </a:r>
            <a:r>
              <a:rPr lang="de-DE" dirty="0"/>
              <a:t> Law (KVL)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7846EA6-82DA-FA9C-A994-133FD1D29F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dirty="0"/>
                  <a:t>sum </a:t>
                </a:r>
                <a:r>
                  <a:rPr lang="de-DE" dirty="0" err="1"/>
                  <a:t>of</a:t>
                </a:r>
                <a:r>
                  <a:rPr lang="de-DE" dirty="0"/>
                  <a:t> all </a:t>
                </a:r>
                <a:r>
                  <a:rPr lang="de-DE" dirty="0" err="1"/>
                  <a:t>voltage</a:t>
                </a:r>
                <a:r>
                  <a:rPr lang="de-DE" dirty="0"/>
                  <a:t> </a:t>
                </a:r>
                <a:r>
                  <a:rPr lang="de-DE" dirty="0" err="1"/>
                  <a:t>drops</a:t>
                </a:r>
                <a:r>
                  <a:rPr lang="de-DE" dirty="0"/>
                  <a:t> </a:t>
                </a:r>
                <a:r>
                  <a:rPr lang="de-DE" dirty="0" err="1"/>
                  <a:t>around</a:t>
                </a:r>
                <a:r>
                  <a:rPr lang="de-DE" dirty="0"/>
                  <a:t> </a:t>
                </a:r>
                <a:r>
                  <a:rPr lang="de-DE" dirty="0" err="1"/>
                  <a:t>any</a:t>
                </a:r>
                <a:r>
                  <a:rPr lang="de-DE" dirty="0"/>
                  <a:t> </a:t>
                </a:r>
                <a:r>
                  <a:rPr lang="de-DE" dirty="0" err="1"/>
                  <a:t>closed</a:t>
                </a:r>
                <a:r>
                  <a:rPr lang="de-DE" dirty="0"/>
                  <a:t> loop </a:t>
                </a:r>
                <a:r>
                  <a:rPr lang="de-DE" dirty="0" err="1"/>
                  <a:t>equals</a:t>
                </a:r>
                <a:r>
                  <a:rPr lang="de-DE" dirty="0"/>
                  <a:t>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zero</a:t>
                </a:r>
                <a:r>
                  <a:rPr lang="de-DE" dirty="0"/>
                  <a:t> (</a:t>
                </a:r>
                <a:r>
                  <a:rPr lang="de-DE" dirty="0" err="1"/>
                  <a:t>conservation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energy</a:t>
                </a:r>
                <a:r>
                  <a:rPr lang="de-DE" dirty="0"/>
                  <a:t>)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nary>
                        <m:naryPr>
                          <m:chr m:val="∑"/>
                          <m:limLoc m:val="undOvr"/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/>
                            </m:rPr>
                            <a:rPr lang="de-DE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nary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7846EA6-82DA-FA9C-A994-133FD1D29F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821" t="-2326" b="-1598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473E86A-F08F-FD7C-3010-B08CED938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EAA6B-85FB-CD46-8BDC-C1BC3364C8C0}" type="slidenum">
              <a:rPr lang="de-DE" smtClean="0"/>
              <a:t>11</a:t>
            </a:fld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6BB373C6-CA32-9230-13B9-FD9C7976F0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97063" y="2798543"/>
            <a:ext cx="3704897" cy="32417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E8411D00-3DB6-C795-7105-590765FE3B15}"/>
                  </a:ext>
                </a:extLst>
              </p:cNvPr>
              <p:cNvSpPr txBox="1"/>
              <p:nvPr/>
            </p:nvSpPr>
            <p:spPr>
              <a:xfrm>
                <a:off x="6014002" y="6014448"/>
                <a:ext cx="247101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DE" sz="2400" dirty="0"/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E8411D00-3DB6-C795-7105-590765FE3B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4002" y="6014448"/>
                <a:ext cx="2471017" cy="461665"/>
              </a:xfrm>
              <a:prstGeom prst="rect">
                <a:avLst/>
              </a:prstGeom>
              <a:blipFill>
                <a:blip r:embed="rId5"/>
                <a:stretch>
                  <a:fillRect l="-51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3512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" name="Inhaltsplatzhalter 15">
                <a:extLst>
                  <a:ext uri="{FF2B5EF4-FFF2-40B4-BE49-F238E27FC236}">
                    <a16:creationId xmlns:a16="http://schemas.microsoft.com/office/drawing/2014/main" id="{884E57DA-E68A-772E-09C4-CFC671744C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6"/>
                <a:ext cx="8001000" cy="1800443"/>
              </a:xfrm>
            </p:spPr>
            <p:txBody>
              <a:bodyPr>
                <a:noAutofit/>
              </a:bodyPr>
              <a:lstStyle/>
              <a:p>
                <a:r>
                  <a:rPr lang="de-DE" sz="2600" dirty="0"/>
                  <a:t>sum </a:t>
                </a:r>
                <a:r>
                  <a:rPr lang="de-DE" sz="2600" dirty="0" err="1"/>
                  <a:t>of</a:t>
                </a:r>
                <a:r>
                  <a:rPr lang="de-DE" sz="2600" dirty="0"/>
                  <a:t> potential </a:t>
                </a:r>
                <a:r>
                  <a:rPr lang="de-DE" sz="2600" dirty="0" err="1"/>
                  <a:t>drops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around</a:t>
                </a:r>
                <a:r>
                  <a:rPr lang="de-DE" sz="2600" dirty="0"/>
                  <a:t> a </a:t>
                </a:r>
                <a:r>
                  <a:rPr lang="de-DE" sz="2600" dirty="0" err="1"/>
                  <a:t>closed</a:t>
                </a:r>
                <a:r>
                  <a:rPr lang="de-DE" sz="2600" dirty="0"/>
                  <a:t> loop </a:t>
                </a:r>
                <a:r>
                  <a:rPr lang="de-DE" sz="2600" dirty="0" err="1"/>
                  <a:t>equals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supply</a:t>
                </a:r>
                <a:r>
                  <a:rPr lang="de-DE" sz="2600" dirty="0"/>
                  <a:t> </a:t>
                </a:r>
                <a:r>
                  <a:rPr lang="de-DE" sz="2600" dirty="0" err="1"/>
                  <a:t>voltage</a:t>
                </a:r>
                <a:r>
                  <a:rPr lang="de-DE" sz="2600" dirty="0"/>
                  <a:t> (KVL)</a:t>
                </a:r>
              </a:p>
              <a:p>
                <a:r>
                  <a:rPr lang="de-DE" sz="2600" dirty="0"/>
                  <a:t>same </a:t>
                </a:r>
                <a:r>
                  <a:rPr lang="de-DE" sz="2600" dirty="0" err="1"/>
                  <a:t>current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through</a:t>
                </a:r>
                <a:r>
                  <a:rPr lang="de-DE" sz="2600" dirty="0"/>
                  <a:t> all </a:t>
                </a:r>
                <a:r>
                  <a:rPr lang="de-DE" sz="2600" dirty="0" err="1"/>
                  <a:t>components</a:t>
                </a:r>
                <a:r>
                  <a:rPr lang="de-DE" sz="2600" dirty="0"/>
                  <a:t> (</a:t>
                </a:r>
                <a:r>
                  <a:rPr lang="de-DE" sz="2600" dirty="0" err="1"/>
                  <a:t>only</a:t>
                </a:r>
                <a:r>
                  <a:rPr lang="de-DE" sz="2600" dirty="0"/>
                  <a:t> </a:t>
                </a:r>
                <a:r>
                  <a:rPr lang="de-DE" sz="2600" dirty="0" err="1"/>
                  <a:t>one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path</a:t>
                </a:r>
                <a:r>
                  <a:rPr lang="de-DE" sz="2600" dirty="0"/>
                  <a:t>)</a:t>
                </a:r>
              </a:p>
              <a:p>
                <a:pPr marL="0" indent="0">
                  <a:buNone/>
                </a:pPr>
                <a:r>
                  <a:rPr lang="de-DE" sz="2600" dirty="0">
                    <a:sym typeface="Wingdings" pitchFamily="2" charset="2"/>
                  </a:rPr>
                  <a:t>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de-DE" sz="2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de-DE" sz="2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de-DE" sz="2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𝐼𝑅</m:t>
                        </m:r>
                      </m:e>
                      <m:sub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sz="26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𝐼𝑅</m:t>
                        </m:r>
                      </m:e>
                      <m:sub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𝐼𝑅</m:t>
                        </m:r>
                      </m:e>
                      <m:sub>
                        <m:r>
                          <a:rPr lang="de-DE" sz="2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𝐼𝑅</m:t>
                    </m:r>
                  </m:oMath>
                </a14:m>
                <a:endParaRPr lang="de-DE" sz="2600" dirty="0"/>
              </a:p>
            </p:txBody>
          </p:sp>
        </mc:Choice>
        <mc:Fallback xmlns="">
          <p:sp>
            <p:nvSpPr>
              <p:cNvPr id="16" name="Inhaltsplatzhalter 15">
                <a:extLst>
                  <a:ext uri="{FF2B5EF4-FFF2-40B4-BE49-F238E27FC236}">
                    <a16:creationId xmlns:a16="http://schemas.microsoft.com/office/drawing/2014/main" id="{884E57DA-E68A-772E-09C4-CFC671744C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6"/>
                <a:ext cx="8001000" cy="1800443"/>
              </a:xfrm>
              <a:blipFill>
                <a:blip r:embed="rId2"/>
                <a:stretch>
                  <a:fillRect l="-1429" t="-4895" r="-794" b="-629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el 1">
            <a:extLst>
              <a:ext uri="{FF2B5EF4-FFF2-40B4-BE49-F238E27FC236}">
                <a16:creationId xmlns:a16="http://schemas.microsoft.com/office/drawing/2014/main" id="{6DBBA2F9-9B35-3FA0-08DF-3D1D4DAF4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Series Circuit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3F09D3B-E133-818F-939B-453AAAF65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EAA6B-85FB-CD46-8BDC-C1BC3364C8C0}" type="slidenum">
              <a:rPr lang="de-DE" smtClean="0"/>
              <a:t>12</a:t>
            </a:fld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43F15B7E-3744-E4E4-0CB6-7C96A062F8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37077" y="1937412"/>
            <a:ext cx="2416723" cy="1576869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48DFF4C1-981A-3FDD-A41C-2C9A6B9850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50777" y="3973543"/>
            <a:ext cx="4228400" cy="11439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CCAB22D2-0D97-06D5-DC7E-8A6CC725D299}"/>
                  </a:ext>
                </a:extLst>
              </p:cNvPr>
              <p:cNvSpPr txBox="1"/>
              <p:nvPr/>
            </p:nvSpPr>
            <p:spPr>
              <a:xfrm>
                <a:off x="6193877" y="3786693"/>
                <a:ext cx="2743200" cy="1268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e-DE" sz="28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de-DE" sz="28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de-DE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sz="28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de-DE" sz="28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de-DE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8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de-DE" sz="28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de-DE" sz="2800" dirty="0"/>
              </a:p>
            </p:txBody>
          </p:sp>
        </mc:Choice>
        <mc:Fallback xmlns="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CCAB22D2-0D97-06D5-DC7E-8A6CC725D2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3877" y="3786693"/>
                <a:ext cx="2743200" cy="1268552"/>
              </a:xfrm>
              <a:prstGeom prst="rect">
                <a:avLst/>
              </a:prstGeom>
              <a:blipFill>
                <a:blip r:embed="rId7"/>
                <a:stretch>
                  <a:fillRect l="-3226" t="-108000" b="-16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A106B15D-3430-BC8E-296C-F2FE125B0119}"/>
                  </a:ext>
                </a:extLst>
              </p:cNvPr>
              <p:cNvSpPr txBox="1"/>
              <p:nvPr/>
            </p:nvSpPr>
            <p:spPr>
              <a:xfrm>
                <a:off x="838201" y="5465002"/>
                <a:ext cx="10515599" cy="131035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de-DE" sz="2800" dirty="0"/>
                  <a:t>voltage </a:t>
                </a:r>
                <a:r>
                  <a:rPr lang="de-DE" sz="2800" dirty="0" err="1"/>
                  <a:t>divider</a:t>
                </a:r>
                <a:r>
                  <a:rPr lang="de-DE" sz="2800" dirty="0"/>
                  <a:t> </a:t>
                </a:r>
                <a:r>
                  <a:rPr lang="de-DE" sz="2800" dirty="0" err="1"/>
                  <a:t>rule</a:t>
                </a:r>
                <a:r>
                  <a:rPr lang="de-DE" sz="2800" dirty="0"/>
                  <a:t>: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de-DE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de-DE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800" b="0" i="1" smtClean="0">
                        <a:latin typeface="Cambria Math" panose="02040503050406030204" pitchFamily="18" charset="0"/>
                      </a:rPr>
                      <m:t>𝑉</m:t>
                    </m:r>
                    <m:f>
                      <m:fPr>
                        <m:ctrlPr>
                          <a:rPr lang="de-DE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r>
                          <a:rPr lang="de-DE" sz="2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endParaRPr lang="de-DE" sz="2800" dirty="0"/>
              </a:p>
              <a:p>
                <a:r>
                  <a:rPr lang="de-DE" sz="2800" dirty="0"/>
                  <a:t>for </a:t>
                </a:r>
                <a:r>
                  <a:rPr lang="de-DE" sz="2800" dirty="0" err="1"/>
                  <a:t>two</a:t>
                </a:r>
                <a:r>
                  <a:rPr lang="de-DE" sz="2800" dirty="0"/>
                  <a:t> </a:t>
                </a:r>
                <a:r>
                  <a:rPr lang="de-DE" sz="2800" dirty="0" err="1"/>
                  <a:t>resistors</a:t>
                </a:r>
                <a:r>
                  <a:rPr lang="de-DE" sz="2800" dirty="0"/>
                  <a:t>: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DE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de-DE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de-DE" sz="2800" dirty="0"/>
              </a:p>
            </p:txBody>
          </p:sp>
        </mc:Choice>
        <mc:Fallback xmlns="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A106B15D-3430-BC8E-296C-F2FE125B01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1" y="5465002"/>
                <a:ext cx="10515599" cy="1310359"/>
              </a:xfrm>
              <a:prstGeom prst="rect">
                <a:avLst/>
              </a:prstGeom>
              <a:blipFill>
                <a:blip r:embed="rId8"/>
                <a:stretch>
                  <a:fillRect l="-2171" t="-1923" b="-288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FD93DC4D-B5BA-1327-C617-95E8FE736568}"/>
                  </a:ext>
                </a:extLst>
              </p:cNvPr>
              <p:cNvSpPr txBox="1"/>
              <p:nvPr/>
            </p:nvSpPr>
            <p:spPr>
              <a:xfrm>
                <a:off x="6640421" y="5301088"/>
                <a:ext cx="5023495" cy="110799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de-DE" sz="2200" dirty="0"/>
                  <a:t>e</a:t>
                </a:r>
                <a:r>
                  <a:rPr lang="de-DE" sz="2200" dirty="0" err="1"/>
                  <a:t>quivalent</a:t>
                </a:r>
                <a:r>
                  <a:rPr lang="de-DE" sz="2200" dirty="0"/>
                  <a:t> </a:t>
                </a:r>
                <a:r>
                  <a:rPr lang="de-DE" sz="2200" dirty="0" err="1"/>
                  <a:t>resistance</a:t>
                </a:r>
                <a:r>
                  <a:rPr lang="de-DE" sz="2200" dirty="0"/>
                  <a:t>:</a:t>
                </a:r>
              </a:p>
              <a:p>
                <a:r>
                  <a:rPr lang="de-DE" sz="2200" dirty="0" err="1"/>
                  <a:t>exhibits</a:t>
                </a:r>
                <a:r>
                  <a:rPr lang="de-DE" sz="2200" dirty="0"/>
                  <a:t> same </a:t>
                </a:r>
                <a14:m>
                  <m:oMath xmlns:m="http://schemas.openxmlformats.org/officeDocument/2006/math">
                    <m:r>
                      <a:rPr lang="de-DE" sz="22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de-DE" sz="22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de-DE" sz="22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de-DE" sz="2200" dirty="0"/>
                  <a:t> </a:t>
                </a:r>
                <a:r>
                  <a:rPr lang="de-DE" sz="2200" dirty="0" err="1"/>
                  <a:t>characteristics</a:t>
                </a:r>
                <a:r>
                  <a:rPr lang="de-DE" sz="2200" dirty="0"/>
                  <a:t> </a:t>
                </a:r>
                <a:r>
                  <a:rPr lang="de-DE" sz="2200" dirty="0" err="1"/>
                  <a:t>as</a:t>
                </a:r>
                <a:r>
                  <a:rPr lang="de-DE" sz="2200" dirty="0"/>
                  <a:t> original network at </a:t>
                </a:r>
                <a:r>
                  <a:rPr lang="de-DE" sz="2200" dirty="0" err="1"/>
                  <a:t>considered</a:t>
                </a:r>
                <a:r>
                  <a:rPr lang="de-DE" sz="2200" dirty="0"/>
                  <a:t>­ </a:t>
                </a:r>
                <a:r>
                  <a:rPr lang="de-DE" sz="2200" dirty="0" err="1"/>
                  <a:t>terminals</a:t>
                </a:r>
                <a:endParaRPr lang="de-DE" sz="2200" dirty="0"/>
              </a:p>
            </p:txBody>
          </p:sp>
        </mc:Choice>
        <mc:Fallback xmlns="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FD93DC4D-B5BA-1327-C617-95E8FE7365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0421" y="5301088"/>
                <a:ext cx="5023495" cy="1107996"/>
              </a:xfrm>
              <a:prstGeom prst="rect">
                <a:avLst/>
              </a:prstGeom>
              <a:blipFill>
                <a:blip r:embed="rId9"/>
                <a:stretch>
                  <a:fillRect l="-1511" t="-3409" r="-1511" b="-1022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E4474B0D-199F-EAD4-FED3-CDA754BC792E}"/>
              </a:ext>
            </a:extLst>
          </p:cNvPr>
          <p:cNvCxnSpPr>
            <a:cxnSpLocks/>
          </p:cNvCxnSpPr>
          <p:nvPr/>
        </p:nvCxnSpPr>
        <p:spPr>
          <a:xfrm flipH="1" flipV="1">
            <a:off x="6863637" y="4620033"/>
            <a:ext cx="207014" cy="6810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31360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4404D-E28A-7159-DCAD-2286A91E0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29F54B-7B69-A9FB-C9E6-CE651AFB4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Parallel Circuit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Inhaltsplatzhalter 15">
                <a:extLst>
                  <a:ext uri="{FF2B5EF4-FFF2-40B4-BE49-F238E27FC236}">
                    <a16:creationId xmlns:a16="http://schemas.microsoft.com/office/drawing/2014/main" id="{708093F6-63D3-3FF5-42EA-E9EA4A649A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921719" cy="4351338"/>
              </a:xfrm>
            </p:spPr>
            <p:txBody>
              <a:bodyPr>
                <a:noAutofit/>
              </a:bodyPr>
              <a:lstStyle/>
              <a:p>
                <a:r>
                  <a:rPr lang="de-DE" sz="2600" dirty="0"/>
                  <a:t>sum </a:t>
                </a:r>
                <a:r>
                  <a:rPr lang="de-DE" sz="2600" dirty="0" err="1"/>
                  <a:t>of</a:t>
                </a:r>
                <a:r>
                  <a:rPr lang="de-DE" sz="2600" dirty="0"/>
                  <a:t> </a:t>
                </a:r>
                <a:r>
                  <a:rPr lang="de-DE" sz="2600" dirty="0" err="1"/>
                  <a:t>branch</a:t>
                </a:r>
                <a:r>
                  <a:rPr lang="de-DE" sz="2600" dirty="0"/>
                  <a:t> </a:t>
                </a:r>
                <a:r>
                  <a:rPr lang="de-DE" sz="2600" dirty="0" err="1"/>
                  <a:t>currents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equals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current</a:t>
                </a:r>
                <a:r>
                  <a:rPr lang="de-DE" sz="2600" dirty="0"/>
                  <a:t> </a:t>
                </a:r>
                <a:r>
                  <a:rPr lang="de-DE" sz="2600" dirty="0" err="1"/>
                  <a:t>from</a:t>
                </a:r>
                <a:r>
                  <a:rPr lang="de-DE" sz="2600" dirty="0"/>
                  <a:t> source (KCL)</a:t>
                </a:r>
              </a:p>
              <a:p>
                <a:r>
                  <a:rPr lang="de-DE" sz="2600" dirty="0"/>
                  <a:t>same </a:t>
                </a:r>
                <a:r>
                  <a:rPr lang="de-DE" sz="2600" dirty="0" err="1"/>
                  <a:t>voltage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across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each</a:t>
                </a:r>
                <a:r>
                  <a:rPr lang="de-DE" sz="2600" dirty="0"/>
                  <a:t> </a:t>
                </a:r>
                <a:r>
                  <a:rPr lang="de-DE" sz="2600" dirty="0" err="1"/>
                  <a:t>branch</a:t>
                </a:r>
                <a:r>
                  <a:rPr lang="de-DE" sz="2600" dirty="0"/>
                  <a:t> (KVL)</a:t>
                </a:r>
              </a:p>
              <a:p>
                <a:pPr marL="0" indent="0">
                  <a:buNone/>
                </a:pPr>
                <a:r>
                  <a:rPr lang="de-DE" sz="2600" dirty="0">
                    <a:sym typeface="Wingdings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de-DE" sz="2600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de-DE" sz="2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sz="26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de-DE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de-DE" sz="2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2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6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sSub>
                          <m:sSubPr>
                            <m:ctrlP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sSub>
                          <m:sSubPr>
                            <m:ctrlPr>
                              <a:rPr lang="de-DE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de-DE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sSub>
                          <m:sSubPr>
                            <m:ctrlPr>
                              <a:rPr lang="de-DE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2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6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de-DE" sz="2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endParaRPr lang="de-DE" sz="2600" dirty="0"/>
              </a:p>
            </p:txBody>
          </p:sp>
        </mc:Choice>
        <mc:Fallback xmlns="">
          <p:sp>
            <p:nvSpPr>
              <p:cNvPr id="16" name="Inhaltsplatzhalter 15">
                <a:extLst>
                  <a:ext uri="{FF2B5EF4-FFF2-40B4-BE49-F238E27FC236}">
                    <a16:creationId xmlns:a16="http://schemas.microsoft.com/office/drawing/2014/main" id="{708093F6-63D3-3FF5-42EA-E9EA4A649A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921719" cy="4351338"/>
              </a:xfrm>
              <a:blipFill>
                <a:blip r:embed="rId2"/>
                <a:stretch>
                  <a:fillRect l="-1648" t="-203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0C4AC04-9DAA-BE50-FFE7-375C70BDC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EAA6B-85FB-CD46-8BDC-C1BC3364C8C0}" type="slidenum">
              <a:rPr lang="de-DE" smtClean="0"/>
              <a:t>13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0055A664-A239-FCEA-2E4A-0DE5AAD654F6}"/>
                  </a:ext>
                </a:extLst>
              </p:cNvPr>
              <p:cNvSpPr txBox="1"/>
              <p:nvPr/>
            </p:nvSpPr>
            <p:spPr>
              <a:xfrm>
                <a:off x="2463690" y="4001294"/>
                <a:ext cx="2743200" cy="13527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e-DE" sz="28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de-DE" sz="28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de-DE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DE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de-DE" sz="28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de-DE" sz="28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de-DE" sz="2800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de-DE" sz="2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f>
                                    <m:fPr>
                                      <m:ctrlPr>
                                        <a:rPr lang="de-DE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de-DE" sz="28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de-DE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de-DE" sz="2800" i="1"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  <m:sub>
                                          <m:r>
                                            <a:rPr lang="de-DE" sz="2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de-DE" sz="2800" dirty="0"/>
              </a:p>
            </p:txBody>
          </p:sp>
        </mc:Choice>
        <mc:Fallback xmlns="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0055A664-A239-FCEA-2E4A-0DE5AAD654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3690" y="4001294"/>
                <a:ext cx="2743200" cy="1352743"/>
              </a:xfrm>
              <a:prstGeom prst="rect">
                <a:avLst/>
              </a:prstGeom>
              <a:blipFill>
                <a:blip r:embed="rId3"/>
                <a:stretch>
                  <a:fillRect l="-9677" t="-93519" b="-15185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Grafik 2">
            <a:extLst>
              <a:ext uri="{FF2B5EF4-FFF2-40B4-BE49-F238E27FC236}">
                <a16:creationId xmlns:a16="http://schemas.microsoft.com/office/drawing/2014/main" id="{3B967368-3D08-EC8D-A176-C024A2132F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64719" y="1812833"/>
            <a:ext cx="3593881" cy="210841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4ADA290D-04AA-0EFF-7F92-50358EA110B9}"/>
                  </a:ext>
                </a:extLst>
              </p:cNvPr>
              <p:cNvSpPr txBox="1"/>
              <p:nvPr/>
            </p:nvSpPr>
            <p:spPr>
              <a:xfrm>
                <a:off x="6096000" y="4043389"/>
                <a:ext cx="2743200" cy="1268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e-DE" sz="2800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de-DE" sz="28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de-DE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e-DE" sz="28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de-DE" sz="28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e-DE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de-DE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800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de-DE" sz="28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de-DE" sz="2800" dirty="0"/>
              </a:p>
            </p:txBody>
          </p:sp>
        </mc:Choice>
        <mc:Fallback xmlns="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4ADA290D-04AA-0EFF-7F92-50358EA110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043389"/>
                <a:ext cx="2743200" cy="1268552"/>
              </a:xfrm>
              <a:prstGeom prst="rect">
                <a:avLst/>
              </a:prstGeom>
              <a:blipFill>
                <a:blip r:embed="rId6"/>
                <a:stretch>
                  <a:fillRect l="-3704" t="-106931" b="-16237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2D1F493D-CD9A-9EB0-206A-A9730BB3F719}"/>
                  </a:ext>
                </a:extLst>
              </p:cNvPr>
              <p:cNvSpPr txBox="1"/>
              <p:nvPr/>
            </p:nvSpPr>
            <p:spPr>
              <a:xfrm>
                <a:off x="838201" y="5465002"/>
                <a:ext cx="10515599" cy="13429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de-DE" sz="2800" dirty="0"/>
                  <a:t>current </a:t>
                </a:r>
                <a:r>
                  <a:rPr lang="de-DE" sz="2800" dirty="0" err="1"/>
                  <a:t>divider</a:t>
                </a:r>
                <a:r>
                  <a:rPr lang="de-DE" sz="2800" dirty="0"/>
                  <a:t> </a:t>
                </a:r>
                <a:r>
                  <a:rPr lang="de-DE" sz="2800" dirty="0" err="1"/>
                  <a:t>rule</a:t>
                </a:r>
                <a:r>
                  <a:rPr lang="de-DE" sz="2800" dirty="0"/>
                  <a:t>: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8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de-DE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de-DE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800" b="0" i="1" smtClean="0">
                        <a:latin typeface="Cambria Math" panose="02040503050406030204" pitchFamily="18" charset="0"/>
                      </a:rPr>
                      <m:t>𝐼</m:t>
                    </m:r>
                    <m:f>
                      <m:fPr>
                        <m:ctrlPr>
                          <a:rPr lang="de-DE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sSub>
                          <m:sSubPr>
                            <m:ctrlP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</m:oMath>
                </a14:m>
                <a:endParaRPr lang="de-DE" sz="2800" dirty="0"/>
              </a:p>
              <a:p>
                <a:r>
                  <a:rPr lang="de-DE" sz="2800" dirty="0"/>
                  <a:t>for </a:t>
                </a:r>
                <a:r>
                  <a:rPr lang="de-DE" sz="2800" dirty="0" err="1"/>
                  <a:t>two</a:t>
                </a:r>
                <a:r>
                  <a:rPr lang="de-DE" sz="2800" dirty="0"/>
                  <a:t> </a:t>
                </a:r>
                <a:r>
                  <a:rPr lang="de-DE" sz="2800" dirty="0" err="1"/>
                  <a:t>resistors</a:t>
                </a:r>
                <a:r>
                  <a:rPr lang="de-DE" sz="2800" dirty="0"/>
                  <a:t>: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DE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de-DE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de-DE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de-DE" sz="2800" i="1">
                        <a:latin typeface="Cambria Math" panose="02040503050406030204" pitchFamily="18" charset="0"/>
                      </a:rPr>
                      <m:t>;</m:t>
                    </m:r>
                    <m:r>
                      <a:rPr lang="de-DE" sz="2800" b="0" i="1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de-DE" sz="28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de-DE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de-DE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de-DE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de-DE" sz="2800" i="1">
                        <a:latin typeface="Cambria Math" panose="02040503050406030204" pitchFamily="18" charset="0"/>
                      </a:rPr>
                      <m:t>;    </m:t>
                    </m:r>
                    <m:sSub>
                      <m:sSubPr>
                        <m:ctrlPr>
                          <a:rPr lang="de-DE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800" i="1">
                        <a:latin typeface="Cambria Math" panose="02040503050406030204" pitchFamily="18" charset="0"/>
                      </a:rPr>
                      <m:t>𝐼</m:t>
                    </m:r>
                    <m:f>
                      <m:fPr>
                        <m:ctrlPr>
                          <a:rPr lang="de-DE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de-DE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de-DE" sz="2800" dirty="0"/>
              </a:p>
            </p:txBody>
          </p:sp>
        </mc:Choice>
        <mc:Fallback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2D1F493D-CD9A-9EB0-206A-A9730BB3F7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1" y="5465002"/>
                <a:ext cx="10515599" cy="1342996"/>
              </a:xfrm>
              <a:prstGeom prst="rect">
                <a:avLst/>
              </a:prstGeom>
              <a:blipFill>
                <a:blip r:embed="rId7"/>
                <a:stretch>
                  <a:fillRect l="-2171" t="-1869" b="-373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Abgerundetes Rechteck 8">
            <a:extLst>
              <a:ext uri="{FF2B5EF4-FFF2-40B4-BE49-F238E27FC236}">
                <a16:creationId xmlns:a16="http://schemas.microsoft.com/office/drawing/2014/main" id="{58C5F350-A4EB-9DD2-E4BD-343D0AF9141B}"/>
              </a:ext>
            </a:extLst>
          </p:cNvPr>
          <p:cNvSpPr/>
          <p:nvPr/>
        </p:nvSpPr>
        <p:spPr>
          <a:xfrm>
            <a:off x="8952614" y="3384786"/>
            <a:ext cx="946298" cy="256990"/>
          </a:xfrm>
          <a:prstGeom prst="round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Abgerundetes Rechteck 9">
            <a:extLst>
              <a:ext uri="{FF2B5EF4-FFF2-40B4-BE49-F238E27FC236}">
                <a16:creationId xmlns:a16="http://schemas.microsoft.com/office/drawing/2014/main" id="{F32C00B5-E1BD-38BB-9C5B-C51935CB5D96}"/>
              </a:ext>
            </a:extLst>
          </p:cNvPr>
          <p:cNvSpPr/>
          <p:nvPr/>
        </p:nvSpPr>
        <p:spPr>
          <a:xfrm>
            <a:off x="8952614" y="2077082"/>
            <a:ext cx="946298" cy="256990"/>
          </a:xfrm>
          <a:prstGeom prst="round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8AAEE755-9CFF-520F-A927-75022A4C2555}"/>
              </a:ext>
            </a:extLst>
          </p:cNvPr>
          <p:cNvSpPr txBox="1"/>
          <p:nvPr/>
        </p:nvSpPr>
        <p:spPr>
          <a:xfrm>
            <a:off x="8123297" y="935871"/>
            <a:ext cx="3551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connected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same 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nodes</a:t>
            </a:r>
            <a:endParaRPr lang="de-DE" dirty="0"/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9324C331-6425-6E47-AA98-F4A365590854}"/>
              </a:ext>
            </a:extLst>
          </p:cNvPr>
          <p:cNvCxnSpPr>
            <a:cxnSpLocks/>
            <a:stCxn id="11" idx="2"/>
            <a:endCxn id="10" idx="0"/>
          </p:cNvCxnSpPr>
          <p:nvPr/>
        </p:nvCxnSpPr>
        <p:spPr>
          <a:xfrm flipH="1">
            <a:off x="9425763" y="1305203"/>
            <a:ext cx="473149" cy="7718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D9C3D1C6-E961-BC2C-29F5-AF2EF51C1084}"/>
              </a:ext>
            </a:extLst>
          </p:cNvPr>
          <p:cNvCxnSpPr>
            <a:stCxn id="11" idx="2"/>
            <a:endCxn id="9" idx="0"/>
          </p:cNvCxnSpPr>
          <p:nvPr/>
        </p:nvCxnSpPr>
        <p:spPr>
          <a:xfrm flipH="1">
            <a:off x="9425763" y="1305203"/>
            <a:ext cx="473149" cy="20795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11041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76998B-0601-0801-14AB-33EEA8E2C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Practical</a:t>
            </a:r>
            <a:r>
              <a:rPr lang="de-DE" dirty="0"/>
              <a:t> </a:t>
            </a:r>
            <a:r>
              <a:rPr lang="de-DE" dirty="0" err="1"/>
              <a:t>Voltage</a:t>
            </a:r>
            <a:r>
              <a:rPr lang="de-DE" dirty="0"/>
              <a:t> Source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04E1CDE-61FE-76B0-1793-E9CA91C8ED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ideal </a:t>
            </a:r>
            <a:r>
              <a:rPr lang="de-DE" dirty="0" err="1"/>
              <a:t>voltage</a:t>
            </a:r>
            <a:r>
              <a:rPr lang="de-DE" dirty="0"/>
              <a:t> source in </a:t>
            </a:r>
            <a:r>
              <a:rPr lang="de-DE" dirty="0" err="1"/>
              <a:t>series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internal </a:t>
            </a:r>
            <a:r>
              <a:rPr lang="de-DE" dirty="0" err="1"/>
              <a:t>resistance</a:t>
            </a:r>
            <a:endParaRPr lang="de-DE" dirty="0"/>
          </a:p>
          <a:p>
            <a:pPr marL="0" indent="0">
              <a:buNone/>
            </a:pPr>
            <a:r>
              <a:rPr lang="de-DE" dirty="0">
                <a:sym typeface="Wingdings" pitchFamily="2" charset="2"/>
              </a:rPr>
              <a:t> </a:t>
            </a:r>
            <a:r>
              <a:rPr lang="de-DE" dirty="0" err="1"/>
              <a:t>voltage</a:t>
            </a:r>
            <a:r>
              <a:rPr lang="de-DE" dirty="0"/>
              <a:t> </a:t>
            </a:r>
            <a:r>
              <a:rPr lang="de-DE" dirty="0" err="1"/>
              <a:t>dependent</a:t>
            </a:r>
            <a:r>
              <a:rPr lang="de-DE" dirty="0"/>
              <a:t> on </a:t>
            </a:r>
            <a:r>
              <a:rPr lang="de-DE" dirty="0" err="1"/>
              <a:t>load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DB1B087-C72B-3537-037D-D7B7AB090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EAA6B-85FB-CD46-8BDC-C1BC3364C8C0}" type="slidenum">
              <a:rPr lang="de-DE" smtClean="0"/>
              <a:t>14</a:t>
            </a:fld>
            <a:endParaRPr lang="de-DE"/>
          </a:p>
        </p:txBody>
      </p:sp>
      <p:pic>
        <p:nvPicPr>
          <p:cNvPr id="6" name="Grafik 5" descr="Ein Bild, das Text, Diagramm, Reihe, Schrift enthält.&#10;&#10;KI-generierte Inhalte können fehlerhaft sein.">
            <a:extLst>
              <a:ext uri="{FF2B5EF4-FFF2-40B4-BE49-F238E27FC236}">
                <a16:creationId xmlns:a16="http://schemas.microsoft.com/office/drawing/2014/main" id="{76024FCF-43DC-9463-6F38-9CF045857D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1750" y="3679134"/>
            <a:ext cx="4540250" cy="1837124"/>
          </a:xfrm>
          <a:prstGeom prst="rect">
            <a:avLst/>
          </a:prstGeom>
        </p:spPr>
      </p:pic>
      <p:pic>
        <p:nvPicPr>
          <p:cNvPr id="8" name="Grafik 7" descr="Ein Bild, das Text, Diagramm, Reihe, Schrift enthält.&#10;&#10;KI-generierte Inhalte können fehlerhaft sein.">
            <a:extLst>
              <a:ext uri="{FF2B5EF4-FFF2-40B4-BE49-F238E27FC236}">
                <a16:creationId xmlns:a16="http://schemas.microsoft.com/office/drawing/2014/main" id="{2A5B75A2-E2A7-C08A-F546-4305D853BC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027459"/>
            <a:ext cx="6338987" cy="3317667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7D7B25FA-399D-2568-0EBF-635999758391}"/>
              </a:ext>
            </a:extLst>
          </p:cNvPr>
          <p:cNvSpPr txBox="1"/>
          <p:nvPr/>
        </p:nvSpPr>
        <p:spPr>
          <a:xfrm>
            <a:off x="8862310" y="3027459"/>
            <a:ext cx="2239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ideal </a:t>
            </a:r>
            <a:r>
              <a:rPr lang="de-DE" dirty="0" err="1"/>
              <a:t>voltage</a:t>
            </a:r>
            <a:r>
              <a:rPr lang="de-DE" dirty="0"/>
              <a:t> source: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6B3F265-13ED-394F-6ED2-0316FF9369B4}"/>
              </a:ext>
            </a:extLst>
          </p:cNvPr>
          <p:cNvSpPr txBox="1"/>
          <p:nvPr/>
        </p:nvSpPr>
        <p:spPr>
          <a:xfrm>
            <a:off x="9107215" y="805273"/>
            <a:ext cx="19948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equivalent</a:t>
            </a:r>
            <a:r>
              <a:rPr lang="de-DE" dirty="0"/>
              <a:t> </a:t>
            </a:r>
            <a:r>
              <a:rPr lang="de-DE" dirty="0" err="1"/>
              <a:t>circuit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real </a:t>
            </a:r>
            <a:r>
              <a:rPr lang="de-DE" dirty="0" err="1"/>
              <a:t>component</a:t>
            </a:r>
            <a:endParaRPr lang="de-DE" dirty="0"/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6F7122EA-880D-35C8-D2B5-A4CC2C548B59}"/>
              </a:ext>
            </a:extLst>
          </p:cNvPr>
          <p:cNvCxnSpPr>
            <a:stCxn id="10" idx="1"/>
          </p:cNvCxnSpPr>
          <p:nvPr/>
        </p:nvCxnSpPr>
        <p:spPr>
          <a:xfrm flipH="1">
            <a:off x="7462345" y="1128439"/>
            <a:ext cx="1644870" cy="6971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feld 4">
            <a:extLst>
              <a:ext uri="{FF2B5EF4-FFF2-40B4-BE49-F238E27FC236}">
                <a16:creationId xmlns:a16="http://schemas.microsoft.com/office/drawing/2014/main" id="{53BEA085-6D23-1510-FCCB-3D04A767CC70}"/>
              </a:ext>
            </a:extLst>
          </p:cNvPr>
          <p:cNvSpPr txBox="1"/>
          <p:nvPr/>
        </p:nvSpPr>
        <p:spPr>
          <a:xfrm>
            <a:off x="2658141" y="5699051"/>
            <a:ext cx="138222" cy="3231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de-DE" sz="1500" dirty="0"/>
              <a:t>I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BDE818A-F791-96CF-D1CB-8CEBDF4F4DF6}"/>
              </a:ext>
            </a:extLst>
          </p:cNvPr>
          <p:cNvSpPr txBox="1"/>
          <p:nvPr/>
        </p:nvSpPr>
        <p:spPr>
          <a:xfrm>
            <a:off x="919853" y="5688418"/>
            <a:ext cx="425116" cy="3231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de-DE" sz="1500" dirty="0"/>
              <a:t>R</a:t>
            </a:r>
            <a:r>
              <a:rPr lang="de-DE" sz="1500" baseline="-25000" dirty="0"/>
              <a:t>IN</a:t>
            </a:r>
            <a:endParaRPr lang="de-DE" sz="1500" dirty="0"/>
          </a:p>
        </p:txBody>
      </p:sp>
    </p:spTree>
    <p:extLst>
      <p:ext uri="{BB962C8B-B14F-4D97-AF65-F5344CB8AC3E}">
        <p14:creationId xmlns:p14="http://schemas.microsoft.com/office/powerpoint/2010/main" val="33982020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46E54891-78F7-5CDB-2C92-AFA4A4A45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I-V </a:t>
            </a:r>
            <a:r>
              <a:rPr lang="de-DE" dirty="0" err="1"/>
              <a:t>Curves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F6984F8-EF99-62CF-AF6E-9A8B860F0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EAA6B-85FB-CD46-8BDC-C1BC3364C8C0}" type="slidenum">
              <a:rPr lang="de-DE" smtClean="0"/>
              <a:t>15</a:t>
            </a:fld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47377E95-7014-72E5-89D1-B0875F4045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1569" y="2499083"/>
            <a:ext cx="10808862" cy="2204932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AD024F8A-748F-A6CD-F4AA-86E22F555068}"/>
              </a:ext>
            </a:extLst>
          </p:cNvPr>
          <p:cNvSpPr txBox="1"/>
          <p:nvPr/>
        </p:nvSpPr>
        <p:spPr>
          <a:xfrm>
            <a:off x="6096000" y="4704015"/>
            <a:ext cx="274320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nonlinear</a:t>
            </a:r>
            <a:endParaRPr lang="de-DE" sz="2400" dirty="0"/>
          </a:p>
          <a:p>
            <a:r>
              <a:rPr lang="de-DE" dirty="0"/>
              <a:t>(</a:t>
            </a:r>
            <a:r>
              <a:rPr lang="de-DE" dirty="0" err="1"/>
              <a:t>considerations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 </a:t>
            </a:r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apply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linearized</a:t>
            </a:r>
            <a:r>
              <a:rPr lang="de-DE" dirty="0"/>
              <a:t> </a:t>
            </a:r>
            <a:r>
              <a:rPr lang="de-DE" dirty="0" err="1"/>
              <a:t>region</a:t>
            </a:r>
            <a:r>
              <a:rPr lang="de-DE" dirty="0"/>
              <a:t> </a:t>
            </a:r>
            <a:r>
              <a:rPr lang="de-DE" dirty="0" err="1"/>
              <a:t>around</a:t>
            </a:r>
            <a:r>
              <a:rPr lang="de-DE" dirty="0"/>
              <a:t> </a:t>
            </a:r>
            <a:r>
              <a:rPr lang="de-DE" dirty="0" err="1"/>
              <a:t>operating</a:t>
            </a:r>
            <a:r>
              <a:rPr lang="de-DE" dirty="0"/>
              <a:t> </a:t>
            </a:r>
            <a:r>
              <a:rPr lang="de-DE" dirty="0" err="1"/>
              <a:t>point</a:t>
            </a:r>
            <a:r>
              <a:rPr lang="de-DE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731415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9A5F76-B30F-2CA6-F45D-825B1C013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Practical</a:t>
            </a:r>
            <a:r>
              <a:rPr lang="de-DE" dirty="0"/>
              <a:t> </a:t>
            </a:r>
            <a:r>
              <a:rPr lang="de-DE" dirty="0" err="1"/>
              <a:t>Current</a:t>
            </a:r>
            <a:r>
              <a:rPr lang="de-DE" dirty="0"/>
              <a:t> Source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82DC63B-A346-0B38-40B9-7B1050DE78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internal </a:t>
            </a:r>
            <a:r>
              <a:rPr lang="de-DE" dirty="0" err="1"/>
              <a:t>resistance</a:t>
            </a:r>
            <a:r>
              <a:rPr lang="de-DE" dirty="0"/>
              <a:t> in parallel </a:t>
            </a:r>
            <a:r>
              <a:rPr lang="de-DE" dirty="0" err="1"/>
              <a:t>with</a:t>
            </a:r>
            <a:r>
              <a:rPr lang="de-DE" dirty="0"/>
              <a:t> ideal </a:t>
            </a:r>
            <a:r>
              <a:rPr lang="de-DE" dirty="0" err="1"/>
              <a:t>current</a:t>
            </a:r>
            <a:r>
              <a:rPr lang="de-DE" dirty="0"/>
              <a:t> source</a:t>
            </a:r>
          </a:p>
          <a:p>
            <a:pPr marL="0" indent="0">
              <a:buNone/>
            </a:pPr>
            <a:r>
              <a:rPr lang="de-DE" dirty="0">
                <a:sym typeface="Wingdings" pitchFamily="2" charset="2"/>
              </a:rPr>
              <a:t> </a:t>
            </a:r>
            <a:r>
              <a:rPr lang="de-DE" dirty="0" err="1"/>
              <a:t>current</a:t>
            </a:r>
            <a:r>
              <a:rPr lang="de-DE" dirty="0"/>
              <a:t> </a:t>
            </a:r>
            <a:r>
              <a:rPr lang="de-DE" dirty="0" err="1"/>
              <a:t>dependent</a:t>
            </a:r>
            <a:r>
              <a:rPr lang="de-DE" dirty="0"/>
              <a:t> on </a:t>
            </a:r>
            <a:r>
              <a:rPr lang="de-DE" dirty="0" err="1"/>
              <a:t>load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143F23F-16B0-C840-EC4D-5BC4E776C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EAA6B-85FB-CD46-8BDC-C1BC3364C8C0}" type="slidenum">
              <a:rPr lang="de-DE" smtClean="0"/>
              <a:t>16</a:t>
            </a:fld>
            <a:endParaRPr lang="de-DE"/>
          </a:p>
        </p:txBody>
      </p:sp>
      <p:pic>
        <p:nvPicPr>
          <p:cNvPr id="6" name="Grafik 5" descr="Ein Bild, das Diagramm, Reihe, Text, parallel enthält.&#10;&#10;KI-generierte Inhalte können fehlerhaft sein.">
            <a:extLst>
              <a:ext uri="{FF2B5EF4-FFF2-40B4-BE49-F238E27FC236}">
                <a16:creationId xmlns:a16="http://schemas.microsoft.com/office/drawing/2014/main" id="{A28F29F8-23D8-878E-656A-8590908AED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588" y="3325489"/>
            <a:ext cx="4916652" cy="2177570"/>
          </a:xfrm>
          <a:prstGeom prst="rect">
            <a:avLst/>
          </a:prstGeom>
        </p:spPr>
      </p:pic>
      <p:pic>
        <p:nvPicPr>
          <p:cNvPr id="8" name="Grafik 7" descr="Ein Bild, das Reihe, Text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C098945E-DDA5-BCD7-CEF5-4128607521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6440" y="3326142"/>
            <a:ext cx="6125560" cy="2176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4119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37886D-AF1B-6D69-CF64-C0EB78D56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Several</a:t>
            </a:r>
            <a:r>
              <a:rPr lang="de-DE" dirty="0"/>
              <a:t> Independent Sources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55EE8989-0AF4-22F7-B4D9-3CF667C57A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54059"/>
                <a:ext cx="10515600" cy="2330104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de-DE" sz="2200" dirty="0" err="1"/>
                  <a:t>simplification</a:t>
                </a:r>
                <a:r>
                  <a:rPr lang="de-DE" sz="2200" dirty="0"/>
                  <a:t> </a:t>
                </a:r>
                <a:r>
                  <a:rPr lang="de-DE" sz="2200" dirty="0" err="1"/>
                  <a:t>by</a:t>
                </a:r>
                <a:r>
                  <a:rPr lang="de-DE" sz="2200" dirty="0"/>
                  <a:t> </a:t>
                </a:r>
                <a:r>
                  <a:rPr lang="de-DE" sz="2200" dirty="0" err="1"/>
                  <a:t>means</a:t>
                </a:r>
                <a:r>
                  <a:rPr lang="de-DE" sz="2200" dirty="0"/>
                  <a:t> </a:t>
                </a:r>
                <a:r>
                  <a:rPr lang="de-DE" sz="2200" dirty="0" err="1"/>
                  <a:t>of</a:t>
                </a:r>
                <a:r>
                  <a:rPr lang="de-DE" sz="2200" dirty="0"/>
                  <a:t> </a:t>
                </a:r>
                <a:r>
                  <a:rPr lang="de-DE" sz="2200" dirty="0" err="1"/>
                  <a:t>superposition</a:t>
                </a:r>
                <a:r>
                  <a:rPr lang="de-DE" sz="2200" dirty="0"/>
                  <a:t> </a:t>
                </a:r>
                <a:r>
                  <a:rPr lang="de-DE" sz="2200" dirty="0" err="1"/>
                  <a:t>principle</a:t>
                </a:r>
                <a:r>
                  <a:rPr lang="de-DE" sz="2200" dirty="0"/>
                  <a:t> in linear </a:t>
                </a:r>
                <a:r>
                  <a:rPr lang="de-DE" sz="2200" dirty="0" err="1"/>
                  <a:t>circuits</a:t>
                </a:r>
                <a:r>
                  <a:rPr lang="de-DE" sz="2200" dirty="0"/>
                  <a:t>:</a:t>
                </a:r>
              </a:p>
              <a:p>
                <a:r>
                  <a:rPr lang="de-DE" sz="2200" dirty="0"/>
                  <a:t>turn on </a:t>
                </a:r>
                <a:r>
                  <a:rPr lang="de-DE" sz="2200" dirty="0" err="1"/>
                  <a:t>one</a:t>
                </a:r>
                <a:r>
                  <a:rPr lang="de-DE" sz="2200" dirty="0"/>
                  <a:t> source at a time (</a:t>
                </a:r>
                <a:r>
                  <a:rPr lang="de-DE" sz="2200" dirty="0" err="1"/>
                  <a:t>others</a:t>
                </a:r>
                <a:r>
                  <a:rPr lang="de-DE" sz="2200" dirty="0"/>
                  <a:t> </a:t>
                </a:r>
                <a:r>
                  <a:rPr lang="de-DE" sz="2200" dirty="0" err="1"/>
                  <a:t>turned</a:t>
                </a:r>
                <a:r>
                  <a:rPr lang="de-DE" sz="2200" dirty="0"/>
                  <a:t> off: </a:t>
                </a:r>
                <a:r>
                  <a:rPr lang="de-DE" sz="2200" dirty="0" err="1"/>
                  <a:t>replace</a:t>
                </a:r>
                <a:r>
                  <a:rPr lang="de-DE" sz="2200" dirty="0"/>
                  <a:t> </a:t>
                </a:r>
                <a:r>
                  <a:rPr lang="de-DE" sz="2200" dirty="0" err="1"/>
                  <a:t>voltage</a:t>
                </a:r>
                <a:r>
                  <a:rPr lang="de-DE" sz="2200" dirty="0"/>
                  <a:t> </a:t>
                </a:r>
                <a:r>
                  <a:rPr lang="de-DE" sz="2200" dirty="0" err="1"/>
                  <a:t>sources</a:t>
                </a:r>
                <a:r>
                  <a:rPr lang="de-DE" sz="2200" dirty="0"/>
                  <a:t> </a:t>
                </a:r>
                <a:r>
                  <a:rPr lang="de-DE" sz="2200" dirty="0" err="1"/>
                  <a:t>with</a:t>
                </a:r>
                <a:r>
                  <a:rPr lang="de-DE" sz="2200" dirty="0"/>
                  <a:t> </a:t>
                </a:r>
                <a:r>
                  <a:rPr lang="de-DE" sz="2200" dirty="0" err="1"/>
                  <a:t>short</a:t>
                </a:r>
                <a:r>
                  <a:rPr lang="de-DE" sz="2200" dirty="0"/>
                  <a:t> </a:t>
                </a:r>
                <a:r>
                  <a:rPr lang="de-DE" sz="2200" dirty="0" err="1"/>
                  <a:t>circuits</a:t>
                </a:r>
                <a:r>
                  <a:rPr lang="de-DE" sz="2200" dirty="0"/>
                  <a:t> and </a:t>
                </a:r>
                <a:r>
                  <a:rPr lang="de-DE" sz="2200" dirty="0" err="1"/>
                  <a:t>current</a:t>
                </a:r>
                <a:r>
                  <a:rPr lang="de-DE" sz="2200" dirty="0"/>
                  <a:t> </a:t>
                </a:r>
                <a:r>
                  <a:rPr lang="de-DE" sz="2200" dirty="0" err="1"/>
                  <a:t>sources</a:t>
                </a:r>
                <a:r>
                  <a:rPr lang="de-DE" sz="2200" dirty="0"/>
                  <a:t> </a:t>
                </a:r>
                <a:r>
                  <a:rPr lang="de-DE" sz="2200" dirty="0" err="1"/>
                  <a:t>with</a:t>
                </a:r>
                <a:r>
                  <a:rPr lang="de-DE" sz="2200" dirty="0"/>
                  <a:t> open </a:t>
                </a:r>
                <a:r>
                  <a:rPr lang="de-DE" sz="2200" dirty="0" err="1"/>
                  <a:t>circuits</a:t>
                </a:r>
                <a:r>
                  <a:rPr lang="de-DE" sz="2200" dirty="0"/>
                  <a:t>)</a:t>
                </a:r>
              </a:p>
              <a:p>
                <a:r>
                  <a:rPr lang="de-DE" sz="2200" dirty="0"/>
                  <a:t>find </a:t>
                </a:r>
                <a:r>
                  <a:rPr lang="de-DE" sz="2200" dirty="0" err="1"/>
                  <a:t>its</a:t>
                </a:r>
                <a:r>
                  <a:rPr lang="de-DE" sz="2200" dirty="0"/>
                  <a:t> </a:t>
                </a:r>
                <a:r>
                  <a:rPr lang="de-DE" sz="2200" dirty="0" err="1"/>
                  <a:t>contribution</a:t>
                </a:r>
                <a:r>
                  <a:rPr lang="de-DE" sz="2200" dirty="0"/>
                  <a:t> </a:t>
                </a:r>
                <a:r>
                  <a:rPr lang="de-DE" sz="2200" dirty="0" err="1"/>
                  <a:t>to</a:t>
                </a:r>
                <a:r>
                  <a:rPr lang="de-DE" sz="2200" dirty="0"/>
                  <a:t> </a:t>
                </a:r>
                <a:r>
                  <a:rPr lang="de-DE" sz="2200" dirty="0" err="1"/>
                  <a:t>the</a:t>
                </a:r>
                <a:r>
                  <a:rPr lang="de-DE" sz="2200" dirty="0"/>
                  <a:t> terminal </a:t>
                </a:r>
                <a:r>
                  <a:rPr lang="de-DE" sz="2200" dirty="0" err="1"/>
                  <a:t>voltage</a:t>
                </a:r>
                <a:r>
                  <a:rPr lang="de-DE" sz="2200" dirty="0"/>
                  <a:t>/</a:t>
                </a:r>
                <a:r>
                  <a:rPr lang="de-DE" sz="2200" dirty="0" err="1"/>
                  <a:t>current</a:t>
                </a:r>
                <a:endParaRPr lang="de-DE" sz="2200" dirty="0"/>
              </a:p>
              <a:p>
                <a:r>
                  <a:rPr lang="de-DE" sz="2200" dirty="0" err="1"/>
                  <a:t>add</a:t>
                </a:r>
                <a:r>
                  <a:rPr lang="de-DE" sz="2200" dirty="0"/>
                  <a:t> all </a:t>
                </a:r>
                <a:r>
                  <a:rPr lang="de-DE" sz="2200" dirty="0" err="1"/>
                  <a:t>contributions</a:t>
                </a:r>
                <a:endParaRPr lang="de-DE" sz="2200" dirty="0"/>
              </a:p>
              <a:p>
                <a:pPr marL="0" indent="0">
                  <a:buNone/>
                </a:pPr>
                <a:r>
                  <a:rPr lang="de-DE" sz="2200" dirty="0" err="1"/>
                  <a:t>additionally</a:t>
                </a:r>
                <a:r>
                  <a:rPr lang="de-DE" sz="2200" dirty="0"/>
                  <a:t>, </a:t>
                </a:r>
                <a:r>
                  <a:rPr lang="de-DE" sz="2200" dirty="0" err="1"/>
                  <a:t>single</a:t>
                </a:r>
                <a:r>
                  <a:rPr lang="de-DE" sz="2200" dirty="0"/>
                  <a:t> “turn off all” </a:t>
                </a:r>
                <a:r>
                  <a:rPr lang="de-DE" sz="2200" dirty="0" err="1"/>
                  <a:t>reduction</a:t>
                </a:r>
                <a:r>
                  <a:rPr lang="de-DE" sz="2200" dirty="0"/>
                  <a:t> </a:t>
                </a:r>
                <a:r>
                  <a:rPr lang="de-DE" sz="2200" dirty="0" err="1"/>
                  <a:t>to</a:t>
                </a:r>
                <a:r>
                  <a:rPr lang="de-DE" sz="2200" dirty="0"/>
                  <a:t> </a:t>
                </a:r>
                <a:r>
                  <a:rPr lang="de-DE" sz="2200" dirty="0" err="1"/>
                  <a:t>get</a:t>
                </a:r>
                <a:r>
                  <a:rPr lang="de-DE" sz="2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2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2200">
                            <a:latin typeface="Cambria Math" panose="02040503050406030204" pitchFamily="18" charset="0"/>
                          </a:rPr>
                          <m:t>th</m:t>
                        </m:r>
                      </m:sub>
                    </m:sSub>
                  </m:oMath>
                </a14:m>
                <a:endParaRPr lang="de-DE" sz="22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55EE8989-0AF4-22F7-B4D9-3CF667C57A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54059"/>
                <a:ext cx="10515600" cy="2330104"/>
              </a:xfrm>
              <a:blipFill>
                <a:blip r:embed="rId2"/>
                <a:stretch>
                  <a:fillRect l="-724" t="-3804" b="-54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540EE3C-A6AD-BAB2-5207-AEBB446D5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EAA6B-85FB-CD46-8BDC-C1BC3364C8C0}" type="slidenum">
              <a:rPr lang="de-DE" smtClean="0"/>
              <a:t>17</a:t>
            </a:fld>
            <a:endParaRPr lang="de-DE" dirty="0"/>
          </a:p>
        </p:txBody>
      </p:sp>
      <p:pic>
        <p:nvPicPr>
          <p:cNvPr id="6" name="Grafik 5" descr="Ein Bild, das Diagramm, Entwurf, technische Zeichnung, Zeichnung enthält.&#10;&#10;KI-generierte Inhalte können fehlerhaft sein.">
            <a:extLst>
              <a:ext uri="{FF2B5EF4-FFF2-40B4-BE49-F238E27FC236}">
                <a16:creationId xmlns:a16="http://schemas.microsoft.com/office/drawing/2014/main" id="{EEBEB03F-31F8-B1B8-4DC0-ABE399C8BC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266" y="4470740"/>
            <a:ext cx="3292366" cy="1625606"/>
          </a:xfrm>
          <a:prstGeom prst="rect">
            <a:avLst/>
          </a:prstGeom>
        </p:spPr>
      </p:pic>
      <p:pic>
        <p:nvPicPr>
          <p:cNvPr id="5" name="Grafik 4" descr="Ein Bild, das Diagramm, Entwurf, technische Zeichnung enthält.&#10;&#10;KI-generierte Inhalte können fehlerhaft sein.">
            <a:extLst>
              <a:ext uri="{FF2B5EF4-FFF2-40B4-BE49-F238E27FC236}">
                <a16:creationId xmlns:a16="http://schemas.microsoft.com/office/drawing/2014/main" id="{B526543D-909C-B715-7D48-1F7824F77F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7064" y="4528445"/>
            <a:ext cx="3292366" cy="1625708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06D30B83-2891-D4F1-D0C4-8DF36E9A15DD}"/>
              </a:ext>
            </a:extLst>
          </p:cNvPr>
          <p:cNvSpPr txBox="1"/>
          <p:nvPr/>
        </p:nvSpPr>
        <p:spPr>
          <a:xfrm>
            <a:off x="4437064" y="4024176"/>
            <a:ext cx="32923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 err="1"/>
              <a:t>Norton‘s</a:t>
            </a:r>
            <a:r>
              <a:rPr lang="de-DE" dirty="0"/>
              <a:t> </a:t>
            </a:r>
            <a:r>
              <a:rPr lang="de-DE" dirty="0" err="1"/>
              <a:t>theorem</a:t>
            </a:r>
            <a:r>
              <a:rPr lang="de-DE" dirty="0"/>
              <a:t>: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004C6BC9-2DE0-ABEB-AD42-FA02AA2F8D46}"/>
              </a:ext>
            </a:extLst>
          </p:cNvPr>
          <p:cNvSpPr txBox="1"/>
          <p:nvPr/>
        </p:nvSpPr>
        <p:spPr>
          <a:xfrm>
            <a:off x="434266" y="4020792"/>
            <a:ext cx="32923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 err="1"/>
              <a:t>Thévenin‘s</a:t>
            </a:r>
            <a:r>
              <a:rPr lang="de-DE" dirty="0"/>
              <a:t> </a:t>
            </a:r>
            <a:r>
              <a:rPr lang="de-DE" dirty="0" err="1"/>
              <a:t>theorem</a:t>
            </a:r>
            <a:r>
              <a:rPr lang="de-DE" dirty="0"/>
              <a:t>:</a:t>
            </a:r>
          </a:p>
        </p:txBody>
      </p:sp>
      <p:pic>
        <p:nvPicPr>
          <p:cNvPr id="11" name="Grafik 10" descr="Ein Bild, das Diagramm, technische Zeichnung, Entwurf, Kreis enthält.&#10;&#10;KI-generierte Inhalte können fehlerhaft sein.">
            <a:extLst>
              <a:ext uri="{FF2B5EF4-FFF2-40B4-BE49-F238E27FC236}">
                <a16:creationId xmlns:a16="http://schemas.microsoft.com/office/drawing/2014/main" id="{24688475-FF0F-DD64-A166-DDE219B23C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9862" y="4467254"/>
            <a:ext cx="2508003" cy="1629092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FC59A807-407A-E0CC-A141-CFA743ABD989}"/>
              </a:ext>
            </a:extLst>
          </p:cNvPr>
          <p:cNvSpPr txBox="1"/>
          <p:nvPr/>
        </p:nvSpPr>
        <p:spPr>
          <a:xfrm>
            <a:off x="8439863" y="4020792"/>
            <a:ext cx="33178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Norton-</a:t>
            </a:r>
            <a:r>
              <a:rPr lang="de-DE" dirty="0" err="1"/>
              <a:t>Thévenin</a:t>
            </a:r>
            <a:r>
              <a:rPr lang="de-DE" dirty="0"/>
              <a:t> </a:t>
            </a:r>
            <a:r>
              <a:rPr lang="de-DE" dirty="0" err="1"/>
              <a:t>conversion</a:t>
            </a:r>
            <a:r>
              <a:rPr lang="de-DE" dirty="0"/>
              <a:t>: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938CFB72-2C88-17B1-945C-FFE8D0185DFE}"/>
              </a:ext>
            </a:extLst>
          </p:cNvPr>
          <p:cNvSpPr txBox="1"/>
          <p:nvPr/>
        </p:nvSpPr>
        <p:spPr>
          <a:xfrm>
            <a:off x="51210" y="6126054"/>
            <a:ext cx="23858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dirty="0" err="1"/>
              <a:t>any</a:t>
            </a:r>
            <a:r>
              <a:rPr lang="de-DE" dirty="0"/>
              <a:t> linear </a:t>
            </a:r>
            <a:r>
              <a:rPr lang="de-DE" dirty="0" err="1"/>
              <a:t>circuit</a:t>
            </a:r>
            <a:r>
              <a:rPr lang="de-DE" dirty="0"/>
              <a:t> </a:t>
            </a:r>
            <a:r>
              <a:rPr lang="de-DE" dirty="0" err="1"/>
              <a:t>seen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terminals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3F55C6EA-89E9-139D-D699-834D6BEA8E9A}"/>
                  </a:ext>
                </a:extLst>
              </p:cNvPr>
              <p:cNvSpPr txBox="1"/>
              <p:nvPr/>
            </p:nvSpPr>
            <p:spPr>
              <a:xfrm>
                <a:off x="9309676" y="6211631"/>
                <a:ext cx="1382686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b="0" i="0" smtClean="0">
                              <a:latin typeface="Cambria Math" panose="02040503050406030204" pitchFamily="18" charset="0"/>
                            </a:rPr>
                            <m:t>th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b="0" i="0" smtClean="0">
                              <a:latin typeface="Cambria Math" panose="02040503050406030204" pitchFamily="18" charset="0"/>
                            </a:rPr>
                            <m:t>no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de-DE" b="0" i="0" smtClean="0">
                              <a:latin typeface="Cambria Math" panose="02040503050406030204" pitchFamily="18" charset="0"/>
                            </a:rPr>
                            <m:t>o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>
                                  <a:latin typeface="Cambria Math" panose="02040503050406030204" pitchFamily="18" charset="0"/>
                                </a:rPr>
                                <m:t>th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>
                                  <a:latin typeface="Cambria Math" panose="02040503050406030204" pitchFamily="18" charset="0"/>
                                </a:rPr>
                                <m:t>th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3F55C6EA-89E9-139D-D699-834D6BEA8E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9676" y="6211631"/>
                <a:ext cx="1382686" cy="553998"/>
              </a:xfrm>
              <a:prstGeom prst="rect">
                <a:avLst/>
              </a:prstGeom>
              <a:blipFill>
                <a:blip r:embed="rId6"/>
                <a:stretch>
                  <a:fillRect l="-2727" t="-36364" r="-1818" b="-12045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33389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2B0829-37C3-9D53-6D00-55E92FB61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Circuit Analysis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5679A40-3010-7C99-3F7F-4BD7D72D8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00537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de-DE" sz="2600" dirty="0" err="1"/>
              <a:t>approach</a:t>
            </a:r>
            <a:r>
              <a:rPr lang="de-DE" sz="2600" dirty="0"/>
              <a:t> </a:t>
            </a:r>
            <a:r>
              <a:rPr lang="de-DE" sz="2600" dirty="0" err="1"/>
              <a:t>for</a:t>
            </a:r>
            <a:r>
              <a:rPr lang="de-DE" sz="2600" dirty="0"/>
              <a:t> </a:t>
            </a:r>
            <a:r>
              <a:rPr lang="de-DE" sz="2600" dirty="0" err="1"/>
              <a:t>mixed</a:t>
            </a:r>
            <a:r>
              <a:rPr lang="de-DE" sz="2600" dirty="0"/>
              <a:t> </a:t>
            </a:r>
            <a:r>
              <a:rPr lang="de-DE" sz="2600" dirty="0" err="1"/>
              <a:t>circuits</a:t>
            </a:r>
            <a:r>
              <a:rPr lang="de-DE" sz="2600" dirty="0"/>
              <a:t>:</a:t>
            </a:r>
          </a:p>
          <a:p>
            <a:r>
              <a:rPr lang="de-DE" sz="2600" dirty="0" err="1"/>
              <a:t>reduce</a:t>
            </a:r>
            <a:r>
              <a:rPr lang="de-DE" sz="2600" dirty="0"/>
              <a:t> </a:t>
            </a:r>
            <a:r>
              <a:rPr lang="de-DE" sz="2600" dirty="0" err="1"/>
              <a:t>series</a:t>
            </a:r>
            <a:r>
              <a:rPr lang="de-DE" sz="2600" dirty="0"/>
              <a:t> </a:t>
            </a:r>
            <a:r>
              <a:rPr lang="de-DE" sz="2600" dirty="0" err="1"/>
              <a:t>groups</a:t>
            </a:r>
            <a:r>
              <a:rPr lang="de-DE" sz="2600" dirty="0"/>
              <a:t> (same </a:t>
            </a:r>
            <a:r>
              <a:rPr lang="de-DE" sz="2600" dirty="0" err="1"/>
              <a:t>current</a:t>
            </a:r>
            <a:r>
              <a:rPr lang="de-DE" sz="2600" dirty="0"/>
              <a:t> </a:t>
            </a:r>
            <a:r>
              <a:rPr lang="de-DE" sz="2600" dirty="0" err="1"/>
              <a:t>path</a:t>
            </a:r>
            <a:r>
              <a:rPr lang="de-DE" sz="2600" dirty="0"/>
              <a:t>): </a:t>
            </a:r>
            <a:r>
              <a:rPr lang="de-DE" sz="2600" dirty="0" err="1"/>
              <a:t>add</a:t>
            </a:r>
            <a:r>
              <a:rPr lang="de-DE" sz="2600" dirty="0"/>
              <a:t> </a:t>
            </a:r>
            <a:r>
              <a:rPr lang="de-DE" sz="2600" dirty="0" err="1"/>
              <a:t>resistances</a:t>
            </a:r>
            <a:endParaRPr lang="de-DE" sz="2600" dirty="0"/>
          </a:p>
          <a:p>
            <a:r>
              <a:rPr lang="de-DE" sz="2600" dirty="0" err="1"/>
              <a:t>reduce</a:t>
            </a:r>
            <a:r>
              <a:rPr lang="de-DE" sz="2600" dirty="0"/>
              <a:t> parallel </a:t>
            </a:r>
            <a:r>
              <a:rPr lang="de-DE" sz="2600" dirty="0" err="1"/>
              <a:t>groups</a:t>
            </a:r>
            <a:r>
              <a:rPr lang="de-DE" sz="2600" dirty="0"/>
              <a:t> (same </a:t>
            </a:r>
            <a:r>
              <a:rPr lang="de-DE" sz="2600" dirty="0" err="1"/>
              <a:t>two</a:t>
            </a:r>
            <a:r>
              <a:rPr lang="de-DE" sz="2600" dirty="0"/>
              <a:t> </a:t>
            </a:r>
            <a:r>
              <a:rPr lang="de-DE" sz="2600" dirty="0" err="1"/>
              <a:t>nodes</a:t>
            </a:r>
            <a:r>
              <a:rPr lang="de-DE" sz="2600" dirty="0"/>
              <a:t>): </a:t>
            </a:r>
            <a:r>
              <a:rPr lang="de-DE" sz="2600" dirty="0" err="1"/>
              <a:t>add</a:t>
            </a:r>
            <a:r>
              <a:rPr lang="de-DE" sz="2600" dirty="0"/>
              <a:t> </a:t>
            </a:r>
            <a:r>
              <a:rPr lang="de-DE" sz="2600" dirty="0" err="1"/>
              <a:t>conductances</a:t>
            </a:r>
            <a:endParaRPr lang="de-DE" sz="2600" dirty="0"/>
          </a:p>
          <a:p>
            <a:r>
              <a:rPr lang="de-DE" sz="2600" dirty="0" err="1"/>
              <a:t>redraw</a:t>
            </a:r>
            <a:r>
              <a:rPr lang="de-DE" sz="2600" dirty="0"/>
              <a:t> after </a:t>
            </a:r>
            <a:r>
              <a:rPr lang="de-DE" sz="2600" dirty="0" err="1"/>
              <a:t>each</a:t>
            </a:r>
            <a:r>
              <a:rPr lang="de-DE" sz="2600" dirty="0"/>
              <a:t> </a:t>
            </a:r>
            <a:r>
              <a:rPr lang="de-DE" sz="2600" dirty="0" err="1"/>
              <a:t>combine</a:t>
            </a:r>
            <a:r>
              <a:rPr lang="de-DE" sz="2600" dirty="0"/>
              <a:t>, </a:t>
            </a:r>
            <a:r>
              <a:rPr lang="de-DE" sz="2600" dirty="0" err="1"/>
              <a:t>repeat</a:t>
            </a:r>
            <a:r>
              <a:rPr lang="de-DE" sz="2600" dirty="0"/>
              <a:t> 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993D28C-FEA8-FF5F-817E-6707A8CCF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EAA6B-85FB-CD46-8BDC-C1BC3364C8C0}" type="slidenum">
              <a:rPr lang="de-DE" smtClean="0"/>
              <a:t>18</a:t>
            </a:fld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477A8EE-ACE7-C1C4-3892-9C94DA5A80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148" y="4093752"/>
            <a:ext cx="5492385" cy="23025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C92D305C-697E-FE21-C622-68624F3289C2}"/>
                  </a:ext>
                </a:extLst>
              </p:cNvPr>
              <p:cNvSpPr txBox="1"/>
              <p:nvPr/>
            </p:nvSpPr>
            <p:spPr>
              <a:xfrm>
                <a:off x="838200" y="4093752"/>
                <a:ext cx="5788948" cy="23732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de-DE" sz="2400" dirty="0" err="1"/>
                  <a:t>example</a:t>
                </a:r>
                <a:r>
                  <a:rPr lang="de-DE" sz="2400" dirty="0"/>
                  <a:t>: total </a:t>
                </a:r>
                <a:r>
                  <a:rPr lang="de-DE" sz="2400" dirty="0" err="1"/>
                  <a:t>resistance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between</a:t>
                </a:r>
                <a:r>
                  <a:rPr lang="de-DE" sz="2400" dirty="0"/>
                  <a:t> 1 and 2</a:t>
                </a:r>
              </a:p>
              <a:p>
                <a:pPr marL="0" indent="0">
                  <a:buNone/>
                </a:pPr>
                <a:endParaRPr lang="de-DE" sz="2400" dirty="0"/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DE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de-DE" sz="2400" dirty="0"/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1,2,3,4</m:t>
                          </m:r>
                        </m:sub>
                      </m:sSub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de-DE" sz="2400" dirty="0"/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DE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  <m:t>1,2,3,4,5</m:t>
                              </m:r>
                            </m:sub>
                          </m:s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1,2,3,4</m:t>
                          </m:r>
                        </m:sub>
                      </m:sSub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de-DE" sz="24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1,2,3,4,5</m:t>
                          </m:r>
                        </m:sub>
                      </m:sSub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de-DE" sz="2400" dirty="0"/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C92D305C-697E-FE21-C622-68624F3289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093752"/>
                <a:ext cx="5788948" cy="2373214"/>
              </a:xfrm>
              <a:prstGeom prst="rect">
                <a:avLst/>
              </a:prstGeom>
              <a:blipFill>
                <a:blip r:embed="rId3"/>
                <a:stretch>
                  <a:fillRect l="-1754" t="-2128" r="-21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02814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AC2D28-7097-C45D-6726-9FE0F66FB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Bridges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3A82584-9FCF-5614-F1D3-31BADE2C8C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65661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solve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?</a:t>
            </a:r>
          </a:p>
          <a:p>
            <a:pPr marL="0" indent="0" algn="ctr">
              <a:buNone/>
            </a:pPr>
            <a:endParaRPr lang="de-DE" dirty="0"/>
          </a:p>
          <a:p>
            <a:pPr marL="0" indent="0" algn="ctr">
              <a:buNone/>
            </a:pPr>
            <a:endParaRPr lang="de-DE" dirty="0"/>
          </a:p>
          <a:p>
            <a:pPr marL="0" indent="0" algn="ctr">
              <a:buNone/>
            </a:pPr>
            <a:endParaRPr lang="de-DE" dirty="0"/>
          </a:p>
          <a:p>
            <a:pPr marL="0" indent="0" algn="ctr">
              <a:buNone/>
            </a:pPr>
            <a:endParaRPr lang="de-DE" dirty="0"/>
          </a:p>
          <a:p>
            <a:pPr marL="0" indent="0" algn="ctr">
              <a:buNone/>
            </a:pPr>
            <a:endParaRPr lang="de-DE" dirty="0"/>
          </a:p>
          <a:p>
            <a:pPr marL="0" indent="0" algn="ctr">
              <a:buNone/>
            </a:pPr>
            <a:endParaRPr lang="de-DE" dirty="0"/>
          </a:p>
          <a:p>
            <a:pPr marL="0" indent="0" algn="ctr">
              <a:buNone/>
            </a:pPr>
            <a:endParaRPr lang="de-DE" dirty="0"/>
          </a:p>
          <a:p>
            <a:pPr marL="0" indent="0" algn="ctr">
              <a:buNone/>
            </a:pPr>
            <a:r>
              <a:rPr lang="de-DE" dirty="0">
                <a:sym typeface="Wingdings" pitchFamily="2" charset="2"/>
              </a:rPr>
              <a:t> </a:t>
            </a:r>
            <a:r>
              <a:rPr lang="de-DE" dirty="0" err="1"/>
              <a:t>convert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bridge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Y-</a:t>
            </a:r>
            <a:r>
              <a:rPr lang="el-GR" dirty="0"/>
              <a:t>Δ </a:t>
            </a:r>
            <a:r>
              <a:rPr lang="de-DE" dirty="0" err="1"/>
              <a:t>transform</a:t>
            </a:r>
            <a:endParaRPr lang="de-DE" dirty="0"/>
          </a:p>
          <a:p>
            <a:pPr marL="0" indent="0" algn="ctr">
              <a:buNone/>
            </a:pPr>
            <a:r>
              <a:rPr lang="de-DE" dirty="0"/>
              <a:t>(</a:t>
            </a:r>
            <a:r>
              <a:rPr lang="de-DE" dirty="0" err="1"/>
              <a:t>simplification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using</a:t>
            </a:r>
            <a:r>
              <a:rPr lang="de-DE" dirty="0"/>
              <a:t> </a:t>
            </a:r>
            <a:r>
              <a:rPr lang="de-DE" dirty="0" err="1"/>
              <a:t>three</a:t>
            </a:r>
            <a:r>
              <a:rPr lang="de-DE" dirty="0"/>
              <a:t>-terminal </a:t>
            </a:r>
            <a:r>
              <a:rPr lang="de-DE" dirty="0" err="1"/>
              <a:t>equivalent</a:t>
            </a:r>
            <a:r>
              <a:rPr lang="de-DE" dirty="0"/>
              <a:t> </a:t>
            </a:r>
            <a:r>
              <a:rPr lang="de-DE" dirty="0" err="1"/>
              <a:t>networks</a:t>
            </a:r>
            <a:r>
              <a:rPr lang="de-DE" dirty="0"/>
              <a:t>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6D881EA-2198-076D-9153-AFBF2607A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EAA6B-85FB-CD46-8BDC-C1BC3364C8C0}" type="slidenum">
              <a:rPr lang="de-DE" smtClean="0"/>
              <a:t>19</a:t>
            </a:fld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2A7B01B-E5FC-61C3-8E7D-46CDD33CD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7879" y="2383086"/>
            <a:ext cx="7576242" cy="2952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7656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0A99C5-0AB5-7CC4-866E-0671E9717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Y-</a:t>
            </a:r>
            <a:r>
              <a:rPr lang="el-GR" dirty="0"/>
              <a:t>Δ </a:t>
            </a:r>
            <a:r>
              <a:rPr lang="de-DE" dirty="0"/>
              <a:t>Transform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Inhaltsplatzhalter 6">
                <a:extLst>
                  <a:ext uri="{FF2B5EF4-FFF2-40B4-BE49-F238E27FC236}">
                    <a16:creationId xmlns:a16="http://schemas.microsoft.com/office/drawing/2014/main" id="{FE0C2BA7-E00F-06C5-2225-5CFE7A532914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4193627"/>
                <a:ext cx="5181600" cy="2527847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de-DE" sz="2600" dirty="0" err="1"/>
                  <a:t>transformation</a:t>
                </a:r>
                <a:r>
                  <a:rPr lang="de-DE" sz="2600" dirty="0"/>
                  <a:t> </a:t>
                </a:r>
                <a:r>
                  <a:rPr lang="de-DE" sz="2600" dirty="0" err="1"/>
                  <a:t>from</a:t>
                </a:r>
                <a:r>
                  <a:rPr lang="el-GR" sz="2600" dirty="0"/>
                  <a:t> Δ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to</a:t>
                </a:r>
                <a:r>
                  <a:rPr lang="de-DE" sz="2600" dirty="0"/>
                  <a:t> Y:</a:t>
                </a:r>
              </a:p>
              <a:p>
                <a:pPr marL="0" indent="0">
                  <a:buNone/>
                </a:pPr>
                <a:r>
                  <a:rPr lang="de-DE" sz="26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e-DE" sz="2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2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sSub>
                          <m:sSubPr>
                            <m:ctrlP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de-DE" sz="2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de-DE" sz="2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den>
                    </m:f>
                  </m:oMath>
                </a14:m>
                <a:endParaRPr lang="de-DE" sz="2600" dirty="0"/>
              </a:p>
              <a:p>
                <a:pPr marL="0" indent="0">
                  <a:buNone/>
                </a:pPr>
                <a:r>
                  <a:rPr lang="de-DE" sz="26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e-DE" sz="2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sz="2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sSub>
                          <m:sSubPr>
                            <m:ctrlPr>
                              <a:rPr lang="de-DE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de-DE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de-DE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den>
                    </m:f>
                  </m:oMath>
                </a14:m>
                <a:endParaRPr lang="de-DE" sz="2600" dirty="0"/>
              </a:p>
              <a:p>
                <a:pPr marL="0" indent="0">
                  <a:buNone/>
                </a:pPr>
                <a:r>
                  <a:rPr lang="de-DE" sz="26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e-DE" sz="2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de-DE" sz="2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sSub>
                          <m:sSubPr>
                            <m:ctrlPr>
                              <a:rPr lang="de-DE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de-DE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de-DE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den>
                    </m:f>
                  </m:oMath>
                </a14:m>
                <a:endParaRPr lang="de-DE" sz="2600" dirty="0"/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7" name="Inhaltsplatzhalter 6">
                <a:extLst>
                  <a:ext uri="{FF2B5EF4-FFF2-40B4-BE49-F238E27FC236}">
                    <a16:creationId xmlns:a16="http://schemas.microsoft.com/office/drawing/2014/main" id="{FE0C2BA7-E00F-06C5-2225-5CFE7A5329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4193627"/>
                <a:ext cx="5181600" cy="2527847"/>
              </a:xfrm>
              <a:blipFill>
                <a:blip r:embed="rId2"/>
                <a:stretch>
                  <a:fillRect t="-35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Inhaltsplatzhalter 7">
                <a:extLst>
                  <a:ext uri="{FF2B5EF4-FFF2-40B4-BE49-F238E27FC236}">
                    <a16:creationId xmlns:a16="http://schemas.microsoft.com/office/drawing/2014/main" id="{908563CE-5948-57B1-8AE6-DEAC545BECF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200" y="4193627"/>
                <a:ext cx="5181600" cy="2527847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de-DE" sz="2600" dirty="0" err="1"/>
                  <a:t>transformation</a:t>
                </a:r>
                <a:r>
                  <a:rPr lang="de-DE" sz="2600" dirty="0"/>
                  <a:t> </a:t>
                </a:r>
                <a:r>
                  <a:rPr lang="de-DE" sz="2600" dirty="0" err="1"/>
                  <a:t>from</a:t>
                </a:r>
                <a:r>
                  <a:rPr lang="de-DE" sz="2600" dirty="0"/>
                  <a:t> Y </a:t>
                </a:r>
                <a:r>
                  <a:rPr lang="de-DE" sz="2600" dirty="0" err="1"/>
                  <a:t>to</a:t>
                </a:r>
                <a:r>
                  <a:rPr lang="el-GR" sz="2600" dirty="0"/>
                  <a:t> Δ</a:t>
                </a:r>
                <a:r>
                  <a:rPr lang="de-DE" sz="2600" dirty="0"/>
                  <a:t>:</a:t>
                </a:r>
              </a:p>
              <a:p>
                <a:pPr marL="0" indent="0">
                  <a:buNone/>
                </a:pPr>
                <a:r>
                  <a:rPr lang="de-DE" sz="26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e-DE" sz="2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de-DE" sz="2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e-DE" sz="2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e-DE" sz="2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de-DE" sz="2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endParaRPr lang="de-DE" sz="2600" dirty="0"/>
              </a:p>
              <a:p>
                <a:pPr marL="0" indent="0">
                  <a:buNone/>
                </a:pPr>
                <a:r>
                  <a:rPr lang="de-DE" sz="26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e-DE" sz="2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de-DE" sz="2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e-DE" sz="2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sz="26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de-DE" sz="26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de-DE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de-DE" sz="2600" dirty="0"/>
              </a:p>
              <a:p>
                <a:pPr marL="0" indent="0">
                  <a:buNone/>
                </a:pPr>
                <a:r>
                  <a:rPr lang="de-DE" sz="26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e-DE" sz="2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de-DE" sz="2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e-DE" sz="2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sz="26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e-DE" sz="2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sz="26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de-DE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</m:oMath>
                </a14:m>
                <a:endParaRPr lang="de-DE" sz="2600" dirty="0"/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8" name="Inhaltsplatzhalter 7">
                <a:extLst>
                  <a:ext uri="{FF2B5EF4-FFF2-40B4-BE49-F238E27FC236}">
                    <a16:creationId xmlns:a16="http://schemas.microsoft.com/office/drawing/2014/main" id="{908563CE-5948-57B1-8AE6-DEAC545BEC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200" y="4193627"/>
                <a:ext cx="5181600" cy="2527847"/>
              </a:xfrm>
              <a:blipFill>
                <a:blip r:embed="rId3"/>
                <a:stretch>
                  <a:fillRect t="-35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59DBD98-4CEC-0C8C-3A06-2C392D73B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EAA6B-85FB-CD46-8BDC-C1BC3364C8C0}" type="slidenum">
              <a:rPr lang="de-DE" smtClean="0"/>
              <a:t>20</a:t>
            </a:fld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45BC4466-74D4-DE27-F56D-BEB4F10CB4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200" y="1367871"/>
            <a:ext cx="5605080" cy="2593004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A01CE1BD-F300-704E-FC26-DFE165CDE2CD}"/>
              </a:ext>
            </a:extLst>
          </p:cNvPr>
          <p:cNvSpPr txBox="1"/>
          <p:nvPr/>
        </p:nvSpPr>
        <p:spPr>
          <a:xfrm>
            <a:off x="6632028" y="1291299"/>
            <a:ext cx="5181601" cy="12926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2600" dirty="0" err="1"/>
              <a:t>idea</a:t>
            </a:r>
            <a:r>
              <a:rPr lang="de-DE" sz="2600" dirty="0"/>
              <a:t> </a:t>
            </a:r>
            <a:r>
              <a:rPr lang="de-DE" sz="2600" dirty="0" err="1"/>
              <a:t>of</a:t>
            </a:r>
            <a:r>
              <a:rPr lang="de-DE" sz="2600" dirty="0"/>
              <a:t> Y-</a:t>
            </a:r>
            <a:r>
              <a:rPr lang="el-GR" sz="2600" dirty="0"/>
              <a:t>Δ </a:t>
            </a:r>
            <a:r>
              <a:rPr lang="de-DE" sz="2600" dirty="0"/>
              <a:t> </a:t>
            </a:r>
            <a:r>
              <a:rPr lang="de-DE" sz="2600" dirty="0" err="1"/>
              <a:t>equivalence</a:t>
            </a:r>
            <a:r>
              <a:rPr lang="de-DE" sz="2600" dirty="0"/>
              <a:t>:</a:t>
            </a:r>
          </a:p>
          <a:p>
            <a:r>
              <a:rPr lang="de-DE" sz="2600" dirty="0" err="1"/>
              <a:t>define</a:t>
            </a:r>
            <a:r>
              <a:rPr lang="de-DE" sz="2600" dirty="0"/>
              <a:t> same </a:t>
            </a:r>
            <a:r>
              <a:rPr lang="de-DE" sz="2600" dirty="0" err="1"/>
              <a:t>effective</a:t>
            </a:r>
            <a:r>
              <a:rPr lang="de-DE" sz="2600" dirty="0"/>
              <a:t> </a:t>
            </a:r>
            <a:r>
              <a:rPr lang="de-DE" sz="2600" dirty="0" err="1"/>
              <a:t>resistance</a:t>
            </a:r>
            <a:r>
              <a:rPr lang="de-DE" sz="2600" dirty="0"/>
              <a:t> </a:t>
            </a:r>
            <a:r>
              <a:rPr lang="de-DE" sz="2600" dirty="0" err="1"/>
              <a:t>between</a:t>
            </a:r>
            <a:r>
              <a:rPr lang="de-DE" sz="2600" dirty="0"/>
              <a:t> </a:t>
            </a:r>
            <a:r>
              <a:rPr lang="de-DE" sz="2600" dirty="0" err="1"/>
              <a:t>corresponding</a:t>
            </a:r>
            <a:r>
              <a:rPr lang="de-DE" sz="2600" dirty="0"/>
              <a:t> </a:t>
            </a:r>
            <a:r>
              <a:rPr lang="de-DE" sz="2600" dirty="0" err="1"/>
              <a:t>terminals</a:t>
            </a:r>
            <a:endParaRPr lang="de-DE" sz="2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576FA861-96DA-02A5-360C-0F46EE554626}"/>
                  </a:ext>
                </a:extLst>
              </p:cNvPr>
              <p:cNvSpPr txBox="1"/>
              <p:nvPr/>
            </p:nvSpPr>
            <p:spPr>
              <a:xfrm>
                <a:off x="6936827" y="2830048"/>
                <a:ext cx="3309945" cy="9906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/>
                  <a:t>e.g., </a:t>
                </a:r>
                <a:r>
                  <a:rPr lang="de-DE" dirty="0" err="1"/>
                  <a:t>for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DE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DE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DE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DE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de-D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de-D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sub>
                                  </m:s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de-D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576FA861-96DA-02A5-360C-0F46EE5546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6827" y="2830048"/>
                <a:ext cx="3309945" cy="990656"/>
              </a:xfrm>
              <a:prstGeom prst="rect">
                <a:avLst/>
              </a:prstGeom>
              <a:blipFill>
                <a:blip r:embed="rId6"/>
                <a:stretch>
                  <a:fillRect l="-1533" t="-253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90155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21760CA-161A-FB34-6771-0F21970A9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EAA6B-85FB-CD46-8BDC-C1BC3364C8C0}" type="slidenum">
              <a:rPr lang="de-DE" smtClean="0"/>
              <a:t>21</a:t>
            </a:fld>
            <a:endParaRPr lang="de-DE"/>
          </a:p>
        </p:txBody>
      </p:sp>
      <p:pic>
        <p:nvPicPr>
          <p:cNvPr id="9" name="Grafik 8" descr="Ein Bild, das Text, Rechteck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03143BE8-081B-368E-9FB6-01B96C160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50" y="1841020"/>
            <a:ext cx="6044850" cy="4284105"/>
          </a:xfrm>
          <a:prstGeom prst="rect">
            <a:avLst/>
          </a:prstGeom>
        </p:spPr>
      </p:pic>
      <p:pic>
        <p:nvPicPr>
          <p:cNvPr id="10" name="Grafik 9" descr="Ein Bild, das Text, Reihe, gelb, Rechteck enthält.&#10;&#10;KI-generierte Inhalte können fehlerhaft sein.">
            <a:extLst>
              <a:ext uri="{FF2B5EF4-FFF2-40B4-BE49-F238E27FC236}">
                <a16:creationId xmlns:a16="http://schemas.microsoft.com/office/drawing/2014/main" id="{48F4AAC4-01A2-0BAE-B6A7-A32EB0A159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6085" y="2081054"/>
            <a:ext cx="6045915" cy="3804037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2AFBC947-62FA-0CB7-D41A-887A1CDF40F2}"/>
              </a:ext>
            </a:extLst>
          </p:cNvPr>
          <p:cNvSpPr txBox="1"/>
          <p:nvPr/>
        </p:nvSpPr>
        <p:spPr>
          <a:xfrm>
            <a:off x="51151" y="756012"/>
            <a:ext cx="60448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ctr">
              <a:buFont typeface="+mj-lt"/>
              <a:buAutoNum type="arabicPeriod"/>
            </a:pPr>
            <a:r>
              <a:rPr lang="el-GR" sz="2800" dirty="0"/>
              <a:t>Δ</a:t>
            </a:r>
            <a:r>
              <a:rPr lang="de-DE" sz="2800" dirty="0"/>
              <a:t> </a:t>
            </a:r>
            <a:r>
              <a:rPr lang="de-DE" sz="2800" dirty="0" err="1"/>
              <a:t>to</a:t>
            </a:r>
            <a:r>
              <a:rPr lang="de-DE" sz="2800" dirty="0"/>
              <a:t> Y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B6F392D9-A19F-6C09-5C26-91924DAB6E7A}"/>
              </a:ext>
            </a:extLst>
          </p:cNvPr>
          <p:cNvSpPr txBox="1"/>
          <p:nvPr/>
        </p:nvSpPr>
        <p:spPr>
          <a:xfrm>
            <a:off x="6146085" y="756012"/>
            <a:ext cx="56664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 algn="ctr">
              <a:buFont typeface="+mj-lt"/>
              <a:buAutoNum type="arabicPeriod" startAt="2"/>
            </a:pPr>
            <a:r>
              <a:rPr lang="de-DE" sz="2800" dirty="0" err="1"/>
              <a:t>combine</a:t>
            </a:r>
            <a:endParaRPr lang="de-DE" sz="2800" dirty="0"/>
          </a:p>
        </p:txBody>
      </p:sp>
    </p:spTree>
    <p:extLst>
      <p:ext uri="{BB962C8B-B14F-4D97-AF65-F5344CB8AC3E}">
        <p14:creationId xmlns:p14="http://schemas.microsoft.com/office/powerpoint/2010/main" val="30458489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1B369D-1D18-6F24-49B6-5CC1BE669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Systematic</a:t>
            </a:r>
            <a:r>
              <a:rPr lang="de-DE" dirty="0"/>
              <a:t> Network Analysis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BDE1FA1-FA2D-0FBC-8632-EC566C71D5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/>
              <a:t>for</a:t>
            </a:r>
            <a:r>
              <a:rPr lang="de-DE" dirty="0"/>
              <a:t> DC resistive </a:t>
            </a:r>
            <a:r>
              <a:rPr lang="de-DE" dirty="0" err="1"/>
              <a:t>networks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represent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network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formulate</a:t>
            </a:r>
            <a:r>
              <a:rPr lang="de-DE" dirty="0"/>
              <a:t> </a:t>
            </a:r>
            <a:r>
              <a:rPr lang="de-DE" dirty="0" err="1"/>
              <a:t>equations</a:t>
            </a:r>
            <a:r>
              <a:rPr lang="de-DE" dirty="0"/>
              <a:t>: </a:t>
            </a:r>
            <a:r>
              <a:rPr lang="de-DE" dirty="0" err="1"/>
              <a:t>choose</a:t>
            </a:r>
            <a:r>
              <a:rPr lang="de-DE" dirty="0"/>
              <a:t> </a:t>
            </a:r>
            <a:r>
              <a:rPr lang="de-DE" dirty="0" err="1"/>
              <a:t>analysis</a:t>
            </a:r>
            <a:r>
              <a:rPr lang="de-DE" dirty="0"/>
              <a:t> </a:t>
            </a:r>
            <a:r>
              <a:rPr lang="de-DE" dirty="0" err="1"/>
              <a:t>method</a:t>
            </a:r>
            <a:r>
              <a:rPr lang="de-DE" dirty="0"/>
              <a:t> (different </a:t>
            </a:r>
            <a:r>
              <a:rPr lang="de-DE" dirty="0" err="1"/>
              <a:t>heuristics</a:t>
            </a:r>
            <a:r>
              <a:rPr lang="de-DE" dirty="0"/>
              <a:t>) and </a:t>
            </a:r>
            <a:r>
              <a:rPr lang="de-DE" dirty="0" err="1"/>
              <a:t>apply</a:t>
            </a:r>
            <a:r>
              <a:rPr lang="de-DE" dirty="0"/>
              <a:t> KCL / KVL / </a:t>
            </a:r>
            <a:r>
              <a:rPr lang="de-DE" dirty="0" err="1"/>
              <a:t>Ohm’s</a:t>
            </a:r>
            <a:r>
              <a:rPr lang="de-DE" dirty="0"/>
              <a:t> </a:t>
            </a:r>
            <a:r>
              <a:rPr lang="de-DE" dirty="0" err="1"/>
              <a:t>law</a:t>
            </a:r>
            <a:r>
              <a:rPr lang="de-DE" dirty="0"/>
              <a:t> </a:t>
            </a:r>
            <a:r>
              <a:rPr lang="de-DE" dirty="0" err="1"/>
              <a:t>accordingly</a:t>
            </a: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solve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resulting</a:t>
            </a:r>
            <a:r>
              <a:rPr lang="de-DE" dirty="0"/>
              <a:t> </a:t>
            </a:r>
            <a:r>
              <a:rPr lang="de-DE" dirty="0" err="1"/>
              <a:t>system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linear </a:t>
            </a:r>
            <a:r>
              <a:rPr lang="de-DE" dirty="0" err="1"/>
              <a:t>equations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C70D5E3-F811-0823-9FAA-5FF6A73A5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EAA6B-85FB-CD46-8BDC-C1BC3364C8C0}" type="slidenum">
              <a:rPr lang="de-DE" smtClean="0"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85314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02382FCE-B0D1-D762-351C-C03A34D27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3352" y="3486963"/>
            <a:ext cx="4900448" cy="3234512"/>
          </a:xfrm>
          <a:prstGeom prst="rect">
            <a:avLst/>
          </a:prstGeom>
        </p:spPr>
      </p:pic>
      <p:sp>
        <p:nvSpPr>
          <p:cNvPr id="6" name="Titel 5">
            <a:extLst>
              <a:ext uri="{FF2B5EF4-FFF2-40B4-BE49-F238E27FC236}">
                <a16:creationId xmlns:a16="http://schemas.microsoft.com/office/drawing/2014/main" id="{07C08142-ABF8-7466-FE3C-F791D8C3C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Representation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262295E-5571-ED76-43F0-3507D28C6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EAA6B-85FB-CD46-8BDC-C1BC3364C8C0}" type="slidenum">
              <a:rPr lang="de-DE" smtClean="0"/>
              <a:t>23</a:t>
            </a:fld>
            <a:endParaRPr lang="de-DE"/>
          </a:p>
        </p:txBody>
      </p:sp>
      <p:pic>
        <p:nvPicPr>
          <p:cNvPr id="5" name="Inhaltsplatzhalter 6">
            <a:extLst>
              <a:ext uri="{FF2B5EF4-FFF2-40B4-BE49-F238E27FC236}">
                <a16:creationId xmlns:a16="http://schemas.microsoft.com/office/drawing/2014/main" id="{B8ADC2A2-180E-952B-8557-B3F2A4C801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45044"/>
            <a:ext cx="5971614" cy="3392961"/>
          </a:xfrm>
          <a:prstGeom prst="rect">
            <a:avLst/>
          </a:prstGeom>
        </p:spPr>
      </p:pic>
      <p:pic>
        <p:nvPicPr>
          <p:cNvPr id="7" name="Inhaltsplatzhalter 4">
            <a:extLst>
              <a:ext uri="{FF2B5EF4-FFF2-40B4-BE49-F238E27FC236}">
                <a16:creationId xmlns:a16="http://schemas.microsoft.com/office/drawing/2014/main" id="{1D256C0A-06BA-9F0F-B22C-74AEA04AFD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5676" y="181295"/>
            <a:ext cx="4458124" cy="3018786"/>
          </a:xfrm>
          <a:prstGeom prst="rect">
            <a:avLst/>
          </a:prstGeom>
        </p:spPr>
      </p:pic>
      <p:sp>
        <p:nvSpPr>
          <p:cNvPr id="11" name="Pfeil nach rechts 10">
            <a:extLst>
              <a:ext uri="{FF2B5EF4-FFF2-40B4-BE49-F238E27FC236}">
                <a16:creationId xmlns:a16="http://schemas.microsoft.com/office/drawing/2014/main" id="{E3759643-A6D7-CAB8-DEC4-6099AB8BAA6F}"/>
              </a:ext>
            </a:extLst>
          </p:cNvPr>
          <p:cNvSpPr/>
          <p:nvPr/>
        </p:nvSpPr>
        <p:spPr>
          <a:xfrm rot="19815202">
            <a:off x="5780690" y="2301766"/>
            <a:ext cx="515007" cy="29428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Pfeil nach rechts 11">
            <a:extLst>
              <a:ext uri="{FF2B5EF4-FFF2-40B4-BE49-F238E27FC236}">
                <a16:creationId xmlns:a16="http://schemas.microsoft.com/office/drawing/2014/main" id="{6A96F4EE-8CD9-E06E-94CF-325C4693F428}"/>
              </a:ext>
            </a:extLst>
          </p:cNvPr>
          <p:cNvSpPr/>
          <p:nvPr/>
        </p:nvSpPr>
        <p:spPr>
          <a:xfrm rot="5400000">
            <a:off x="7281592" y="3245226"/>
            <a:ext cx="515007" cy="29428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D8316245-AC94-434F-71E7-19AD952BE952}"/>
              </a:ext>
            </a:extLst>
          </p:cNvPr>
          <p:cNvSpPr/>
          <p:nvPr/>
        </p:nvSpPr>
        <p:spPr>
          <a:xfrm>
            <a:off x="8040414" y="3649874"/>
            <a:ext cx="430924" cy="323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8DF797CE-D053-0C5D-1128-9B11A6403882}"/>
              </a:ext>
            </a:extLst>
          </p:cNvPr>
          <p:cNvSpPr/>
          <p:nvPr/>
        </p:nvSpPr>
        <p:spPr>
          <a:xfrm>
            <a:off x="9561786" y="3631741"/>
            <a:ext cx="430924" cy="323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38E7D986-30F1-F4DD-1367-E8FBA3915F02}"/>
              </a:ext>
            </a:extLst>
          </p:cNvPr>
          <p:cNvSpPr/>
          <p:nvPr/>
        </p:nvSpPr>
        <p:spPr>
          <a:xfrm>
            <a:off x="10922876" y="4942701"/>
            <a:ext cx="430924" cy="323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E6551EE1-1EBD-2A43-BB30-C163B2179DAA}"/>
              </a:ext>
            </a:extLst>
          </p:cNvPr>
          <p:cNvSpPr/>
          <p:nvPr/>
        </p:nvSpPr>
        <p:spPr>
          <a:xfrm>
            <a:off x="9777248" y="4942701"/>
            <a:ext cx="430924" cy="323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97E59211-AF97-F0D5-705A-4D28A2C8F5D3}"/>
              </a:ext>
            </a:extLst>
          </p:cNvPr>
          <p:cNvSpPr/>
          <p:nvPr/>
        </p:nvSpPr>
        <p:spPr>
          <a:xfrm>
            <a:off x="8040414" y="6289268"/>
            <a:ext cx="570186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887BD6CB-0CAC-004F-3D45-CD66C9464B58}"/>
              </a:ext>
            </a:extLst>
          </p:cNvPr>
          <p:cNvSpPr/>
          <p:nvPr/>
        </p:nvSpPr>
        <p:spPr>
          <a:xfrm>
            <a:off x="8809428" y="4129176"/>
            <a:ext cx="430924" cy="323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63320FB3-7684-0236-50B6-DD695085FD4B}"/>
              </a:ext>
            </a:extLst>
          </p:cNvPr>
          <p:cNvSpPr/>
          <p:nvPr/>
        </p:nvSpPr>
        <p:spPr>
          <a:xfrm>
            <a:off x="8809428" y="5746432"/>
            <a:ext cx="430924" cy="323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94856A78-C020-EE5F-9E59-9B1F6A497A62}"/>
              </a:ext>
            </a:extLst>
          </p:cNvPr>
          <p:cNvSpPr/>
          <p:nvPr/>
        </p:nvSpPr>
        <p:spPr>
          <a:xfrm>
            <a:off x="8255876" y="4950872"/>
            <a:ext cx="430924" cy="323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BE688A1F-638E-7C9E-92B5-E166B20F5A3C}"/>
              </a:ext>
            </a:extLst>
          </p:cNvPr>
          <p:cNvSpPr/>
          <p:nvPr/>
        </p:nvSpPr>
        <p:spPr>
          <a:xfrm>
            <a:off x="7152289" y="4935078"/>
            <a:ext cx="430924" cy="323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DFFD9AF4-A286-6D29-63A1-2CC750CFBA8E}"/>
              </a:ext>
            </a:extLst>
          </p:cNvPr>
          <p:cNvSpPr/>
          <p:nvPr/>
        </p:nvSpPr>
        <p:spPr>
          <a:xfrm>
            <a:off x="9551276" y="6277569"/>
            <a:ext cx="430924" cy="323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B75225FC-CA54-35CC-473C-CB7F1CBB9517}"/>
              </a:ext>
            </a:extLst>
          </p:cNvPr>
          <p:cNvSpPr/>
          <p:nvPr/>
        </p:nvSpPr>
        <p:spPr>
          <a:xfrm>
            <a:off x="6968359" y="1358693"/>
            <a:ext cx="215460" cy="4909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62B409E2-9873-6876-21AA-C9A3A4327B3C}"/>
              </a:ext>
            </a:extLst>
          </p:cNvPr>
          <p:cNvSpPr/>
          <p:nvPr/>
        </p:nvSpPr>
        <p:spPr>
          <a:xfrm>
            <a:off x="8120557" y="1447540"/>
            <a:ext cx="215460" cy="4909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64DD8DBE-C76A-05DF-478C-5CB57E689EF5}"/>
              </a:ext>
            </a:extLst>
          </p:cNvPr>
          <p:cNvSpPr/>
          <p:nvPr/>
        </p:nvSpPr>
        <p:spPr>
          <a:xfrm>
            <a:off x="8707820" y="2165814"/>
            <a:ext cx="215460" cy="4909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E75835F8-D1DB-D8E1-DC72-CB50C853C896}"/>
              </a:ext>
            </a:extLst>
          </p:cNvPr>
          <p:cNvSpPr/>
          <p:nvPr/>
        </p:nvSpPr>
        <p:spPr>
          <a:xfrm>
            <a:off x="9737178" y="1447540"/>
            <a:ext cx="215460" cy="4909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64F3D8F9-634D-BEAB-6511-4C86275D3FA7}"/>
              </a:ext>
            </a:extLst>
          </p:cNvPr>
          <p:cNvSpPr/>
          <p:nvPr/>
        </p:nvSpPr>
        <p:spPr>
          <a:xfrm>
            <a:off x="10954408" y="1392581"/>
            <a:ext cx="215460" cy="4909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DB29020F-622A-0AF8-A46A-575B1E98B804}"/>
              </a:ext>
            </a:extLst>
          </p:cNvPr>
          <p:cNvSpPr/>
          <p:nvPr/>
        </p:nvSpPr>
        <p:spPr>
          <a:xfrm>
            <a:off x="8739350" y="626109"/>
            <a:ext cx="215460" cy="4909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3FE8874C-B23D-FB88-B397-AB6189874765}"/>
              </a:ext>
            </a:extLst>
          </p:cNvPr>
          <p:cNvSpPr/>
          <p:nvPr/>
        </p:nvSpPr>
        <p:spPr>
          <a:xfrm>
            <a:off x="7903779" y="52558"/>
            <a:ext cx="296156" cy="4170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3D371BF4-AB29-7436-FB2E-741837917EC9}"/>
              </a:ext>
            </a:extLst>
          </p:cNvPr>
          <p:cNvSpPr/>
          <p:nvPr/>
        </p:nvSpPr>
        <p:spPr>
          <a:xfrm>
            <a:off x="9424218" y="75506"/>
            <a:ext cx="296156" cy="4170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2C3409BC-63E8-8DD4-D79D-9D16CEFDC747}"/>
              </a:ext>
            </a:extLst>
          </p:cNvPr>
          <p:cNvSpPr/>
          <p:nvPr/>
        </p:nvSpPr>
        <p:spPr>
          <a:xfrm>
            <a:off x="7903779" y="2854046"/>
            <a:ext cx="296156" cy="4170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66CDFE69-3B18-D270-38E2-5958FA198DCD}"/>
              </a:ext>
            </a:extLst>
          </p:cNvPr>
          <p:cNvSpPr/>
          <p:nvPr/>
        </p:nvSpPr>
        <p:spPr>
          <a:xfrm>
            <a:off x="9413708" y="2854046"/>
            <a:ext cx="296156" cy="4170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8DA79F2C-A803-A309-E8B9-6F989B0B326E}"/>
              </a:ext>
            </a:extLst>
          </p:cNvPr>
          <p:cNvSpPr txBox="1"/>
          <p:nvPr/>
        </p:nvSpPr>
        <p:spPr>
          <a:xfrm>
            <a:off x="6886063" y="1394521"/>
            <a:ext cx="4010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B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1DF17B9E-C722-ABE2-4FA6-242378611E71}"/>
              </a:ext>
            </a:extLst>
          </p:cNvPr>
          <p:cNvSpPr txBox="1"/>
          <p:nvPr/>
        </p:nvSpPr>
        <p:spPr>
          <a:xfrm>
            <a:off x="8040414" y="1390188"/>
            <a:ext cx="4010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B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008E2C36-12FF-DB44-F586-4C8E44977213}"/>
              </a:ext>
            </a:extLst>
          </p:cNvPr>
          <p:cNvSpPr txBox="1"/>
          <p:nvPr/>
        </p:nvSpPr>
        <p:spPr>
          <a:xfrm>
            <a:off x="9644372" y="1390188"/>
            <a:ext cx="4010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B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AA85018A-4363-B840-1110-C554F9416DD7}"/>
              </a:ext>
            </a:extLst>
          </p:cNvPr>
          <p:cNvSpPr txBox="1"/>
          <p:nvPr/>
        </p:nvSpPr>
        <p:spPr>
          <a:xfrm>
            <a:off x="10861602" y="1390188"/>
            <a:ext cx="4010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B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6E5034B2-2112-73A8-4288-3611B72ADAD8}"/>
              </a:ext>
            </a:extLst>
          </p:cNvPr>
          <p:cNvSpPr txBox="1"/>
          <p:nvPr/>
        </p:nvSpPr>
        <p:spPr>
          <a:xfrm>
            <a:off x="8646544" y="593859"/>
            <a:ext cx="4010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B</a:t>
            </a: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869A803F-7818-4DA4-91CC-89A2FAE5AF32}"/>
              </a:ext>
            </a:extLst>
          </p:cNvPr>
          <p:cNvSpPr txBox="1"/>
          <p:nvPr/>
        </p:nvSpPr>
        <p:spPr>
          <a:xfrm>
            <a:off x="8610600" y="2239400"/>
            <a:ext cx="4010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B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4F2ECC87-86CB-28EC-89DC-EE2F8D7E5B1F}"/>
              </a:ext>
            </a:extLst>
          </p:cNvPr>
          <p:cNvSpPr txBox="1"/>
          <p:nvPr/>
        </p:nvSpPr>
        <p:spPr>
          <a:xfrm>
            <a:off x="7832887" y="54871"/>
            <a:ext cx="4379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N</a:t>
            </a: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6DA0881B-43D4-97E0-CFCE-835D8CC90F57}"/>
              </a:ext>
            </a:extLst>
          </p:cNvPr>
          <p:cNvSpPr txBox="1"/>
          <p:nvPr/>
        </p:nvSpPr>
        <p:spPr>
          <a:xfrm>
            <a:off x="9351133" y="49159"/>
            <a:ext cx="4379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N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5B2E6C0B-9CE7-1853-59BB-FDA3DF681A46}"/>
              </a:ext>
            </a:extLst>
          </p:cNvPr>
          <p:cNvSpPr txBox="1"/>
          <p:nvPr/>
        </p:nvSpPr>
        <p:spPr>
          <a:xfrm>
            <a:off x="7837346" y="2809977"/>
            <a:ext cx="4379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N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5E0027D2-3F47-91A0-6558-A1FE4827F99B}"/>
              </a:ext>
            </a:extLst>
          </p:cNvPr>
          <p:cNvSpPr txBox="1"/>
          <p:nvPr/>
        </p:nvSpPr>
        <p:spPr>
          <a:xfrm>
            <a:off x="9342816" y="2788221"/>
            <a:ext cx="4379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N</a:t>
            </a: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1529C7C4-4F17-E321-C454-7EF4ABDCA67E}"/>
              </a:ext>
            </a:extLst>
          </p:cNvPr>
          <p:cNvSpPr txBox="1"/>
          <p:nvPr/>
        </p:nvSpPr>
        <p:spPr>
          <a:xfrm>
            <a:off x="5664779" y="1881000"/>
            <a:ext cx="746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graph</a:t>
            </a:r>
            <a:endParaRPr lang="de-DE" dirty="0"/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AFE33A89-3887-02E3-1B3C-8FAF7DF4DBAF}"/>
              </a:ext>
            </a:extLst>
          </p:cNvPr>
          <p:cNvSpPr txBox="1"/>
          <p:nvPr/>
        </p:nvSpPr>
        <p:spPr>
          <a:xfrm>
            <a:off x="6243984" y="3048557"/>
            <a:ext cx="11996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reference</a:t>
            </a:r>
            <a:endParaRPr lang="de-DE" dirty="0"/>
          </a:p>
          <a:p>
            <a:r>
              <a:rPr lang="de-DE" dirty="0" err="1"/>
              <a:t>directions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106064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B2A7A88-3120-5324-049B-07B47F53D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Formulation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Equations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Inhaltsplatzhalter 4">
                <a:extLst>
                  <a:ext uri="{FF2B5EF4-FFF2-40B4-BE49-F238E27FC236}">
                    <a16:creationId xmlns:a16="http://schemas.microsoft.com/office/drawing/2014/main" id="{A0D7386B-EDDE-DB06-634E-9358541F3C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DE" sz="2600" dirty="0"/>
                  <a:t>f</a:t>
                </a:r>
                <a:r>
                  <a:rPr lang="de-DE" sz="2600" dirty="0" err="1"/>
                  <a:t>or</a:t>
                </a:r>
                <a:r>
                  <a:rPr lang="de-DE" sz="2600" dirty="0"/>
                  <a:t> network </a:t>
                </a:r>
                <a:r>
                  <a:rPr lang="de-DE" sz="2600" dirty="0" err="1"/>
                  <a:t>with</a:t>
                </a:r>
                <a:r>
                  <a:rPr lang="de-DE" sz="2600" dirty="0"/>
                  <a:t> </a:t>
                </a:r>
                <a14:m>
                  <m:oMath xmlns:m="http://schemas.openxmlformats.org/officeDocument/2006/math"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de-DE" sz="2600" dirty="0"/>
                  <a:t> </a:t>
                </a:r>
                <a:r>
                  <a:rPr lang="de-DE" sz="2600" dirty="0" err="1"/>
                  <a:t>nodes</a:t>
                </a:r>
                <a:r>
                  <a:rPr lang="de-DE" sz="2600" dirty="0"/>
                  <a:t>: </a:t>
                </a:r>
                <a14:m>
                  <m:oMath xmlns:m="http://schemas.openxmlformats.org/officeDocument/2006/math"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de-DE" sz="2600" dirty="0"/>
                  <a:t> </a:t>
                </a:r>
                <a:r>
                  <a:rPr lang="de-DE" sz="2600" dirty="0" err="1"/>
                  <a:t>linearly</a:t>
                </a:r>
                <a:r>
                  <a:rPr lang="de-DE" sz="2600" dirty="0"/>
                  <a:t> </a:t>
                </a:r>
                <a:r>
                  <a:rPr lang="de-DE" sz="2600" dirty="0" err="1"/>
                  <a:t>independent</a:t>
                </a:r>
                <a:r>
                  <a:rPr lang="de-DE" sz="2600" dirty="0"/>
                  <a:t> </a:t>
                </a:r>
                <a:r>
                  <a:rPr lang="de-DE" sz="2600" dirty="0" err="1"/>
                  <a:t>node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equations</a:t>
                </a:r>
                <a:endParaRPr lang="de-DE" sz="2600" dirty="0"/>
              </a:p>
              <a:p>
                <a:pPr marL="0" indent="0">
                  <a:buNone/>
                </a:pPr>
                <a:r>
                  <a:rPr lang="de-DE" sz="2600" dirty="0" err="1"/>
                  <a:t>here</a:t>
                </a:r>
                <a:r>
                  <a:rPr lang="de-DE" sz="2600" dirty="0"/>
                  <a:t>:</a:t>
                </a:r>
              </a:p>
              <a:p>
                <a:r>
                  <a:rPr lang="de-DE" sz="2600" dirty="0"/>
                  <a:t>N1: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sz="26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sz="26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de-DE" sz="26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de-DE" sz="2600" dirty="0"/>
              </a:p>
              <a:p>
                <a:r>
                  <a:rPr lang="de-DE" sz="2600" dirty="0"/>
                  <a:t>N2:	</a:t>
                </a:r>
                <a14:m>
                  <m:oMath xmlns:m="http://schemas.openxmlformats.org/officeDocument/2006/math">
                    <m:r>
                      <a:rPr lang="de-DE" sz="26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sz="26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sz="26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de-DE" sz="26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de-DE" sz="2600" dirty="0"/>
              </a:p>
              <a:p>
                <a:r>
                  <a:rPr lang="de-DE" sz="2600" dirty="0"/>
                  <a:t>N3: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de-DE" sz="26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de-DE" sz="26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de-DE" sz="26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de-DE" sz="26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:r>
                  <a:rPr lang="de-DE" sz="2600" dirty="0" err="1"/>
                  <a:t>for</a:t>
                </a:r>
                <a:r>
                  <a:rPr lang="de-DE" sz="2600" dirty="0"/>
                  <a:t> </a:t>
                </a:r>
                <a14:m>
                  <m:oMath xmlns:m="http://schemas.openxmlformats.org/officeDocument/2006/math"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de-DE" sz="2600" dirty="0"/>
                  <a:t> </a:t>
                </a:r>
                <a:r>
                  <a:rPr lang="de-DE" sz="2600" dirty="0" err="1"/>
                  <a:t>branches</a:t>
                </a:r>
                <a:r>
                  <a:rPr lang="de-DE" sz="2600" dirty="0"/>
                  <a:t>: </a:t>
                </a:r>
                <a14:m>
                  <m:oMath xmlns:m="http://schemas.openxmlformats.org/officeDocument/2006/math"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de-DE" sz="26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de-DE" sz="2600" b="0" i="0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de-DE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de-DE" sz="2600" dirty="0"/>
                  <a:t> linearly </a:t>
                </a:r>
                <a:r>
                  <a:rPr lang="de-DE" sz="2600" dirty="0" err="1"/>
                  <a:t>independent</a:t>
                </a:r>
                <a:r>
                  <a:rPr lang="de-DE" sz="2600" dirty="0"/>
                  <a:t> loop </a:t>
                </a:r>
                <a:r>
                  <a:rPr lang="de-DE" sz="2600" dirty="0" err="1"/>
                  <a:t>equations</a:t>
                </a:r>
                <a:endParaRPr lang="de-DE" sz="2600" dirty="0"/>
              </a:p>
              <a:p>
                <a:pPr marL="0" indent="0">
                  <a:buNone/>
                </a:pPr>
                <a:r>
                  <a:rPr lang="de-DE" sz="2600" dirty="0" err="1"/>
                  <a:t>here</a:t>
                </a:r>
                <a:r>
                  <a:rPr lang="de-DE" sz="2600" dirty="0"/>
                  <a:t>: </a:t>
                </a:r>
                <a14:m>
                  <m:oMath xmlns:m="http://schemas.openxmlformats.org/officeDocument/2006/math"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de-DE" sz="2600" b="0" i="0" smtClean="0">
                        <a:latin typeface="Cambria Math" panose="02040503050406030204" pitchFamily="18" charset="0"/>
                      </a:rPr>
                      <m:t>=6, </m:t>
                    </m:r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de-DE" sz="2600" b="0" i="0" smtClean="0">
                        <a:latin typeface="Cambria Math" panose="02040503050406030204" pitchFamily="18" charset="0"/>
                      </a:rPr>
                      <m:t>=4</m:t>
                    </m:r>
                    <m:r>
                      <a:rPr lang="de-DE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de-DE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de-DE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de-DE" sz="2600" dirty="0">
                    <a:sym typeface="Wingdings" pitchFamily="2" charset="2"/>
                  </a:rPr>
                  <a:t>  </a:t>
                </a:r>
                <a:r>
                  <a:rPr lang="de-DE" sz="2600" dirty="0" err="1">
                    <a:sym typeface="Wingdings" pitchFamily="2" charset="2"/>
                  </a:rPr>
                  <a:t>n</a:t>
                </a:r>
                <a:r>
                  <a:rPr lang="de-DE" sz="2600" dirty="0" err="1"/>
                  <a:t>eed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to</a:t>
                </a:r>
                <a:r>
                  <a:rPr lang="de-DE" sz="2600" dirty="0"/>
                  <a:t> pick 3 out </a:t>
                </a:r>
                <a:r>
                  <a:rPr lang="de-DE" sz="2600" dirty="0" err="1"/>
                  <a:t>of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the</a:t>
                </a:r>
                <a:r>
                  <a:rPr lang="de-DE" sz="2600" dirty="0"/>
                  <a:t> 6 </a:t>
                </a:r>
                <a:r>
                  <a:rPr lang="de-DE" sz="2600" dirty="0" err="1"/>
                  <a:t>loops</a:t>
                </a:r>
                <a:endParaRPr lang="de-DE" sz="2600" dirty="0"/>
              </a:p>
            </p:txBody>
          </p:sp>
        </mc:Choice>
        <mc:Fallback xmlns="">
          <p:sp>
            <p:nvSpPr>
              <p:cNvPr id="5" name="Inhaltsplatzhalter 4">
                <a:extLst>
                  <a:ext uri="{FF2B5EF4-FFF2-40B4-BE49-F238E27FC236}">
                    <a16:creationId xmlns:a16="http://schemas.microsoft.com/office/drawing/2014/main" id="{A0D7386B-EDDE-DB06-634E-9358541F3C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03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1F37AC3-A88C-8107-00C4-B3A62BC25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EAA6B-85FB-CD46-8BDC-C1BC3364C8C0}" type="slidenum">
              <a:rPr lang="de-DE" smtClean="0"/>
              <a:t>24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53632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43165F-2D62-D6EA-B215-80F59E59F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Approach 1: Use </a:t>
            </a:r>
            <a:r>
              <a:rPr lang="de-DE" dirty="0" err="1"/>
              <a:t>Meshes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245D6BE-6FB6-5E15-AB35-8DB6F7EC6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/>
              <a:t>meshes</a:t>
            </a:r>
            <a:r>
              <a:rPr lang="de-DE" dirty="0"/>
              <a:t>: </a:t>
            </a:r>
            <a:r>
              <a:rPr lang="de-DE" dirty="0" err="1"/>
              <a:t>smallest</a:t>
            </a:r>
            <a:r>
              <a:rPr lang="de-DE" dirty="0"/>
              <a:t> possible </a:t>
            </a:r>
            <a:r>
              <a:rPr lang="de-DE" dirty="0" err="1"/>
              <a:t>loops</a:t>
            </a:r>
            <a:r>
              <a:rPr lang="de-DE" dirty="0"/>
              <a:t>, not </a:t>
            </a:r>
            <a:r>
              <a:rPr lang="de-DE" dirty="0" err="1"/>
              <a:t>enclosing</a:t>
            </a:r>
            <a:r>
              <a:rPr lang="de-DE" dirty="0"/>
              <a:t> </a:t>
            </a:r>
            <a:r>
              <a:rPr lang="de-DE" dirty="0" err="1"/>
              <a:t>any</a:t>
            </a:r>
            <a:r>
              <a:rPr lang="de-DE" dirty="0"/>
              <a:t> </a:t>
            </a:r>
            <a:r>
              <a:rPr lang="de-DE" dirty="0" err="1"/>
              <a:t>other</a:t>
            </a:r>
            <a:r>
              <a:rPr lang="de-DE" dirty="0"/>
              <a:t> loop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here</a:t>
            </a:r>
            <a:r>
              <a:rPr lang="de-DE" dirty="0"/>
              <a:t>: 3 </a:t>
            </a:r>
            <a:r>
              <a:rPr lang="de-DE" dirty="0" err="1"/>
              <a:t>meshes</a:t>
            </a:r>
            <a:r>
              <a:rPr lang="de-DE" dirty="0"/>
              <a:t> </a:t>
            </a:r>
            <a:r>
              <a:rPr lang="de-DE" dirty="0" err="1"/>
              <a:t>give</a:t>
            </a:r>
            <a:r>
              <a:rPr lang="de-DE" dirty="0"/>
              <a:t> 3 </a:t>
            </a:r>
            <a:r>
              <a:rPr lang="de-DE" dirty="0" err="1"/>
              <a:t>linearly</a:t>
            </a:r>
            <a:r>
              <a:rPr lang="de-DE" dirty="0"/>
              <a:t> </a:t>
            </a:r>
            <a:r>
              <a:rPr lang="de-DE" dirty="0" err="1"/>
              <a:t>independent</a:t>
            </a:r>
            <a:r>
              <a:rPr lang="de-DE" dirty="0"/>
              <a:t> loop </a:t>
            </a:r>
            <a:r>
              <a:rPr lang="de-DE" dirty="0" err="1"/>
              <a:t>equations</a:t>
            </a:r>
            <a:endParaRPr lang="de-DE" dirty="0"/>
          </a:p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4DF1586-28FA-DE40-228E-0D1DF476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EAA6B-85FB-CD46-8BDC-C1BC3364C8C0}" type="slidenum">
              <a:rPr lang="de-DE" smtClean="0"/>
              <a:t>25</a:t>
            </a:fld>
            <a:endParaRPr lang="de-DE"/>
          </a:p>
        </p:txBody>
      </p:sp>
      <p:pic>
        <p:nvPicPr>
          <p:cNvPr id="6" name="Inhaltsplatzhalter 4">
            <a:extLst>
              <a:ext uri="{FF2B5EF4-FFF2-40B4-BE49-F238E27FC236}">
                <a16:creationId xmlns:a16="http://schemas.microsoft.com/office/drawing/2014/main" id="{6C0CC39D-F7A6-5114-0067-5FA9F3428D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2476" y="3561136"/>
            <a:ext cx="4458124" cy="3018786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F04A8789-86A9-6081-6718-D68A1261D9F4}"/>
              </a:ext>
            </a:extLst>
          </p:cNvPr>
          <p:cNvSpPr/>
          <p:nvPr/>
        </p:nvSpPr>
        <p:spPr>
          <a:xfrm>
            <a:off x="4225158" y="4738534"/>
            <a:ext cx="401067" cy="4909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B112F37-78F3-5675-818F-216BE08045D8}"/>
              </a:ext>
            </a:extLst>
          </p:cNvPr>
          <p:cNvSpPr/>
          <p:nvPr/>
        </p:nvSpPr>
        <p:spPr>
          <a:xfrm>
            <a:off x="5377357" y="4827381"/>
            <a:ext cx="401068" cy="4909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D0A820E-5DAF-D31B-F4C7-5DFB429B02D9}"/>
              </a:ext>
            </a:extLst>
          </p:cNvPr>
          <p:cNvSpPr/>
          <p:nvPr/>
        </p:nvSpPr>
        <p:spPr>
          <a:xfrm>
            <a:off x="5964620" y="5545655"/>
            <a:ext cx="401072" cy="4909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4A48EEC6-EA1E-62BE-74C7-5AE521537201}"/>
              </a:ext>
            </a:extLst>
          </p:cNvPr>
          <p:cNvSpPr/>
          <p:nvPr/>
        </p:nvSpPr>
        <p:spPr>
          <a:xfrm>
            <a:off x="6993977" y="4827381"/>
            <a:ext cx="401071" cy="4909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A98D1361-EC09-DFF2-7EEE-01989D146174}"/>
              </a:ext>
            </a:extLst>
          </p:cNvPr>
          <p:cNvSpPr/>
          <p:nvPr/>
        </p:nvSpPr>
        <p:spPr>
          <a:xfrm>
            <a:off x="8211207" y="4772422"/>
            <a:ext cx="492197" cy="4909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E35E0DC1-A3CA-00EC-31AD-A637E2E439BC}"/>
              </a:ext>
            </a:extLst>
          </p:cNvPr>
          <p:cNvSpPr/>
          <p:nvPr/>
        </p:nvSpPr>
        <p:spPr>
          <a:xfrm>
            <a:off x="5996150" y="4005950"/>
            <a:ext cx="401072" cy="4909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9376562F-B024-C4B8-3D83-4D157FD1ED57}"/>
              </a:ext>
            </a:extLst>
          </p:cNvPr>
          <p:cNvSpPr/>
          <p:nvPr/>
        </p:nvSpPr>
        <p:spPr>
          <a:xfrm>
            <a:off x="5160579" y="3432399"/>
            <a:ext cx="401068" cy="4170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2FD02793-F7B3-13DE-A7C6-BFD197977F09}"/>
              </a:ext>
            </a:extLst>
          </p:cNvPr>
          <p:cNvSpPr/>
          <p:nvPr/>
        </p:nvSpPr>
        <p:spPr>
          <a:xfrm>
            <a:off x="6681018" y="3455347"/>
            <a:ext cx="528420" cy="4170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7E412E7A-66A7-DF94-1B4F-733F3478049C}"/>
              </a:ext>
            </a:extLst>
          </p:cNvPr>
          <p:cNvSpPr/>
          <p:nvPr/>
        </p:nvSpPr>
        <p:spPr>
          <a:xfrm>
            <a:off x="5160578" y="6233887"/>
            <a:ext cx="537707" cy="4170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BD36348C-73A7-3A4A-F32F-1BDCA0F35904}"/>
              </a:ext>
            </a:extLst>
          </p:cNvPr>
          <p:cNvSpPr/>
          <p:nvPr/>
        </p:nvSpPr>
        <p:spPr>
          <a:xfrm>
            <a:off x="6670508" y="6233887"/>
            <a:ext cx="538930" cy="4170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7E525C53-F1C2-EBD0-D418-3ACA789F3E26}"/>
              </a:ext>
            </a:extLst>
          </p:cNvPr>
          <p:cNvSpPr/>
          <p:nvPr/>
        </p:nvSpPr>
        <p:spPr>
          <a:xfrm>
            <a:off x="4214648" y="4005949"/>
            <a:ext cx="1083464" cy="208638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4A7F849F-4E58-D571-C22E-DC4FC9B9D2FE}"/>
              </a:ext>
            </a:extLst>
          </p:cNvPr>
          <p:cNvSpPr/>
          <p:nvPr/>
        </p:nvSpPr>
        <p:spPr>
          <a:xfrm>
            <a:off x="6993977" y="3999674"/>
            <a:ext cx="1088599" cy="2086385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E733ABB2-423C-D280-B379-AF785F3966CC}"/>
              </a:ext>
            </a:extLst>
          </p:cNvPr>
          <p:cNvSpPr/>
          <p:nvPr/>
        </p:nvSpPr>
        <p:spPr>
          <a:xfrm>
            <a:off x="5407123" y="3999674"/>
            <a:ext cx="1486767" cy="2086385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D338373B-3F11-E2F2-EA1F-D79AC6A2E01F}"/>
              </a:ext>
            </a:extLst>
          </p:cNvPr>
          <p:cNvSpPr txBox="1"/>
          <p:nvPr/>
        </p:nvSpPr>
        <p:spPr>
          <a:xfrm>
            <a:off x="8431355" y="38906"/>
            <a:ext cx="3760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alternative: </a:t>
            </a:r>
            <a:r>
              <a:rPr lang="de-DE" dirty="0" err="1"/>
              <a:t>mesh</a:t>
            </a:r>
            <a:r>
              <a:rPr lang="de-DE" dirty="0"/>
              <a:t> </a:t>
            </a:r>
            <a:r>
              <a:rPr lang="de-DE" dirty="0" err="1"/>
              <a:t>analysis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805744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6C9B75-95E4-65F0-9782-CACC66BB6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Approach 2: Method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Complete</a:t>
            </a:r>
            <a:r>
              <a:rPr lang="de-DE" dirty="0"/>
              <a:t> </a:t>
            </a:r>
            <a:r>
              <a:rPr lang="de-DE" dirty="0" err="1"/>
              <a:t>Tree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7689362-9842-B12A-4805-02CDC6694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EAA6B-85FB-CD46-8BDC-C1BC3364C8C0}" type="slidenum">
              <a:rPr lang="de-DE" smtClean="0"/>
              <a:t>26</a:t>
            </a:fld>
            <a:endParaRPr lang="de-DE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0C9BFEAF-8003-A50C-7CB6-52570826FF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4468194" cy="3518263"/>
          </a:xfrm>
          <a:prstGeom prst="rect">
            <a:avLst/>
          </a:prstGeom>
        </p:spPr>
      </p:pic>
      <p:pic>
        <p:nvPicPr>
          <p:cNvPr id="6" name="Inhaltsplatzhalter 4">
            <a:extLst>
              <a:ext uri="{FF2B5EF4-FFF2-40B4-BE49-F238E27FC236}">
                <a16:creationId xmlns:a16="http://schemas.microsoft.com/office/drawing/2014/main" id="{3B500EBF-DF2C-D6BC-DEFD-304661000E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0638" y="1690688"/>
            <a:ext cx="4973162" cy="17886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hteck 6">
                <a:extLst>
                  <a:ext uri="{FF2B5EF4-FFF2-40B4-BE49-F238E27FC236}">
                    <a16:creationId xmlns:a16="http://schemas.microsoft.com/office/drawing/2014/main" id="{CB5690A0-41B5-D4E2-2366-6531596240F0}"/>
                  </a:ext>
                </a:extLst>
              </p:cNvPr>
              <p:cNvSpPr/>
              <p:nvPr/>
            </p:nvSpPr>
            <p:spPr>
              <a:xfrm>
                <a:off x="6380638" y="4804918"/>
                <a:ext cx="4973162" cy="149220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de-DE" sz="2000" dirty="0">
                    <a:latin typeface="Times New Roman" panose="020206030504050203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M1: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0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de-DE" sz="20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𝑈</m:t>
                        </m:r>
                      </m:e>
                      <m:sub>
                        <m:r>
                          <a:rPr lang="de-DE" sz="20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de-DE" sz="2000" i="1">
                        <a:latin typeface="Cambria Math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de-DE" sz="20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de-DE" sz="20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𝑈</m:t>
                        </m:r>
                      </m:e>
                      <m:sub>
                        <m:r>
                          <a:rPr lang="de-DE" sz="20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de-DE" sz="2000" i="1">
                        <a:latin typeface="Cambria Math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de-DE" sz="20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de-DE" sz="20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𝑈</m:t>
                        </m:r>
                      </m:e>
                      <m:sub>
                        <m:r>
                          <a:rPr lang="de-DE" sz="20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𝑞</m:t>
                        </m:r>
                        <m:r>
                          <a:rPr lang="de-DE" sz="20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de-DE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de-DE" sz="2000" dirty="0">
                    <a:latin typeface="Times New Roman" panose="020206030504050203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M3: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0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de-DE" sz="20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𝑈</m:t>
                        </m:r>
                      </m:e>
                      <m:sub>
                        <m:r>
                          <a:rPr lang="de-DE" sz="20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5</m:t>
                        </m:r>
                      </m:sub>
                    </m:sSub>
                    <m:r>
                      <a:rPr lang="de-DE" sz="2000" i="1">
                        <a:latin typeface="Cambria Math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de-DE" sz="20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de-DE" sz="20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𝑈</m:t>
                        </m:r>
                      </m:e>
                      <m:sub>
                        <m:r>
                          <a:rPr lang="de-DE" sz="20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6</m:t>
                        </m:r>
                      </m:sub>
                    </m:sSub>
                    <m:r>
                      <a:rPr lang="de-DE" sz="2000" i="1">
                        <a:latin typeface="Cambria Math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de-DE" sz="20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de-DE" sz="20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𝑈</m:t>
                        </m:r>
                      </m:e>
                      <m:sub>
                        <m:r>
                          <a:rPr lang="de-DE" sz="20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𝑞</m:t>
                        </m:r>
                        <m:r>
                          <a:rPr lang="de-DE" sz="20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5</m:t>
                        </m:r>
                      </m:sub>
                    </m:sSub>
                  </m:oMath>
                </a14:m>
                <a:endParaRPr lang="de-DE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de-DE" sz="2000" dirty="0">
                    <a:latin typeface="Times New Roman" panose="020206030504050203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M4: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0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de-DE" sz="20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𝑈</m:t>
                        </m:r>
                      </m:e>
                      <m:sub>
                        <m:r>
                          <a:rPr lang="de-DE" sz="20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de-DE" sz="2000" i="1">
                        <a:latin typeface="Cambria Math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de-DE" sz="20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de-DE" sz="20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𝑈</m:t>
                        </m:r>
                      </m:e>
                      <m:sub>
                        <m:r>
                          <a:rPr lang="de-DE" sz="20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de-DE" sz="2000" i="1">
                        <a:latin typeface="Cambria Math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de-DE" sz="20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de-DE" sz="20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𝑈</m:t>
                        </m:r>
                      </m:e>
                      <m:sub>
                        <m:r>
                          <a:rPr lang="de-DE" sz="20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4</m:t>
                        </m:r>
                      </m:sub>
                    </m:sSub>
                    <m:r>
                      <a:rPr lang="de-DE" sz="2000" i="1">
                        <a:latin typeface="Cambria Math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de-DE" sz="20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de-DE" sz="20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𝑈</m:t>
                        </m:r>
                      </m:e>
                      <m:sub>
                        <m:r>
                          <a:rPr lang="de-DE" sz="20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5</m:t>
                        </m:r>
                      </m:sub>
                    </m:sSub>
                    <m:r>
                      <a:rPr lang="de-DE" sz="2000" i="1">
                        <a:latin typeface="Cambria Math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de-DE" sz="20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de-DE" sz="20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𝑈</m:t>
                        </m:r>
                      </m:e>
                      <m:sub>
                        <m:r>
                          <a:rPr lang="de-DE" sz="20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𝑞</m:t>
                        </m:r>
                        <m:r>
                          <a:rPr lang="de-DE" sz="20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de-DE" sz="2000" i="1">
                        <a:latin typeface="Cambria Math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de-DE" sz="20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de-DE" sz="20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𝑈</m:t>
                        </m:r>
                      </m:e>
                      <m:sub>
                        <m:r>
                          <a:rPr lang="de-DE" sz="20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𝑞</m:t>
                        </m:r>
                        <m:r>
                          <a:rPr lang="de-DE" sz="2000" i="1"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Times New Roman" panose="02020603050405020304" pitchFamily="18" charset="0"/>
                          </a:rPr>
                          <m:t>5</m:t>
                        </m:r>
                      </m:sub>
                    </m:sSub>
                  </m:oMath>
                </a14:m>
                <a:endParaRPr lang="de-DE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Rechteck 6">
                <a:extLst>
                  <a:ext uri="{FF2B5EF4-FFF2-40B4-BE49-F238E27FC236}">
                    <a16:creationId xmlns:a16="http://schemas.microsoft.com/office/drawing/2014/main" id="{CB5690A0-41B5-D4E2-2366-6531596240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0638" y="4804918"/>
                <a:ext cx="4973162" cy="1492203"/>
              </a:xfrm>
              <a:prstGeom prst="rect">
                <a:avLst/>
              </a:prstGeom>
              <a:blipFill>
                <a:blip r:embed="rId4"/>
                <a:stretch>
                  <a:fillRect l="-1272" b="-423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feld 8">
            <a:extLst>
              <a:ext uri="{FF2B5EF4-FFF2-40B4-BE49-F238E27FC236}">
                <a16:creationId xmlns:a16="http://schemas.microsoft.com/office/drawing/2014/main" id="{1038E562-6ECB-53F9-46B3-BEA7A8387565}"/>
              </a:ext>
            </a:extLst>
          </p:cNvPr>
          <p:cNvSpPr txBox="1"/>
          <p:nvPr/>
        </p:nvSpPr>
        <p:spPr>
          <a:xfrm>
            <a:off x="6243132" y="3805807"/>
            <a:ext cx="52481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 err="1"/>
              <a:t>get</a:t>
            </a:r>
            <a:r>
              <a:rPr lang="de-DE" dirty="0"/>
              <a:t> fundamental </a:t>
            </a:r>
            <a:r>
              <a:rPr lang="de-DE" dirty="0" err="1"/>
              <a:t>loops</a:t>
            </a:r>
            <a:r>
              <a:rPr lang="de-DE" dirty="0"/>
              <a:t> (not </a:t>
            </a:r>
            <a:r>
              <a:rPr lang="de-DE" dirty="0" err="1"/>
              <a:t>necessarily</a:t>
            </a:r>
            <a:r>
              <a:rPr lang="de-DE" dirty="0"/>
              <a:t> </a:t>
            </a:r>
            <a:r>
              <a:rPr lang="de-DE" dirty="0" err="1"/>
              <a:t>meshes</a:t>
            </a:r>
            <a:r>
              <a:rPr lang="de-DE" dirty="0"/>
              <a:t>) </a:t>
            </a:r>
            <a:r>
              <a:rPr lang="de-DE" dirty="0" err="1"/>
              <a:t>by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adding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the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different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co-tree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branches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back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to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the</a:t>
            </a:r>
            <a:r>
              <a:rPr lang="de-DE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dirty="0" err="1">
                <a:solidFill>
                  <a:srgbClr val="0E0E0E"/>
                </a:solidFill>
                <a:effectLst/>
                <a:latin typeface=".AppleSystemUIFont"/>
              </a:rPr>
              <a:t>tree</a:t>
            </a:r>
            <a:endParaRPr lang="de-DE" dirty="0">
              <a:solidFill>
                <a:srgbClr val="0E0E0E"/>
              </a:solidFill>
              <a:effectLst/>
              <a:latin typeface=".AppleSystemUIFont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72B4C8CE-3C69-0BA5-95B0-A491AC324D79}"/>
              </a:ext>
            </a:extLst>
          </p:cNvPr>
          <p:cNvSpPr txBox="1"/>
          <p:nvPr/>
        </p:nvSpPr>
        <p:spPr>
          <a:xfrm>
            <a:off x="6380638" y="1832474"/>
            <a:ext cx="1847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choose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tree</a:t>
            </a:r>
            <a:r>
              <a:rPr lang="de-DE" dirty="0"/>
              <a:t>: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1EC93E1E-69AA-61DC-270F-FA550DF9F32A}"/>
              </a:ext>
            </a:extLst>
          </p:cNvPr>
          <p:cNvSpPr txBox="1"/>
          <p:nvPr/>
        </p:nvSpPr>
        <p:spPr>
          <a:xfrm>
            <a:off x="838200" y="5410228"/>
            <a:ext cx="44681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 err="1"/>
              <a:t>tree</a:t>
            </a:r>
            <a:r>
              <a:rPr lang="de-DE" dirty="0"/>
              <a:t>: </a:t>
            </a:r>
            <a:r>
              <a:rPr lang="de-DE" dirty="0" err="1"/>
              <a:t>set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branches</a:t>
            </a:r>
            <a:r>
              <a:rPr lang="de-DE" dirty="0"/>
              <a:t> </a:t>
            </a:r>
            <a:r>
              <a:rPr lang="de-DE" dirty="0" err="1"/>
              <a:t>connecting</a:t>
            </a:r>
            <a:r>
              <a:rPr lang="de-DE" dirty="0"/>
              <a:t> all </a:t>
            </a:r>
            <a:r>
              <a:rPr lang="de-DE" dirty="0" err="1"/>
              <a:t>nodes</a:t>
            </a:r>
            <a:r>
              <a:rPr lang="de-DE" dirty="0"/>
              <a:t> </a:t>
            </a:r>
            <a:r>
              <a:rPr lang="de-DE" dirty="0" err="1"/>
              <a:t>without</a:t>
            </a:r>
            <a:r>
              <a:rPr lang="de-DE" dirty="0"/>
              <a:t> </a:t>
            </a:r>
            <a:r>
              <a:rPr lang="de-DE" dirty="0" err="1"/>
              <a:t>forming</a:t>
            </a:r>
            <a:r>
              <a:rPr lang="de-DE" dirty="0"/>
              <a:t> </a:t>
            </a:r>
            <a:r>
              <a:rPr lang="de-DE" dirty="0" err="1"/>
              <a:t>any</a:t>
            </a:r>
            <a:r>
              <a:rPr lang="de-DE" dirty="0"/>
              <a:t> loop</a:t>
            </a:r>
          </a:p>
          <a:p>
            <a:r>
              <a:rPr lang="de-DE" dirty="0" err="1"/>
              <a:t>co-tree</a:t>
            </a:r>
            <a:r>
              <a:rPr lang="de-DE" dirty="0"/>
              <a:t>: all </a:t>
            </a:r>
            <a:r>
              <a:rPr lang="de-DE" dirty="0" err="1"/>
              <a:t>branches</a:t>
            </a:r>
            <a:r>
              <a:rPr lang="de-DE" dirty="0"/>
              <a:t> – </a:t>
            </a:r>
            <a:r>
              <a:rPr lang="de-DE" dirty="0" err="1"/>
              <a:t>tree</a:t>
            </a:r>
            <a:r>
              <a:rPr lang="de-DE" dirty="0"/>
              <a:t> </a:t>
            </a:r>
            <a:r>
              <a:rPr lang="de-DE" dirty="0" err="1"/>
              <a:t>branches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98618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00A4BA08-1420-406A-3B99-C8E391C52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System </a:t>
            </a:r>
            <a:r>
              <a:rPr lang="de-DE" dirty="0" err="1"/>
              <a:t>of</a:t>
            </a:r>
            <a:r>
              <a:rPr lang="de-DE" dirty="0"/>
              <a:t> Linear </a:t>
            </a:r>
            <a:r>
              <a:rPr lang="de-DE" dirty="0" err="1"/>
              <a:t>Equations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DFEC0B9-FE9F-3A90-B77A-233EA696C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EAA6B-85FB-CD46-8BDC-C1BC3364C8C0}" type="slidenum">
              <a:rPr lang="de-DE" smtClean="0"/>
              <a:t>27</a:t>
            </a:fld>
            <a:endParaRPr lang="de-DE"/>
          </a:p>
        </p:txBody>
      </p:sp>
      <p:pic>
        <p:nvPicPr>
          <p:cNvPr id="6" name="Inhaltsplatzhalter 4">
            <a:extLst>
              <a:ext uri="{FF2B5EF4-FFF2-40B4-BE49-F238E27FC236}">
                <a16:creationId xmlns:a16="http://schemas.microsoft.com/office/drawing/2014/main" id="{D71A1BEC-56F7-6CC3-BF25-833DDE5B6C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5822" y="4333320"/>
            <a:ext cx="5400355" cy="2356519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24A51C5B-93D0-C4C6-FFF4-84C8E01B13FB}"/>
                  </a:ext>
                </a:extLst>
              </p:cNvPr>
              <p:cNvSpPr txBox="1"/>
              <p:nvPr/>
            </p:nvSpPr>
            <p:spPr>
              <a:xfrm>
                <a:off x="2299991" y="1608033"/>
                <a:ext cx="7592015" cy="24341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D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18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D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sz="18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D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DE" sz="18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de-DE" sz="1800" dirty="0"/>
              </a:p>
              <a:p>
                <a:pPr marL="0" indent="0">
                  <a:buNone/>
                </a:pPr>
                <a:endParaRPr lang="de-DE" sz="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de-DE" sz="18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D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18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sz="18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de-DE" sz="18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de-DE" sz="1800" dirty="0"/>
              </a:p>
              <a:p>
                <a:pPr marL="0" indent="0">
                  <a:buNone/>
                </a:pPr>
                <a:endParaRPr lang="de-DE" sz="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D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DE" sz="18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de-DE" sz="18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D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de-DE" sz="18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de-DE" sz="1800" dirty="0"/>
              </a:p>
              <a:p>
                <a:pPr marL="0" indent="0">
                  <a:buNone/>
                </a:pPr>
                <a:endParaRPr lang="de-DE" sz="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D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18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sz="1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sSub>
                        <m:sSubPr>
                          <m:ctrlPr>
                            <a:rPr lang="de-D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de-D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18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de-D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sz="1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sz="1800" dirty="0"/>
              </a:p>
              <a:p>
                <a:pPr marL="0" indent="0">
                  <a:buNone/>
                </a:pPr>
                <a:endParaRPr lang="de-DE" sz="800" dirty="0"/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D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de-DE" sz="18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de-DE" sz="1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sSub>
                        <m:sSubPr>
                          <m:ctrlPr>
                            <a:rPr lang="de-D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sSub>
                        <m:sSubPr>
                          <m:ctrlPr>
                            <a:rPr lang="de-D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de-DE" sz="18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sSub>
                        <m:sSubPr>
                          <m:ctrlPr>
                            <a:rPr lang="de-D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de-DE" sz="1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de-DE" sz="1800" dirty="0"/>
              </a:p>
              <a:p>
                <a:pPr marL="0" indent="0">
                  <a:buNone/>
                </a:pPr>
                <a:endParaRPr lang="de-DE" sz="800" dirty="0"/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D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18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DE" sz="18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de-DE" sz="18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D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de-DE" sz="1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18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D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sSub>
                        <m:sSubPr>
                          <m:ctrlPr>
                            <a:rPr lang="de-D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de-DE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de-D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18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de-D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DE" sz="18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sSub>
                        <m:sSubPr>
                          <m:ctrlPr>
                            <a:rPr lang="de-D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de-DE" sz="18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D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sSub>
                        <m:sSubPr>
                          <m:ctrlPr>
                            <a:rPr lang="de-D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de-DE" sz="1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18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D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de-DE" sz="1800" i="1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de-DE" sz="1800" dirty="0"/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24A51C5B-93D0-C4C6-FFF4-84C8E01B13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9991" y="1608033"/>
                <a:ext cx="7592015" cy="24341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Gerade Verbindung 9">
            <a:extLst>
              <a:ext uri="{FF2B5EF4-FFF2-40B4-BE49-F238E27FC236}">
                <a16:creationId xmlns:a16="http://schemas.microsoft.com/office/drawing/2014/main" id="{24ACA647-4A68-652D-B80F-76501C447102}"/>
              </a:ext>
            </a:extLst>
          </p:cNvPr>
          <p:cNvCxnSpPr>
            <a:cxnSpLocks/>
          </p:cNvCxnSpPr>
          <p:nvPr/>
        </p:nvCxnSpPr>
        <p:spPr>
          <a:xfrm>
            <a:off x="-1" y="4162098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9465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6085456F-BCA5-FD69-44B0-E5D37499EC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2210" y="1690688"/>
                <a:ext cx="8706301" cy="5030787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de-DE" sz="2400" dirty="0" err="1"/>
                  <a:t>sometimes</a:t>
                </a:r>
                <a:r>
                  <a:rPr lang="de-DE" sz="2400" dirty="0"/>
                  <a:t> simpler </a:t>
                </a:r>
                <a:r>
                  <a:rPr lang="de-DE" sz="2400" dirty="0" err="1"/>
                  <a:t>approach</a:t>
                </a:r>
                <a:r>
                  <a:rPr lang="de-DE" sz="2400" dirty="0"/>
                  <a:t>:</a:t>
                </a:r>
              </a:p>
              <a:p>
                <a:pPr marL="0" indent="0">
                  <a:buNone/>
                </a:pPr>
                <a:endParaRPr lang="de-DE" sz="2400" dirty="0"/>
              </a:p>
              <a:p>
                <a:r>
                  <a:rPr lang="de-DE" sz="2400" dirty="0" err="1"/>
                  <a:t>select</a:t>
                </a:r>
                <a:r>
                  <a:rPr lang="de-DE" sz="2400" dirty="0"/>
                  <a:t> </a:t>
                </a:r>
                <a:r>
                  <a:rPr lang="de-DE" sz="2400" dirty="0" err="1"/>
                  <a:t>one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node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as</a:t>
                </a:r>
                <a:r>
                  <a:rPr lang="de-DE" sz="2400" dirty="0"/>
                  <a:t> </a:t>
                </a:r>
                <a:r>
                  <a:rPr lang="de-DE" sz="2400" dirty="0" err="1"/>
                  <a:t>reference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node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with</a:t>
                </a:r>
                <a:r>
                  <a:rPr lang="de-DE" sz="2400" dirty="0"/>
                  <a:t> an </a:t>
                </a:r>
                <a:r>
                  <a:rPr lang="de-DE" sz="2400" dirty="0" err="1"/>
                  <a:t>arbitrary</a:t>
                </a:r>
                <a:r>
                  <a:rPr lang="de-DE" sz="2400" dirty="0"/>
                  <a:t> potential (</a:t>
                </a:r>
                <a:r>
                  <a:rPr lang="de-DE" sz="2400" dirty="0" err="1"/>
                  <a:t>typically</a:t>
                </a:r>
                <a:r>
                  <a:rPr lang="de-DE" sz="2400" dirty="0"/>
                  <a:t> </a:t>
                </a:r>
                <a:r>
                  <a:rPr lang="de-DE" sz="2400" dirty="0" err="1"/>
                  <a:t>ground</a:t>
                </a:r>
                <a:r>
                  <a:rPr lang="de-DE" sz="2400" dirty="0"/>
                  <a:t>, i.e., </a:t>
                </a:r>
                <a14:m>
                  <m:oMath xmlns:m="http://schemas.openxmlformats.org/officeDocument/2006/math"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de-DE" sz="2400" dirty="0"/>
                  <a:t>)</a:t>
                </a:r>
              </a:p>
              <a:p>
                <a:pPr marL="0" indent="0">
                  <a:buNone/>
                </a:pPr>
                <a:endParaRPr lang="de-DE" sz="2400" dirty="0"/>
              </a:p>
              <a:p>
                <a:r>
                  <a:rPr lang="de-DE" sz="2400" dirty="0" err="1"/>
                  <a:t>apply</a:t>
                </a:r>
                <a:r>
                  <a:rPr lang="de-DE" sz="2400" dirty="0"/>
                  <a:t> KCL </a:t>
                </a:r>
                <a:r>
                  <a:rPr lang="de-DE" sz="2400" dirty="0" err="1"/>
                  <a:t>to</a:t>
                </a:r>
                <a:r>
                  <a:rPr lang="de-DE" sz="2400" dirty="0"/>
                  <a:t> 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de-DE" sz="2400" dirty="0"/>
                  <a:t> non-</a:t>
                </a:r>
                <a:r>
                  <a:rPr lang="de-DE" sz="2400" dirty="0" err="1"/>
                  <a:t>reference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nodes</a:t>
                </a:r>
                <a:endParaRPr lang="de-DE" sz="2400" dirty="0"/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:endParaRPr lang="de-DE" sz="2400" dirty="0"/>
              </a:p>
              <a:p>
                <a:r>
                  <a:rPr lang="de-DE" sz="2400" dirty="0" err="1"/>
                  <a:t>apply</a:t>
                </a:r>
                <a:r>
                  <a:rPr lang="de-DE" sz="2400" dirty="0"/>
                  <a:t> </a:t>
                </a:r>
                <a:r>
                  <a:rPr lang="de-DE" sz="2400" dirty="0" err="1"/>
                  <a:t>Ohm‘s</a:t>
                </a:r>
                <a:r>
                  <a:rPr lang="de-DE" sz="2400" dirty="0"/>
                  <a:t> </a:t>
                </a:r>
                <a:r>
                  <a:rPr lang="de-DE" sz="2400" dirty="0" err="1"/>
                  <a:t>law</a:t>
                </a:r>
                <a:r>
                  <a:rPr lang="de-DE" sz="2400" dirty="0"/>
                  <a:t> </a:t>
                </a:r>
                <a:r>
                  <a:rPr lang="de-DE" sz="2400" dirty="0" err="1"/>
                  <a:t>to</a:t>
                </a:r>
                <a:r>
                  <a:rPr lang="de-DE" sz="2400" dirty="0"/>
                  <a:t> express </a:t>
                </a:r>
                <a:r>
                  <a:rPr lang="de-DE" sz="2400" dirty="0" err="1"/>
                  <a:t>currents</a:t>
                </a:r>
                <a:r>
                  <a:rPr lang="de-DE" sz="2400" dirty="0"/>
                  <a:t> in </a:t>
                </a:r>
                <a:r>
                  <a:rPr lang="de-DE" sz="2400" dirty="0" err="1"/>
                  <a:t>terms</a:t>
                </a:r>
                <a:r>
                  <a:rPr lang="de-DE" sz="2400" dirty="0"/>
                  <a:t> </a:t>
                </a:r>
                <a:r>
                  <a:rPr lang="de-DE" sz="2400" dirty="0" err="1"/>
                  <a:t>of</a:t>
                </a:r>
                <a:r>
                  <a:rPr lang="de-DE" sz="2400" dirty="0"/>
                  <a:t> </a:t>
                </a:r>
                <a:r>
                  <a:rPr lang="de-DE" sz="2400" dirty="0" err="1"/>
                  <a:t>node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voltages</a:t>
                </a:r>
                <a:r>
                  <a:rPr lang="de-DE" sz="2400" dirty="0"/>
                  <a:t>:</a:t>
                </a:r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:endParaRPr lang="de-DE" sz="2400" dirty="0"/>
              </a:p>
              <a:p>
                <a:r>
                  <a:rPr lang="de-DE" sz="2400" dirty="0" err="1"/>
                  <a:t>substitute</a:t>
                </a:r>
                <a:r>
                  <a:rPr lang="de-DE" sz="2400" dirty="0"/>
                  <a:t> and </a:t>
                </a:r>
                <a:r>
                  <a:rPr lang="de-DE" sz="2400" dirty="0" err="1"/>
                  <a:t>solve</a:t>
                </a:r>
                <a:endParaRPr lang="de-DE" sz="2400" dirty="0"/>
              </a:p>
            </p:txBody>
          </p:sp>
        </mc:Choice>
        <mc:Fallback xmlns="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6085456F-BCA5-FD69-44B0-E5D37499EC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2210" y="1690688"/>
                <a:ext cx="8706301" cy="5030787"/>
              </a:xfrm>
              <a:blipFill>
                <a:blip r:embed="rId2"/>
                <a:stretch>
                  <a:fillRect l="-1166" t="-201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feld 26">
                <a:extLst>
                  <a:ext uri="{FF2B5EF4-FFF2-40B4-BE49-F238E27FC236}">
                    <a16:creationId xmlns:a16="http://schemas.microsoft.com/office/drawing/2014/main" id="{F84AF832-11DD-714E-68B6-F1EE3DCAFE47}"/>
                  </a:ext>
                </a:extLst>
              </p:cNvPr>
              <p:cNvSpPr txBox="1"/>
              <p:nvPr/>
            </p:nvSpPr>
            <p:spPr>
              <a:xfrm>
                <a:off x="838200" y="4176001"/>
                <a:ext cx="5935343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de-DE" dirty="0"/>
                  <a:t>here:	node1: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DE" dirty="0"/>
                  <a:t>	node2: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de-DE" dirty="0"/>
              </a:p>
            </p:txBody>
          </p:sp>
        </mc:Choice>
        <mc:Fallback xmlns="">
          <p:sp>
            <p:nvSpPr>
              <p:cNvPr id="27" name="Textfeld 26">
                <a:extLst>
                  <a:ext uri="{FF2B5EF4-FFF2-40B4-BE49-F238E27FC236}">
                    <a16:creationId xmlns:a16="http://schemas.microsoft.com/office/drawing/2014/main" id="{F84AF832-11DD-714E-68B6-F1EE3DCAFE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176001"/>
                <a:ext cx="5935343" cy="369332"/>
              </a:xfrm>
              <a:prstGeom prst="rect">
                <a:avLst/>
              </a:prstGeom>
              <a:blipFill>
                <a:blip r:embed="rId3"/>
                <a:stretch>
                  <a:fillRect l="-853" t="-6452" b="-2258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el 1">
            <a:extLst>
              <a:ext uri="{FF2B5EF4-FFF2-40B4-BE49-F238E27FC236}">
                <a16:creationId xmlns:a16="http://schemas.microsoft.com/office/drawing/2014/main" id="{CAB5C406-365F-B1B1-05B8-69E02AA62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Alternative: </a:t>
            </a:r>
            <a:r>
              <a:rPr lang="de-DE" dirty="0" err="1"/>
              <a:t>Nodal</a:t>
            </a:r>
            <a:r>
              <a:rPr lang="de-DE" dirty="0"/>
              <a:t> Analysis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45A0059-57CB-21C4-7894-37E7247EA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EAA6B-85FB-CD46-8BDC-C1BC3364C8C0}" type="slidenum">
              <a:rPr lang="de-DE" smtClean="0"/>
              <a:t>28</a:t>
            </a:fld>
            <a:endParaRPr lang="de-DE"/>
          </a:p>
        </p:txBody>
      </p:sp>
      <p:pic>
        <p:nvPicPr>
          <p:cNvPr id="6" name="Grafik 5" descr="Ein Bild, das Diagramm, Reihe enthält.&#10;&#10;KI-generierte Inhalte können fehlerhaft sein.">
            <a:extLst>
              <a:ext uri="{FF2B5EF4-FFF2-40B4-BE49-F238E27FC236}">
                <a16:creationId xmlns:a16="http://schemas.microsoft.com/office/drawing/2014/main" id="{E0AA889E-3275-DD0C-5F8B-9E6E60623D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8511" y="721782"/>
            <a:ext cx="2560144" cy="2508393"/>
          </a:xfrm>
          <a:prstGeom prst="rect">
            <a:avLst/>
          </a:prstGeom>
        </p:spPr>
      </p:pic>
      <p:pic>
        <p:nvPicPr>
          <p:cNvPr id="8" name="Grafik 7" descr="Ein Bild, das Diagramm, Text enthält.&#10;&#10;KI-generierte Inhalte können fehlerhaft sein.">
            <a:extLst>
              <a:ext uri="{FF2B5EF4-FFF2-40B4-BE49-F238E27FC236}">
                <a16:creationId xmlns:a16="http://schemas.microsoft.com/office/drawing/2014/main" id="{B4A7DFB5-7DB8-79BE-8FBE-07856800B2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8511" y="3997157"/>
            <a:ext cx="2560144" cy="2179806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F6ACD28B-5E4E-4F42-72B2-BCC8C82B7505}"/>
              </a:ext>
            </a:extLst>
          </p:cNvPr>
          <p:cNvSpPr txBox="1"/>
          <p:nvPr/>
        </p:nvSpPr>
        <p:spPr>
          <a:xfrm>
            <a:off x="9395218" y="3627825"/>
            <a:ext cx="2414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redrawn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currents</a:t>
            </a:r>
            <a:r>
              <a:rPr lang="de-DE" dirty="0"/>
              <a:t>: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909F1F47-E6B0-E2A4-C4FF-1A7E8B57A5DC}"/>
              </a:ext>
            </a:extLst>
          </p:cNvPr>
          <p:cNvCxnSpPr>
            <a:cxnSpLocks/>
          </p:cNvCxnSpPr>
          <p:nvPr/>
        </p:nvCxnSpPr>
        <p:spPr>
          <a:xfrm>
            <a:off x="4433777" y="2998381"/>
            <a:ext cx="5571460" cy="1052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feld 27">
                <a:extLst>
                  <a:ext uri="{FF2B5EF4-FFF2-40B4-BE49-F238E27FC236}">
                    <a16:creationId xmlns:a16="http://schemas.microsoft.com/office/drawing/2014/main" id="{F50CCCB4-A6CD-5F4C-D303-4E63626C671B}"/>
                  </a:ext>
                </a:extLst>
              </p:cNvPr>
              <p:cNvSpPr txBox="1"/>
              <p:nvPr/>
            </p:nvSpPr>
            <p:spPr>
              <a:xfrm>
                <a:off x="4085954" y="5438675"/>
                <a:ext cx="4336700" cy="52944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de-DE" dirty="0"/>
                  <a:t>here: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−0</m:t>
                        </m:r>
                      </m:num>
                      <m:den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de-DE" dirty="0"/>
                  <a:t>	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de-DE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de-DE" dirty="0"/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de-DE" i="1">
                            <a:latin typeface="Cambria Math" panose="02040503050406030204" pitchFamily="18" charset="0"/>
                          </a:rPr>
                          <m:t>−0</m:t>
                        </m:r>
                      </m:num>
                      <m:den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</m:oMath>
                </a14:m>
                <a:endParaRPr lang="de-DE" dirty="0"/>
              </a:p>
            </p:txBody>
          </p:sp>
        </mc:Choice>
        <mc:Fallback xmlns="">
          <p:sp>
            <p:nvSpPr>
              <p:cNvPr id="28" name="Textfeld 27">
                <a:extLst>
                  <a:ext uri="{FF2B5EF4-FFF2-40B4-BE49-F238E27FC236}">
                    <a16:creationId xmlns:a16="http://schemas.microsoft.com/office/drawing/2014/main" id="{F50CCCB4-A6CD-5F4C-D303-4E63626C67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5954" y="5438675"/>
                <a:ext cx="4336700" cy="529440"/>
              </a:xfrm>
              <a:prstGeom prst="rect">
                <a:avLst/>
              </a:prstGeom>
              <a:blipFill>
                <a:blip r:embed="rId6"/>
                <a:stretch>
                  <a:fillRect l="-116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5A072E3D-0314-772B-BB71-18E9441C8815}"/>
                  </a:ext>
                </a:extLst>
              </p:cNvPr>
              <p:cNvSpPr txBox="1"/>
              <p:nvPr/>
            </p:nvSpPr>
            <p:spPr>
              <a:xfrm>
                <a:off x="789569" y="5323154"/>
                <a:ext cx="2630528" cy="6465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sz="2400" b="0" i="0" smtClean="0">
                                  <a:latin typeface="Cambria Math" panose="02040503050406030204" pitchFamily="18" charset="0"/>
                                </a:rPr>
                                <m:t>higher</m:t>
                              </m:r>
                            </m:sub>
                          </m:s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sz="2400" b="0" i="0" smtClean="0">
                                  <a:latin typeface="Cambria Math" panose="02040503050406030204" pitchFamily="18" charset="0"/>
                                </a:rPr>
                                <m:t>lower</m:t>
                              </m:r>
                            </m:sub>
                          </m:sSub>
                        </m:num>
                        <m:den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de-DE" sz="2400" dirty="0"/>
              </a:p>
            </p:txBody>
          </p:sp>
        </mc:Choice>
        <mc:Fallback xmlns="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5A072E3D-0314-772B-BB71-18E9441C88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569" y="5323154"/>
                <a:ext cx="2630528" cy="646524"/>
              </a:xfrm>
              <a:prstGeom prst="rect">
                <a:avLst/>
              </a:prstGeom>
              <a:blipFill>
                <a:blip r:embed="rId7"/>
                <a:stretch>
                  <a:fillRect l="-2404" r="-962" b="-1568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243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5709BA-815B-B60F-818B-1302030CF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Efficiency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83BE683E-1E27-D6CD-0120-00FC860551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de-DE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e-DE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de-DE" sz="3400" i="1" smtClean="0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de-DE" sz="34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3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sz="3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3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sz="3400" b="0" i="0" smtClean="0">
                                  <a:latin typeface="Cambria Math" panose="02040503050406030204" pitchFamily="18" charset="0"/>
                                </a:rPr>
                                <m:t>out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DE" sz="3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3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sz="3400" b="0" i="0" smtClean="0">
                                  <a:latin typeface="Cambria Math" panose="02040503050406030204" pitchFamily="18" charset="0"/>
                                </a:rPr>
                                <m:t>in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de-DE" sz="3400" dirty="0"/>
              </a:p>
              <a:p>
                <a:pPr marL="0" indent="0">
                  <a:buNone/>
                </a:pPr>
                <a:endParaRPr lang="de-DE" sz="3400" dirty="0"/>
              </a:p>
              <a:p>
                <a:pPr marL="0" indent="0">
                  <a:buNone/>
                </a:pPr>
                <a:r>
                  <a:rPr lang="de-DE" sz="2600" dirty="0" err="1"/>
                  <a:t>example</a:t>
                </a:r>
                <a:r>
                  <a:rPr lang="de-DE" sz="2600" dirty="0"/>
                  <a:t>:</a:t>
                </a:r>
              </a:p>
              <a:p>
                <a:pPr marL="0" indent="0">
                  <a:buNone/>
                </a:pPr>
                <a:r>
                  <a:rPr lang="de-DE" sz="2600" dirty="0"/>
                  <a:t>A </a:t>
                </a:r>
                <a:r>
                  <a:rPr lang="de-DE" sz="2600" dirty="0" err="1"/>
                  <a:t>device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draws</a:t>
                </a:r>
                <a:r>
                  <a:rPr lang="de-DE" sz="2600" dirty="0"/>
                  <a:t> </a:t>
                </a:r>
                <a14:m>
                  <m:oMath xmlns:m="http://schemas.openxmlformats.org/officeDocument/2006/math"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200 </m:t>
                    </m:r>
                    <m:r>
                      <m:rPr>
                        <m:sty m:val="p"/>
                      </m:rPr>
                      <a:rPr lang="de-DE" sz="2600" b="0" i="0" smtClean="0"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de-DE" sz="2600" dirty="0"/>
                  <a:t> and </a:t>
                </a:r>
                <a:r>
                  <a:rPr lang="de-DE" sz="2600" dirty="0" err="1"/>
                  <a:t>has</a:t>
                </a:r>
                <a:r>
                  <a:rPr lang="de-DE" sz="2600" dirty="0"/>
                  <a:t> a </a:t>
                </a:r>
                <a:r>
                  <a:rPr lang="de-DE" sz="2600" dirty="0" err="1"/>
                  <a:t>useful</a:t>
                </a:r>
                <a:r>
                  <a:rPr lang="de-DE" sz="2600" dirty="0"/>
                  <a:t> </a:t>
                </a:r>
                <a:r>
                  <a:rPr lang="de-DE" sz="2600" dirty="0" err="1"/>
                  <a:t>output</a:t>
                </a:r>
                <a:r>
                  <a:rPr lang="de-DE" sz="2600" dirty="0"/>
                  <a:t> </a:t>
                </a:r>
                <a:r>
                  <a:rPr lang="de-DE" sz="2600" dirty="0" err="1"/>
                  <a:t>of</a:t>
                </a:r>
                <a:r>
                  <a:rPr lang="de-DE" sz="2600" dirty="0"/>
                  <a:t> </a:t>
                </a:r>
                <a14:m>
                  <m:oMath xmlns:m="http://schemas.openxmlformats.org/officeDocument/2006/math"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120 </m:t>
                    </m:r>
                    <m:r>
                      <m:rPr>
                        <m:sty m:val="p"/>
                      </m:rPr>
                      <a:rPr lang="de-DE" sz="2600" b="0" i="0" smtClean="0"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de-DE" sz="2600" dirty="0"/>
                  <a:t>.</a:t>
                </a:r>
              </a:p>
              <a:p>
                <a:pPr marL="0" indent="0">
                  <a:buNone/>
                </a:pPr>
                <a:r>
                  <a:rPr lang="de-DE" sz="2600" dirty="0">
                    <a:sym typeface="Wingdings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𝜂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=60%</m:t>
                    </m:r>
                  </m:oMath>
                </a14:m>
                <a:r>
                  <a:rPr lang="de-DE" sz="2600" dirty="0"/>
                  <a:t>, i.e., </a:t>
                </a:r>
                <a:r>
                  <a:rPr lang="de-DE" sz="2600" dirty="0" err="1"/>
                  <a:t>wasting</a:t>
                </a:r>
                <a:r>
                  <a:rPr lang="de-DE" sz="2600" dirty="0"/>
                  <a:t> </a:t>
                </a:r>
                <a14:m>
                  <m:oMath xmlns:m="http://schemas.openxmlformats.org/officeDocument/2006/math"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40%</m:t>
                    </m:r>
                  </m:oMath>
                </a14:m>
                <a:r>
                  <a:rPr lang="de-DE" sz="2600" dirty="0"/>
                  <a:t> </a:t>
                </a:r>
                <a:r>
                  <a:rPr lang="de-DE" sz="2600" dirty="0" err="1"/>
                  <a:t>of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the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input</a:t>
                </a:r>
                <a:r>
                  <a:rPr lang="de-DE" sz="2600" dirty="0"/>
                  <a:t> power</a:t>
                </a:r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83BE683E-1E27-D6CD-0120-00FC860551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4498E51-21D7-E510-9D0A-599DF3367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EAA6B-85FB-CD46-8BDC-C1BC3364C8C0}" type="slidenum">
              <a:rPr lang="de-DE" smtClean="0"/>
              <a:t>29</a:t>
            </a:fld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9853E45-20E6-890D-11B3-4876AF8BF26F}"/>
              </a:ext>
            </a:extLst>
          </p:cNvPr>
          <p:cNvSpPr txBox="1"/>
          <p:nvPr/>
        </p:nvSpPr>
        <p:spPr>
          <a:xfrm>
            <a:off x="6957849" y="1431355"/>
            <a:ext cx="19591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 err="1"/>
              <a:t>useful</a:t>
            </a:r>
            <a:r>
              <a:rPr lang="de-DE" sz="2400" dirty="0"/>
              <a:t> </a:t>
            </a:r>
            <a:r>
              <a:rPr lang="de-DE" sz="2400" dirty="0" err="1"/>
              <a:t>output</a:t>
            </a:r>
            <a:endParaRPr lang="de-DE" sz="2400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F4F19FD-0851-B36F-4937-FB422B8CE6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6036" y="2365984"/>
            <a:ext cx="2952328" cy="1749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6C8B0153-22DB-E758-F617-53EF8FCCFA53}"/>
              </a:ext>
            </a:extLst>
          </p:cNvPr>
          <p:cNvCxnSpPr>
            <a:stCxn id="5" idx="2"/>
          </p:cNvCxnSpPr>
          <p:nvPr/>
        </p:nvCxnSpPr>
        <p:spPr>
          <a:xfrm flipH="1">
            <a:off x="6632028" y="1893020"/>
            <a:ext cx="1305417" cy="9447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90441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575798-43D7-2BE6-CB47-E8FCD4E39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Power/</a:t>
            </a:r>
            <a:r>
              <a:rPr lang="de-DE" dirty="0" err="1"/>
              <a:t>Impedance</a:t>
            </a:r>
            <a:r>
              <a:rPr lang="de-DE" dirty="0"/>
              <a:t> </a:t>
            </a:r>
            <a:r>
              <a:rPr lang="de-DE" dirty="0" err="1"/>
              <a:t>Matching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EC9FBC9-76A5-C97C-FB2B-2F4C394385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de-DE" sz="2400" dirty="0"/>
                  <a:t>p</a:t>
                </a:r>
                <a:r>
                  <a:rPr lang="de-DE" sz="2400" dirty="0" err="1"/>
                  <a:t>ractical</a:t>
                </a:r>
                <a:r>
                  <a:rPr lang="de-DE" sz="2400" dirty="0"/>
                  <a:t> </a:t>
                </a:r>
                <a:r>
                  <a:rPr lang="de-DE" sz="2400" dirty="0" err="1"/>
                  <a:t>voltage</a:t>
                </a:r>
                <a:r>
                  <a:rPr lang="de-DE" sz="2400" dirty="0"/>
                  <a:t> source </a:t>
                </a:r>
                <a:r>
                  <a:rPr lang="de-DE" sz="2400" dirty="0" err="1"/>
                  <a:t>with</a:t>
                </a:r>
                <a:r>
                  <a:rPr lang="de-DE" sz="2400" dirty="0"/>
                  <a:t> resistive </a:t>
                </a:r>
                <a:r>
                  <a:rPr lang="de-DE" sz="2400" dirty="0" err="1"/>
                  <a:t>load</a:t>
                </a:r>
                <a:r>
                  <a:rPr lang="de-DE" sz="2400" dirty="0"/>
                  <a:t>:</a:t>
                </a:r>
                <a:endParaRPr lang="de-DE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e-DE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sz="2400" b="0" i="0" smtClean="0">
                              <a:latin typeface="Cambria Math" panose="02040503050406030204" pitchFamily="18" charset="0"/>
                            </a:rPr>
                            <m:t>out</m:t>
                          </m:r>
                        </m:sub>
                      </m:sSub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;   </m:t>
                      </m:r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sz="2400" b="0" i="0" smtClean="0">
                              <a:latin typeface="Cambria Math" panose="02040503050406030204" pitchFamily="18" charset="0"/>
                            </a:rPr>
                            <m:t>in</m:t>
                          </m:r>
                        </m:sub>
                      </m:sSub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de-DE" sz="2400" i="1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;   </m:t>
                      </m:r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sz="2400" b="0" i="0" smtClean="0">
                              <a:latin typeface="Cambria Math" panose="02040503050406030204" pitchFamily="18" charset="0"/>
                            </a:rPr>
                            <m:t>waste</m:t>
                          </m:r>
                        </m:sub>
                      </m:sSub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p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de-DE" sz="2400" i="1">
                          <a:latin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de-DE" sz="2400" dirty="0"/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de-DE" sz="2400" i="1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𝑈𝐼</m:t>
                          </m:r>
                        </m:num>
                        <m:den>
                          <m:sSub>
                            <m:sSub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𝐼</m:t>
                          </m:r>
                        </m:den>
                      </m:f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  <m:f>
                            <m:f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</m:den>
                          </m:f>
                          <m:f>
                            <m:f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</m:den>
                          </m:f>
                        </m:num>
                        <m:den>
                          <m:sSub>
                            <m:sSub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  <m:f>
                            <m:f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de-DE" sz="2400" dirty="0"/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:r>
                  <a:rPr lang="de-DE" sz="2400" dirty="0"/>
                  <a:t>maximum power </a:t>
                </a:r>
                <a:r>
                  <a:rPr lang="de-DE" sz="2400" dirty="0" err="1"/>
                  <a:t>transfer</a:t>
                </a:r>
                <a:r>
                  <a:rPr lang="de-DE" sz="240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𝑑𝑃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sz="2400" b="0" i="0" smtClean="0">
                                  <a:latin typeface="Cambria Math" panose="02040503050406030204" pitchFamily="18" charset="0"/>
                                </a:rPr>
                                <m:t>out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𝑑𝑅</m:t>
                              </m:r>
                            </m:e>
                            <m:sub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  <m:r>
                        <a:rPr lang="de-DE" sz="2400" i="1">
                          <a:latin typeface="Cambria Math" panose="02040503050406030204" pitchFamily="18" charset="0"/>
                        </a:rPr>
                        <m:t>=0=</m:t>
                      </m:r>
                      <m:sSubSup>
                        <m:sSubSup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  <m:sup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f>
                        <m:f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−2</m:t>
                          </m:r>
                          <m:sSub>
                            <m:sSub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d>
                            <m:d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den>
                      </m:f>
                      <m:r>
                        <a:rPr lang="de-DE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de-DE" sz="24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EC9FBC9-76A5-C97C-FB2B-2F4C394385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 t="-145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07EDFC5-7BD5-4E04-6401-71E3EC582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EAA6B-85FB-CD46-8BDC-C1BC3364C8C0}" type="slidenum">
              <a:rPr lang="de-DE" smtClean="0"/>
              <a:t>30</a:t>
            </a:fld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71A8375-1294-3FD7-15A4-AD722E84E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6331" y="547911"/>
            <a:ext cx="3397469" cy="17555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0A28E1EC-3509-8F62-C11B-16A05C978621}"/>
                  </a:ext>
                </a:extLst>
              </p:cNvPr>
              <p:cNvSpPr txBox="1"/>
              <p:nvPr/>
            </p:nvSpPr>
            <p:spPr>
              <a:xfrm>
                <a:off x="9655065" y="3631962"/>
                <a:ext cx="21419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e-DE" i="1" smtClean="0">
                        <a:latin typeface="Cambria Math" panose="02040503050406030204" pitchFamily="18" charset="0"/>
                      </a:rPr>
                      <m:t>𝜂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=100%</m:t>
                    </m:r>
                  </m:oMath>
                </a14:m>
                <a:r>
                  <a:rPr lang="de-DE" dirty="0"/>
                  <a:t>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de-DE" dirty="0"/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0A28E1EC-3509-8F62-C11B-16A05C9786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5065" y="3631962"/>
                <a:ext cx="2141933" cy="369332"/>
              </a:xfrm>
              <a:prstGeom prst="rect">
                <a:avLst/>
              </a:prstGeom>
              <a:blipFill>
                <a:blip r:embed="rId4"/>
                <a:stretch>
                  <a:fillRect t="-10345" b="-3103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641DD6CA-F3F7-6B31-B9D3-F797CA13B35F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8610600" y="3816628"/>
            <a:ext cx="1044465" cy="1436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25FE1294-133D-F55F-A0ED-2527BBBCCBE1}"/>
                  </a:ext>
                </a:extLst>
              </p:cNvPr>
              <p:cNvSpPr txBox="1"/>
              <p:nvPr/>
            </p:nvSpPr>
            <p:spPr>
              <a:xfrm>
                <a:off x="9655064" y="5114667"/>
                <a:ext cx="21979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e-DE" i="1" smtClean="0">
                        <a:latin typeface="Cambria Math" panose="02040503050406030204" pitchFamily="18" charset="0"/>
                      </a:rPr>
                      <m:t>𝜂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=50%</m:t>
                    </m:r>
                  </m:oMath>
                </a14:m>
                <a:r>
                  <a:rPr lang="de-DE" dirty="0"/>
                  <a:t>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endParaRPr lang="de-DE" dirty="0"/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25FE1294-133D-F55F-A0ED-2527BBBCCB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5064" y="5114667"/>
                <a:ext cx="2197974" cy="369332"/>
              </a:xfrm>
              <a:prstGeom prst="rect">
                <a:avLst/>
              </a:prstGeom>
              <a:blipFill>
                <a:blip r:embed="rId5"/>
                <a:stretch>
                  <a:fillRect t="-6452" b="-2258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72656DB5-A5CE-1D0A-53D9-0D810A574BAC}"/>
              </a:ext>
            </a:extLst>
          </p:cNvPr>
          <p:cNvCxnSpPr>
            <a:cxnSpLocks/>
            <a:stCxn id="9" idx="1"/>
          </p:cNvCxnSpPr>
          <p:nvPr/>
        </p:nvCxnSpPr>
        <p:spPr>
          <a:xfrm flipH="1" flipV="1">
            <a:off x="8610600" y="4242316"/>
            <a:ext cx="1044464" cy="10570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5885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77C9AB-9284-2FD8-236B-7FD0CD4CD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Voltage</a:t>
            </a:r>
            <a:r>
              <a:rPr lang="de-DE" dirty="0"/>
              <a:t> and </a:t>
            </a:r>
            <a:r>
              <a:rPr lang="de-DE" dirty="0" err="1"/>
              <a:t>Current</a:t>
            </a:r>
            <a:r>
              <a:rPr lang="de-DE" dirty="0"/>
              <a:t> Measurement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BAF3D22-6180-DA60-DA24-7170D67A4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EAA6B-85FB-CD46-8BDC-C1BC3364C8C0}" type="slidenum">
              <a:rPr lang="de-DE" smtClean="0"/>
              <a:t>31</a:t>
            </a:fld>
            <a:endParaRPr lang="de-DE"/>
          </a:p>
        </p:txBody>
      </p:sp>
      <p:pic>
        <p:nvPicPr>
          <p:cNvPr id="5" name="Inhaltsplatzhalter 6">
            <a:extLst>
              <a:ext uri="{FF2B5EF4-FFF2-40B4-BE49-F238E27FC236}">
                <a16:creationId xmlns:a16="http://schemas.microsoft.com/office/drawing/2014/main" id="{89F2A623-53DE-F73B-24DA-D34D30F86B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597" y="1868998"/>
            <a:ext cx="7755003" cy="999356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41ADB4F0-8285-35C9-DE92-48FF583A35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8100" y="3166505"/>
            <a:ext cx="2009997" cy="1605388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52012139-141A-7F45-AB3E-439A3B3793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8760" y="3309159"/>
            <a:ext cx="2011840" cy="8808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3D35DDF8-0953-7060-FA86-CD608756EE26}"/>
                  </a:ext>
                </a:extLst>
              </p:cNvPr>
              <p:cNvSpPr txBox="1"/>
              <p:nvPr/>
            </p:nvSpPr>
            <p:spPr>
              <a:xfrm>
                <a:off x="3728099" y="5070044"/>
                <a:ext cx="2870659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2200" dirty="0" err="1"/>
                  <a:t>connected</a:t>
                </a:r>
                <a:r>
                  <a:rPr lang="de-DE" sz="2200" dirty="0"/>
                  <a:t> in parallel</a:t>
                </a:r>
              </a:p>
              <a:p>
                <a:endParaRPr lang="de-DE" sz="2200" dirty="0"/>
              </a:p>
              <a:p>
                <a:r>
                  <a:rPr lang="de-DE" sz="2200" dirty="0"/>
                  <a:t>ideal: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2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e-DE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DE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endParaRPr lang="de-DE" sz="2200" dirty="0"/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3D35DDF8-0953-7060-FA86-CD608756EE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8099" y="5070044"/>
                <a:ext cx="2870659" cy="1107996"/>
              </a:xfrm>
              <a:prstGeom prst="rect">
                <a:avLst/>
              </a:prstGeom>
              <a:blipFill>
                <a:blip r:embed="rId5"/>
                <a:stretch>
                  <a:fillRect l="-2643" t="-3409" b="-909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C7F21B58-D77D-B7FD-7AD4-5FC90A5E1DA2}"/>
                  </a:ext>
                </a:extLst>
              </p:cNvPr>
              <p:cNvSpPr txBox="1"/>
              <p:nvPr/>
            </p:nvSpPr>
            <p:spPr>
              <a:xfrm>
                <a:off x="6598759" y="5070044"/>
                <a:ext cx="3392140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2200" dirty="0" err="1"/>
                  <a:t>connected</a:t>
                </a:r>
                <a:r>
                  <a:rPr lang="de-DE" sz="2200" dirty="0"/>
                  <a:t> in </a:t>
                </a:r>
                <a:r>
                  <a:rPr lang="de-DE" sz="2200" dirty="0" err="1"/>
                  <a:t>series</a:t>
                </a:r>
                <a:endParaRPr lang="de-DE" sz="2200" dirty="0"/>
              </a:p>
              <a:p>
                <a:endParaRPr lang="de-DE" sz="2200" dirty="0"/>
              </a:p>
              <a:p>
                <a:r>
                  <a:rPr lang="de-DE" sz="2200" dirty="0"/>
                  <a:t>ideal: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2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e-DE" sz="2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DE" sz="2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2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de-DE" sz="2200" dirty="0"/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C7F21B58-D77D-B7FD-7AD4-5FC90A5E1D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8759" y="5070044"/>
                <a:ext cx="3392140" cy="1107996"/>
              </a:xfrm>
              <a:prstGeom prst="rect">
                <a:avLst/>
              </a:prstGeom>
              <a:blipFill>
                <a:blip r:embed="rId6"/>
                <a:stretch>
                  <a:fillRect l="-2239" t="-3409" b="-909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9249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8E3E91-8E79-89EA-180A-CC94C7DE4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Simultaneous</a:t>
            </a:r>
            <a:r>
              <a:rPr lang="de-DE" dirty="0"/>
              <a:t> Measurement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BEFCA06-457A-9329-5A49-4DE97BFF82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/>
              <a:t>for</a:t>
            </a:r>
            <a:r>
              <a:rPr lang="de-DE" dirty="0"/>
              <a:t> power </a:t>
            </a:r>
            <a:r>
              <a:rPr lang="de-DE" dirty="0" err="1"/>
              <a:t>measurement</a:t>
            </a:r>
            <a:r>
              <a:rPr lang="de-DE" dirty="0"/>
              <a:t>: </a:t>
            </a:r>
            <a:r>
              <a:rPr lang="de-DE" dirty="0" err="1"/>
              <a:t>need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simultaneous</a:t>
            </a:r>
            <a:r>
              <a:rPr lang="de-DE" dirty="0"/>
              <a:t> </a:t>
            </a:r>
            <a:r>
              <a:rPr lang="de-DE" dirty="0" err="1"/>
              <a:t>measurement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voltage</a:t>
            </a:r>
            <a:r>
              <a:rPr lang="de-DE" dirty="0"/>
              <a:t> and </a:t>
            </a:r>
            <a:r>
              <a:rPr lang="de-DE" dirty="0" err="1"/>
              <a:t>current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192E42C-D2C0-F148-34D1-81788FA9C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EAA6B-85FB-CD46-8BDC-C1BC3364C8C0}" type="slidenum">
              <a:rPr lang="de-DE" smtClean="0"/>
              <a:t>32</a:t>
            </a:fld>
            <a:endParaRPr lang="de-DE"/>
          </a:p>
        </p:txBody>
      </p:sp>
      <p:pic>
        <p:nvPicPr>
          <p:cNvPr id="6" name="Inhaltsplatzhalter 8">
            <a:extLst>
              <a:ext uri="{FF2B5EF4-FFF2-40B4-BE49-F238E27FC236}">
                <a16:creationId xmlns:a16="http://schemas.microsoft.com/office/drawing/2014/main" id="{B381D136-1982-AD16-8F8E-6A8012DE0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901" y="2815864"/>
            <a:ext cx="3316820" cy="1895326"/>
          </a:xfrm>
          <a:prstGeom prst="rect">
            <a:avLst/>
          </a:prstGeom>
        </p:spPr>
      </p:pic>
      <p:pic>
        <p:nvPicPr>
          <p:cNvPr id="7" name="Inhaltsplatzhalter 9">
            <a:extLst>
              <a:ext uri="{FF2B5EF4-FFF2-40B4-BE49-F238E27FC236}">
                <a16:creationId xmlns:a16="http://schemas.microsoft.com/office/drawing/2014/main" id="{9C36A721-2BC4-422F-148F-9F52A58427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2190" y="2812307"/>
            <a:ext cx="3316820" cy="19024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86FCA076-29ED-69CC-C52D-A514768ACB1E}"/>
                  </a:ext>
                </a:extLst>
              </p:cNvPr>
              <p:cNvSpPr txBox="1"/>
              <p:nvPr/>
            </p:nvSpPr>
            <p:spPr>
              <a:xfrm>
                <a:off x="912716" y="4846127"/>
                <a:ext cx="4609189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sz="2400" dirty="0"/>
                  <a:t>measurement </a:t>
                </a:r>
                <a:r>
                  <a:rPr lang="de-DE" sz="2400" dirty="0" err="1"/>
                  <a:t>correct</a:t>
                </a:r>
                <a:r>
                  <a:rPr lang="de-DE" sz="2400" dirty="0"/>
                  <a:t> </a:t>
                </a:r>
                <a:r>
                  <a:rPr lang="de-DE" sz="2400" dirty="0" err="1"/>
                  <a:t>for</a:t>
                </a:r>
                <a:r>
                  <a:rPr lang="de-DE" sz="2400" dirty="0"/>
                  <a:t> </a:t>
                </a:r>
                <a:r>
                  <a:rPr lang="de-DE" sz="2400" dirty="0" err="1"/>
                  <a:t>current</a:t>
                </a:r>
                <a:endParaRPr lang="de-DE" sz="2400" dirty="0"/>
              </a:p>
              <a:p>
                <a:endParaRPr lang="de-DE" sz="2400" dirty="0"/>
              </a:p>
              <a:p>
                <a:r>
                  <a:rPr lang="de-DE" sz="2400" dirty="0" err="1"/>
                  <a:t>preferable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for</a:t>
                </a:r>
                <a:r>
                  <a:rPr lang="de-DE" sz="2400" dirty="0"/>
                  <a:t> high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de-DE" sz="2400" dirty="0"/>
                  <a:t> </a:t>
                </a:r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86FCA076-29ED-69CC-C52D-A514768ACB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716" y="4846127"/>
                <a:ext cx="4609189" cy="1200329"/>
              </a:xfrm>
              <a:prstGeom prst="rect">
                <a:avLst/>
              </a:prstGeom>
              <a:blipFill>
                <a:blip r:embed="rId4"/>
                <a:stretch>
                  <a:fillRect l="-2204" t="-4167" b="-1041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BAF08B89-741C-D411-C5FF-17038A7A907D}"/>
                  </a:ext>
                </a:extLst>
              </p:cNvPr>
              <p:cNvSpPr txBox="1"/>
              <p:nvPr/>
            </p:nvSpPr>
            <p:spPr>
              <a:xfrm>
                <a:off x="6952190" y="4846126"/>
                <a:ext cx="4609189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sz="2400" dirty="0" err="1"/>
                  <a:t>measurement</a:t>
                </a:r>
                <a:r>
                  <a:rPr lang="de-DE" sz="2400" dirty="0"/>
                  <a:t> </a:t>
                </a:r>
                <a:r>
                  <a:rPr lang="de-DE" sz="2400" dirty="0" err="1"/>
                  <a:t>correct</a:t>
                </a:r>
                <a:r>
                  <a:rPr lang="de-DE" sz="2400" dirty="0"/>
                  <a:t> </a:t>
                </a:r>
                <a:r>
                  <a:rPr lang="de-DE" sz="2400" dirty="0" err="1"/>
                  <a:t>for</a:t>
                </a:r>
                <a:r>
                  <a:rPr lang="de-DE" sz="2400" dirty="0"/>
                  <a:t> </a:t>
                </a:r>
                <a:r>
                  <a:rPr lang="de-DE" sz="2400" dirty="0" err="1"/>
                  <a:t>voltage</a:t>
                </a:r>
                <a:endParaRPr lang="de-DE" sz="2400" dirty="0"/>
              </a:p>
              <a:p>
                <a:endParaRPr lang="de-DE" sz="2400" dirty="0"/>
              </a:p>
              <a:p>
                <a:r>
                  <a:rPr lang="de-DE" sz="2400" dirty="0"/>
                  <a:t>preferable </a:t>
                </a:r>
                <a:r>
                  <a:rPr lang="de-DE" sz="2400" dirty="0" err="1"/>
                  <a:t>for</a:t>
                </a:r>
                <a:r>
                  <a:rPr lang="de-DE" sz="2400" dirty="0"/>
                  <a:t> </a:t>
                </a:r>
                <a:r>
                  <a:rPr lang="de-DE" sz="2400" dirty="0" err="1"/>
                  <a:t>low</a:t>
                </a:r>
                <a:r>
                  <a:rPr lang="de-DE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de-DE" sz="2400" dirty="0"/>
                  <a:t>  </a:t>
                </a:r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BAF08B89-741C-D411-C5FF-17038A7A90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2190" y="4846126"/>
                <a:ext cx="4609189" cy="1200329"/>
              </a:xfrm>
              <a:prstGeom prst="rect">
                <a:avLst/>
              </a:prstGeom>
              <a:blipFill>
                <a:blip r:embed="rId5"/>
                <a:stretch>
                  <a:fillRect l="-1923" t="-4167" b="-1041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2913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1417</Words>
  <Application>Microsoft Macintosh PowerPoint</Application>
  <PresentationFormat>Breitbild</PresentationFormat>
  <Paragraphs>298</Paragraphs>
  <Slides>32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32</vt:i4>
      </vt:variant>
    </vt:vector>
  </HeadingPairs>
  <TitlesOfParts>
    <vt:vector size="41" baseType="lpstr">
      <vt:lpstr>.AppleSystemUIFont</vt:lpstr>
      <vt:lpstr>Aptos</vt:lpstr>
      <vt:lpstr>Aptos Display</vt:lpstr>
      <vt:lpstr>Arial</vt:lpstr>
      <vt:lpstr>Calibri</vt:lpstr>
      <vt:lpstr>Cambria Math</vt:lpstr>
      <vt:lpstr>Times New Roman</vt:lpstr>
      <vt:lpstr>Wingdings</vt:lpstr>
      <vt:lpstr>Office</vt:lpstr>
      <vt:lpstr>Introduction to Electrical Engineering</vt:lpstr>
      <vt:lpstr>Overview</vt:lpstr>
      <vt:lpstr>Direct Current Circuits</vt:lpstr>
      <vt:lpstr>Direct Current (DC)</vt:lpstr>
      <vt:lpstr>Circuit Calculations</vt:lpstr>
      <vt:lpstr>Short and Open Circuits</vt:lpstr>
      <vt:lpstr>Reference Directions</vt:lpstr>
      <vt:lpstr>PowerPoint-Präsentation</vt:lpstr>
      <vt:lpstr>Sign Conventions</vt:lpstr>
      <vt:lpstr>Kirchhoff‘s Current Law (KCL)</vt:lpstr>
      <vt:lpstr>Kirchhoff‘s Voltage Law (KVL)</vt:lpstr>
      <vt:lpstr>Series Circuit</vt:lpstr>
      <vt:lpstr>Parallel Circuit</vt:lpstr>
      <vt:lpstr>Practical Voltage Source</vt:lpstr>
      <vt:lpstr>I-V Curves</vt:lpstr>
      <vt:lpstr>Practical Current Source</vt:lpstr>
      <vt:lpstr>Several Independent Sources</vt:lpstr>
      <vt:lpstr>Circuit Analysis</vt:lpstr>
      <vt:lpstr>Bridges</vt:lpstr>
      <vt:lpstr>Y-Δ Transform</vt:lpstr>
      <vt:lpstr>PowerPoint-Präsentation</vt:lpstr>
      <vt:lpstr>Systematic Network Analysis</vt:lpstr>
      <vt:lpstr>Representation</vt:lpstr>
      <vt:lpstr>Formulation of Equations</vt:lpstr>
      <vt:lpstr>Approach 1: Use Meshes</vt:lpstr>
      <vt:lpstr>Approach 2: Method of Complete Tree</vt:lpstr>
      <vt:lpstr>System of Linear Equations</vt:lpstr>
      <vt:lpstr>Alternative: Nodal Analysis</vt:lpstr>
      <vt:lpstr>Efficiency</vt:lpstr>
      <vt:lpstr>Power/Impedance Matching</vt:lpstr>
      <vt:lpstr>Voltage and Current Measurement</vt:lpstr>
      <vt:lpstr>Simultaneous Measurement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Felix Wick</dc:creator>
  <cp:lastModifiedBy>Felix Wick</cp:lastModifiedBy>
  <cp:revision>118</cp:revision>
  <dcterms:created xsi:type="dcterms:W3CDTF">2025-08-07T19:07:55Z</dcterms:created>
  <dcterms:modified xsi:type="dcterms:W3CDTF">2026-10-21T20:40:02Z</dcterms:modified>
</cp:coreProperties>
</file>