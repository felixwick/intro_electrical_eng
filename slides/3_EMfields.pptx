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258" r:id="rId2"/>
    <p:sldId id="259" r:id="rId3"/>
    <p:sldId id="257" r:id="rId4"/>
    <p:sldId id="260" r:id="rId5"/>
    <p:sldId id="264" r:id="rId6"/>
    <p:sldId id="265" r:id="rId7"/>
    <p:sldId id="271" r:id="rId8"/>
    <p:sldId id="266" r:id="rId9"/>
    <p:sldId id="267" r:id="rId10"/>
    <p:sldId id="268" r:id="rId11"/>
    <p:sldId id="269" r:id="rId12"/>
    <p:sldId id="273" r:id="rId13"/>
    <p:sldId id="274" r:id="rId14"/>
    <p:sldId id="275" r:id="rId15"/>
    <p:sldId id="276" r:id="rId16"/>
    <p:sldId id="281" r:id="rId17"/>
    <p:sldId id="278" r:id="rId18"/>
    <p:sldId id="282" r:id="rId19"/>
    <p:sldId id="283" r:id="rId20"/>
    <p:sldId id="284" r:id="rId21"/>
    <p:sldId id="285" r:id="rId22"/>
    <p:sldId id="288" r:id="rId23"/>
    <p:sldId id="290" r:id="rId24"/>
    <p:sldId id="279" r:id="rId25"/>
    <p:sldId id="289" r:id="rId26"/>
    <p:sldId id="296" r:id="rId27"/>
    <p:sldId id="297" r:id="rId28"/>
    <p:sldId id="293" r:id="rId29"/>
    <p:sldId id="292" r:id="rId30"/>
    <p:sldId id="302" r:id="rId31"/>
    <p:sldId id="301" r:id="rId32"/>
    <p:sldId id="312" r:id="rId33"/>
    <p:sldId id="313" r:id="rId34"/>
    <p:sldId id="303" r:id="rId35"/>
    <p:sldId id="304" r:id="rId36"/>
    <p:sldId id="305" r:id="rId37"/>
    <p:sldId id="309" r:id="rId38"/>
    <p:sldId id="310" r:id="rId39"/>
    <p:sldId id="311" r:id="rId40"/>
    <p:sldId id="299" r:id="rId41"/>
    <p:sldId id="270" r:id="rId42"/>
    <p:sldId id="306" r:id="rId43"/>
    <p:sldId id="307" r:id="rId44"/>
    <p:sldId id="308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3"/>
    <p:restoredTop sz="94635"/>
  </p:normalViewPr>
  <p:slideViewPr>
    <p:cSldViewPr snapToGrid="0">
      <p:cViewPr varScale="1">
        <p:scale>
          <a:sx n="120" d="100"/>
          <a:sy n="120" d="100"/>
        </p:scale>
        <p:origin x="8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DC04F0-E5BE-8A4A-8776-A62D8C908562}" type="datetimeFigureOut">
              <a:rPr lang="de-DE" smtClean="0"/>
              <a:t>06.11.25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5AC9E4-BC66-294A-BBCA-AADF2923F4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8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E06EC-6212-A954-5C82-F5DA267427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055F870-50BC-A313-ABDB-D6E2ABBA0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E4CA08-2C1B-84C4-B694-2FEE806AD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018AE-B51C-A64B-9A0C-D7153E8CACE6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E0539B-DF65-26CE-BED7-31802C9DA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2C57E9-651C-F23C-976F-510D012B1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77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212A4-B429-510A-CD19-219A60E9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6D7005-5E3E-A66B-6850-7D44B9CE3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75665B-AA66-BAEB-8278-65AC08E1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ECF6B-8059-A740-9918-ABE00CA15C78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1E57F1-8944-DD0E-B240-D24866D83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12F154-E628-CD75-2F35-475967A4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0296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82A214-C610-8455-3B7C-979EE44A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B4D127-1228-61AB-33FF-7987E1D51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41E002-F129-3E65-BF60-63FBF24F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FC42D-A9F2-5F46-A6E4-83DA21EB1DA7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CAB499-6265-0266-772C-F37A7393A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D73ADA-6B90-9F92-D1C3-A854879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2576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3F3795-A41B-8C9F-D315-BEF68A15B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0860AA-2D27-99BB-BEA8-0C6D03FD51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F5C5FA-43CD-9E92-3F43-7D54FDA9B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BD5EEE5-CFB0-E2EB-55DC-11CBC0084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FD078-B7D9-0342-B0FE-83C1567B4968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BBE098A-2F36-C9FB-838D-16AD98F05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C2C5B7-0A55-30DD-9417-FA4F816B7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152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A33B71-7D9C-5EB0-E3B4-F18914ADD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CF58E3-598A-A2BE-E7DC-E097663B8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780D880-D4D5-53F2-85E4-B48FCD6EA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AD1D3AE-A9AC-4FB7-B684-664E8B02A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4876982-368C-79CA-F81C-007EC1064D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19DF5A6-72DE-8BAE-52E1-07B93FAF5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8CBD0-47FD-FD4F-ADBF-3FB7FC45433E}" type="datetime1">
              <a:rPr lang="de-DE" smtClean="0"/>
              <a:t>06.11.25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2106D21-4323-EC4B-35F6-5F15BD007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90A5635-7288-2B37-B46B-39BEE9D3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774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50535A-4441-B86C-1B2F-63FC4012D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8DB4CC-5C0F-94B2-1C87-A767B49D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EC05A-809E-F549-AD27-341B7CF88349}" type="datetime1">
              <a:rPr lang="de-DE" smtClean="0"/>
              <a:t>06.11.25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5663F2A-15F7-6DAA-0EF8-EE8E72C78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0C2F4F-3F62-47FF-2D9E-B3B6B0FF3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941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A588DC4-D704-4549-929A-036E84261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63BD5-7960-964B-ABA8-1C0937CF751A}" type="datetime1">
              <a:rPr lang="de-DE" smtClean="0"/>
              <a:t>06.11.25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182277-7A20-25C7-270F-49D1065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FE270B-CF91-10F3-7E25-12D61FB3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1584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1D12C-7814-AE7A-F088-AAAF7AF77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6058D0-170E-33B9-B023-D12C2E41C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5D1EDA3-F120-2969-1AE3-5212E6CF23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3779CCF-73B9-A37C-0A35-8AB2711E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F2940-51DB-7140-BB32-48914177C83A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6CAF77-914B-2538-D28C-A86D9748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4D5AB4-C0F7-5C56-7BB4-7CBD7B79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C3D59-942F-281D-24A2-F27077F1A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600AF17-7024-863A-E49B-BE425DE45C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5C0014-2C02-C2E9-A881-5A88D74EC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7C76CD5-04B1-2DCB-54F8-811870FDB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4A856-6E11-F548-8CC2-863CEFD27DC6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24D664-82EA-5EB5-79DE-B5A65C59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2DE28B-3971-F357-42D1-2A8910D8A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7536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7B616C-1248-1DEE-78B5-88C76CC77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5027D1-0223-28EA-EB8D-6249C0C34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563E31-F3DB-B82A-BFF4-CDB84D221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C5C3D-0BCE-1A4D-A038-C3C9983AFE30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AF18BF-85B2-A1CB-D512-EEF800D2D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E84F8B-B34E-D848-08DE-EE3989FB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5640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41AF314-D5B3-649D-2BFC-90EA770E6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4106AF-1CCE-6507-7F86-96090B759E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1DAD7C-1CB8-EC1F-2C75-48C6A9F60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33CD-81AD-F94E-B1E8-C5B8F4DE9753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18258E-97A2-BD89-2737-5330ACCC4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645D6F-2AAF-C446-7A8B-72FB7F0FF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18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1CC1D5-6B37-BFC5-262F-6A7C9241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86BA95-3AEC-B77E-2C66-6DD233E96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BD4D17-DE2E-A782-0AB0-2C4F1716C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69303-EE48-C043-8CDB-E1F4E46B58D5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3E0497-CBA6-1E78-74C1-4565A8FF9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ECC9F-BD10-E42A-A50D-B561BEFEF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013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1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38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4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tif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8.png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tif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6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svg"/><Relationship Id="rId4" Type="http://schemas.openxmlformats.org/officeDocument/2006/relationships/image" Target="../media/image7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0.png"/><Relationship Id="rId4" Type="http://schemas.openxmlformats.org/officeDocument/2006/relationships/image" Target="../media/image77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78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svg"/><Relationship Id="rId5" Type="http://schemas.openxmlformats.org/officeDocument/2006/relationships/image" Target="../media/image82.png"/><Relationship Id="rId4" Type="http://schemas.openxmlformats.org/officeDocument/2006/relationships/image" Target="../media/image6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jpe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8.png"/><Relationship Id="rId4" Type="http://schemas.openxmlformats.org/officeDocument/2006/relationships/image" Target="../media/image9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/>
              <a:t>Electric and </a:t>
            </a:r>
            <a:r>
              <a:rPr lang="de-DE" b="1" dirty="0" err="1"/>
              <a:t>Magnetic</a:t>
            </a:r>
            <a:r>
              <a:rPr lang="de-DE" b="1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987FFB-EB4F-C9BB-73C5-AF5E509BA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224C21-80A3-E7B8-3CD6-200D3C386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Coulomb Force</a:t>
            </a:r>
          </a:p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Capacitance</a:t>
            </a:r>
            <a:r>
              <a:rPr lang="de-DE" dirty="0"/>
              <a:t> &amp; </a:t>
            </a:r>
            <a:r>
              <a:rPr lang="de-DE" dirty="0" err="1"/>
              <a:t>Capacitor</a:t>
            </a:r>
            <a:endParaRPr lang="de-DE" dirty="0"/>
          </a:p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Inductivity</a:t>
            </a:r>
            <a:r>
              <a:rPr lang="de-DE" dirty="0"/>
              <a:t> &amp; </a:t>
            </a:r>
            <a:r>
              <a:rPr lang="de-DE" dirty="0" err="1"/>
              <a:t>Inductor</a:t>
            </a:r>
            <a:endParaRPr lang="de-DE" dirty="0"/>
          </a:p>
          <a:p>
            <a:r>
              <a:rPr lang="de-DE" dirty="0"/>
              <a:t>Transformer</a:t>
            </a:r>
          </a:p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/>
              <a:t>Transient Responses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0A4E34-72E3-5600-6CA0-4AC1B813A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7408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6F556-D5F5-651C-B319-53C2E7D8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Coulomb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strives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bodies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electrostatic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field</a:t>
                </a:r>
                <a:r>
                  <a:rPr lang="de-DE" dirty="0">
                    <a:sym typeface="Wingdings" pitchFamily="2" charset="2"/>
                  </a:rPr>
                  <a:t> in (ideal) </a:t>
                </a:r>
                <a:r>
                  <a:rPr lang="de-DE" dirty="0" err="1"/>
                  <a:t>conductors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87873D-688B-E72F-5814-937F5E6DE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685001-A36C-958F-8C93-9BF40F94F398}"/>
              </a:ext>
            </a:extLst>
          </p:cNvPr>
          <p:cNvSpPr txBox="1"/>
          <p:nvPr/>
        </p:nvSpPr>
        <p:spPr>
          <a:xfrm>
            <a:off x="6224752" y="717629"/>
            <a:ext cx="4193627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associating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in </a:t>
            </a:r>
            <a:r>
              <a:rPr lang="de-DE" sz="2200" dirty="0" err="1"/>
              <a:t>space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Coulomb </a:t>
            </a:r>
            <a:r>
              <a:rPr lang="de-DE" sz="2200" dirty="0" err="1"/>
              <a:t>force</a:t>
            </a:r>
            <a:r>
              <a:rPr lang="de-DE" sz="2200" dirty="0"/>
              <a:t> </a:t>
            </a:r>
            <a:r>
              <a:rPr lang="de-DE" sz="2200" dirty="0" err="1"/>
              <a:t>experienced</a:t>
            </a:r>
            <a:r>
              <a:rPr lang="de-DE" sz="2200" dirty="0"/>
              <a:t> </a:t>
            </a:r>
            <a:r>
              <a:rPr lang="de-DE" sz="2200" dirty="0" err="1"/>
              <a:t>by</a:t>
            </a:r>
            <a:r>
              <a:rPr lang="de-DE" sz="2200" dirty="0"/>
              <a:t> a </a:t>
            </a:r>
            <a:r>
              <a:rPr lang="de-DE" sz="2200" dirty="0" err="1"/>
              <a:t>unit</a:t>
            </a:r>
            <a:r>
              <a:rPr lang="de-DE" sz="2200" dirty="0"/>
              <a:t> </a:t>
            </a:r>
            <a:r>
              <a:rPr lang="de-DE" sz="2200" dirty="0" err="1"/>
              <a:t>test</a:t>
            </a:r>
            <a:r>
              <a:rPr lang="de-DE" sz="2200" dirty="0"/>
              <a:t> </a:t>
            </a:r>
            <a:r>
              <a:rPr lang="de-DE" sz="2200" dirty="0" err="1"/>
              <a:t>charge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BF34FDD-7FB7-66A1-4B5C-1E8BEE71922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7283669" y="1825625"/>
            <a:ext cx="1037897" cy="10542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0402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561D1A-6BD2-E4F5-CDF8-ED4CE383D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C90E17-2901-2ECC-9B3A-F403A1987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06B3796-5E3A-9449-44D5-D86F71255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0028" y="1"/>
            <a:ext cx="3781971" cy="2522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A5094CC-61F8-0367-6C06-79FF1C136E56}"/>
              </a:ext>
            </a:extLst>
          </p:cNvPr>
          <p:cNvSpPr txBox="1"/>
          <p:nvPr/>
        </p:nvSpPr>
        <p:spPr>
          <a:xfrm>
            <a:off x="3581401" y="5946130"/>
            <a:ext cx="3232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electrical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</a:t>
            </a:r>
            <a:r>
              <a:rPr lang="de-DE" sz="2400" dirty="0" err="1"/>
              <a:t>strength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A54B0AE-BA3A-720F-9056-17E882D7F681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5197485" y="5244662"/>
            <a:ext cx="288915" cy="70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85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F8D3919-E5EE-70F9-E283-3C941E7E9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 Lines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42392A4-7186-4AD3-13F1-4538D2BC3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76464" cy="4351338"/>
          </a:xfrm>
        </p:spPr>
        <p:txBody>
          <a:bodyPr>
            <a:normAutofit fontScale="92500" lnSpcReduction="20000"/>
          </a:bodyPr>
          <a:lstStyle/>
          <a:p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 follow </a:t>
            </a:r>
            <a:r>
              <a:rPr lang="de-DE" sz="2600" dirty="0" err="1"/>
              <a:t>direction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start</a:t>
            </a:r>
            <a:r>
              <a:rPr lang="de-DE" sz="2600" dirty="0"/>
              <a:t> at positive </a:t>
            </a:r>
            <a:r>
              <a:rPr lang="de-DE" sz="2600" dirty="0" err="1"/>
              <a:t>charges</a:t>
            </a:r>
            <a:r>
              <a:rPr lang="de-DE" sz="2600" dirty="0"/>
              <a:t> and end at negative </a:t>
            </a:r>
            <a:r>
              <a:rPr lang="de-DE" sz="2600" dirty="0" err="1"/>
              <a:t>charges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density</a:t>
            </a:r>
            <a:r>
              <a:rPr lang="de-DE" sz="2600" dirty="0"/>
              <a:t> </a:t>
            </a:r>
            <a:r>
              <a:rPr lang="de-DE" sz="2600" dirty="0" err="1"/>
              <a:t>indicates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strength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equipotential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/</a:t>
            </a:r>
            <a:r>
              <a:rPr lang="de-DE" sz="2600" dirty="0" err="1"/>
              <a:t>surfaces</a:t>
            </a:r>
            <a:r>
              <a:rPr lang="de-DE" sz="2600" dirty="0"/>
              <a:t> </a:t>
            </a:r>
            <a:r>
              <a:rPr lang="de-DE" sz="2600" dirty="0" err="1"/>
              <a:t>perpendicular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endParaRPr lang="de-DE" sz="260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45A6535-D456-9B52-E001-BA05A84A5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0E958E2-534E-2473-D698-A904371E6B75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900" y="2137470"/>
            <a:ext cx="4176464" cy="4110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3E40C46-BC2A-A0F0-6D38-669FB4C7EF0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021" y="738276"/>
            <a:ext cx="3407979" cy="2460415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C34FC4C9-86F0-08A0-03F9-6A2F4D392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0525" y="3442093"/>
            <a:ext cx="2454970" cy="2878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F845BDB-8C05-BA5F-F29D-EE3A907755D1}"/>
              </a:ext>
            </a:extLst>
          </p:cNvPr>
          <p:cNvSpPr txBox="1"/>
          <p:nvPr/>
        </p:nvSpPr>
        <p:spPr>
          <a:xfrm>
            <a:off x="6155837" y="1729554"/>
            <a:ext cx="1487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charge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562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D14458-681E-4F53-A397-258D8D48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5465" b="-497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670DB5-B0C4-4F89-D914-91AC9C65C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7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DD88D46-8E60-1305-D8D3-5B2B1D5C250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950" y="2766219"/>
            <a:ext cx="53721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582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0B0CFD-2191-B5C1-6FC1-494C4ACE0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A244D8-9720-EFBD-8BA6-820C90AA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8</a:t>
            </a:fld>
            <a:endParaRPr lang="de-DE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3C9C01D-24BC-EEBF-2CAA-69C0C29FC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96" y="1743026"/>
            <a:ext cx="3874054" cy="221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8F8AF1FC-8859-8E55-F2B0-645CDC495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15" y="1743026"/>
            <a:ext cx="3853589" cy="2202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Pfeil nach rechts 6">
            <a:extLst>
              <a:ext uri="{FF2B5EF4-FFF2-40B4-BE49-F238E27FC236}">
                <a16:creationId xmlns:a16="http://schemas.microsoft.com/office/drawing/2014/main" id="{43560A69-9FB7-1BE1-5D98-1FA8DA10F13F}"/>
              </a:ext>
            </a:extLst>
          </p:cNvPr>
          <p:cNvSpPr/>
          <p:nvPr/>
        </p:nvSpPr>
        <p:spPr>
          <a:xfrm>
            <a:off x="5580327" y="2692089"/>
            <a:ext cx="1166648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12A423B-FDFC-B8EB-43C3-76D914AA255E}"/>
              </a:ext>
            </a:extLst>
          </p:cNvPr>
          <p:cNvSpPr txBox="1"/>
          <p:nvPr/>
        </p:nvSpPr>
        <p:spPr>
          <a:xfrm>
            <a:off x="522893" y="4581318"/>
            <a:ext cx="54364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sym typeface="Wingdings" pitchFamily="2" charset="2"/>
              </a:rPr>
              <a:t>conductor</a:t>
            </a:r>
            <a:r>
              <a:rPr lang="de-DE" sz="2400" dirty="0">
                <a:sym typeface="Wingdings" pitchFamily="2" charset="2"/>
              </a:rPr>
              <a:t> in </a:t>
            </a:r>
            <a:r>
              <a:rPr lang="de-DE" sz="2400" dirty="0" err="1">
                <a:sym typeface="Wingdings" pitchFamily="2" charset="2"/>
              </a:rPr>
              <a:t>electric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field</a:t>
            </a:r>
            <a:endParaRPr lang="de-DE" sz="2400" dirty="0">
              <a:sym typeface="Wingdings" pitchFamily="2" charset="2"/>
            </a:endParaRPr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electrostatic</a:t>
            </a:r>
            <a:r>
              <a:rPr lang="de-DE" sz="2400" dirty="0"/>
              <a:t> </a:t>
            </a:r>
            <a:r>
              <a:rPr lang="de-DE" sz="2400" dirty="0" err="1"/>
              <a:t>induction</a:t>
            </a:r>
            <a:r>
              <a:rPr lang="de-DE" sz="2400" dirty="0"/>
              <a:t>, aka </a:t>
            </a:r>
            <a:r>
              <a:rPr lang="de-DE" sz="2400" dirty="0" err="1"/>
              <a:t>influence</a:t>
            </a:r>
            <a:r>
              <a:rPr lang="de-DE" sz="2400" dirty="0"/>
              <a:t> (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Coulomb </a:t>
            </a:r>
            <a:r>
              <a:rPr lang="de-DE" sz="2400" dirty="0" err="1"/>
              <a:t>force</a:t>
            </a:r>
            <a:r>
              <a:rPr lang="de-DE" sz="2400" dirty="0"/>
              <a:t>)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576EE79-EE06-01D5-BBC9-DC13550B419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2953407" y="3289735"/>
            <a:ext cx="287724" cy="1291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18972C89-137E-CEA3-3526-A98BDED8D268}"/>
              </a:ext>
            </a:extLst>
          </p:cNvPr>
          <p:cNvSpPr txBox="1"/>
          <p:nvPr/>
        </p:nvSpPr>
        <p:spPr>
          <a:xfrm>
            <a:off x="7241627" y="4581318"/>
            <a:ext cx="44274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surface</a:t>
            </a:r>
            <a:r>
              <a:rPr lang="de-DE" sz="2400" dirty="0"/>
              <a:t> </a:t>
            </a:r>
            <a:r>
              <a:rPr lang="de-DE" sz="2400" dirty="0" err="1"/>
              <a:t>charges</a:t>
            </a:r>
            <a:r>
              <a:rPr lang="de-DE" sz="2400" dirty="0"/>
              <a:t> </a:t>
            </a:r>
            <a:r>
              <a:rPr lang="de-DE" sz="2400" dirty="0" err="1"/>
              <a:t>cancel</a:t>
            </a:r>
            <a:r>
              <a:rPr lang="de-DE" sz="2400" dirty="0"/>
              <a:t> </a:t>
            </a:r>
            <a:r>
              <a:rPr lang="de-DE" sz="2400" dirty="0" err="1"/>
              <a:t>electric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in </a:t>
            </a:r>
            <a:r>
              <a:rPr lang="de-DE" sz="2400" dirty="0" err="1"/>
              <a:t>conductor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Faraday </a:t>
            </a:r>
            <a:r>
              <a:rPr lang="de-DE" sz="2400" dirty="0" err="1"/>
              <a:t>cage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1011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D690F9-98BE-6BA0-BA65-DD9C30A82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Displacement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𝜀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dirty="0"/>
                  <a:t>absolute </a:t>
                </a:r>
                <a:r>
                  <a:rPr lang="de-DE" dirty="0" err="1"/>
                  <a:t>permittivity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p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polarization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displaced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16DB53-59FC-9E9B-76B7-2EA79A115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/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vacuum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permittivity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physical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constant</a:t>
                </a:r>
                <a:r>
                  <a:rPr lang="de-DE" sz="2200" dirty="0"/>
                  <a:t>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1200">
                          <a:latin typeface="Cambria Math" panose="02040503050406030204" pitchFamily="18" charset="0"/>
                        </a:rPr>
                        <m:t>=8,854∙</m:t>
                      </m:r>
                      <m:sSup>
                        <m:sSup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−12</m:t>
                          </m:r>
                        </m:sup>
                      </m:sSup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Vm</m:t>
                          </m:r>
                        </m:den>
                      </m:f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blipFill>
                <a:blip r:embed="rId3"/>
                <a:stretch>
                  <a:fillRect l="-2913" t="-3371" r="-14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3617A28-E2D5-805D-1A46-2BBB66BC01A5}"/>
              </a:ext>
            </a:extLst>
          </p:cNvPr>
          <p:cNvSpPr txBox="1"/>
          <p:nvPr/>
        </p:nvSpPr>
        <p:spPr>
          <a:xfrm>
            <a:off x="6249071" y="3142532"/>
            <a:ext cx="295799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relative </a:t>
            </a:r>
            <a:r>
              <a:rPr lang="de-DE" sz="2200" dirty="0" err="1"/>
              <a:t>permittivity</a:t>
            </a:r>
            <a:r>
              <a:rPr lang="de-DE" sz="2200" dirty="0"/>
              <a:t>, aka </a:t>
            </a:r>
            <a:r>
              <a:rPr lang="de-DE" sz="2200" dirty="0" err="1"/>
              <a:t>dielectric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 (material </a:t>
            </a:r>
            <a:r>
              <a:rPr lang="de-DE" sz="2200" dirty="0" err="1"/>
              <a:t>dependent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23270DA-E5AF-4CBF-7F02-E68537DBE456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023948" y="2275729"/>
            <a:ext cx="1225123" cy="656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4930ECD-01BB-344F-CE35-4C78D41863EA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80993" y="3142532"/>
            <a:ext cx="668078" cy="553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/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blipFill>
                <a:blip r:embed="rId4"/>
                <a:stretch>
                  <a:fillRect l="-3846" r="-2885" b="-181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feld 26">
            <a:extLst>
              <a:ext uri="{FF2B5EF4-FFF2-40B4-BE49-F238E27FC236}">
                <a16:creationId xmlns:a16="http://schemas.microsoft.com/office/drawing/2014/main" id="{18FCF857-8733-CB12-4609-F8461E592B5E}"/>
              </a:ext>
            </a:extLst>
          </p:cNvPr>
          <p:cNvSpPr txBox="1"/>
          <p:nvPr/>
        </p:nvSpPr>
        <p:spPr>
          <a:xfrm>
            <a:off x="10657490" y="2039007"/>
            <a:ext cx="135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endParaRPr lang="de-DE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0650AED4-0E16-B05D-7817-19BD68E32EBA}"/>
              </a:ext>
            </a:extLst>
          </p:cNvPr>
          <p:cNvCxnSpPr>
            <a:stCxn id="27" idx="2"/>
          </p:cNvCxnSpPr>
          <p:nvPr/>
        </p:nvCxnSpPr>
        <p:spPr>
          <a:xfrm>
            <a:off x="11337324" y="2408339"/>
            <a:ext cx="255587" cy="425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619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29F4C70-B761-8837-4FE8-54D50458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Dielectric</a:t>
            </a:r>
            <a:r>
              <a:rPr lang="de-DE" dirty="0"/>
              <a:t>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insulators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dielectrics</a:t>
                </a:r>
                <a:r>
                  <a:rPr lang="de-DE" sz="2400" dirty="0"/>
                  <a:t>) in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field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electrons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slightly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shifted</a:t>
                </a:r>
                <a:r>
                  <a:rPr lang="de-DE" sz="2400" dirty="0">
                    <a:sym typeface="Wingdings" pitchFamily="2" charset="2"/>
                  </a:rPr>
                  <a:t> relative </a:t>
                </a:r>
                <a:r>
                  <a:rPr lang="de-DE" sz="2400" dirty="0" err="1">
                    <a:sym typeface="Wingdings" pitchFamily="2" charset="2"/>
                  </a:rPr>
                  <a:t>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nuclei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polarization</a:t>
                </a:r>
                <a:r>
                  <a:rPr lang="de-DE" sz="2400" dirty="0">
                    <a:sym typeface="Wingdings" pitchFamily="2" charset="2"/>
                  </a:rPr>
                  <a:t>),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more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weakens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electric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field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inside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dielectric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200" dirty="0" err="1">
                    <a:sym typeface="Wingdings" pitchFamily="2" charset="2"/>
                  </a:rPr>
                  <a:t>inside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perfect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conductors</a:t>
                </a:r>
                <a:r>
                  <a:rPr lang="de-DE" sz="2200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since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), </a:t>
                </a:r>
                <a:r>
                  <a:rPr lang="de-DE" sz="2200" dirty="0" err="1">
                    <a:sym typeface="Wingdings" pitchFamily="2" charset="2"/>
                  </a:rPr>
                  <a:t>although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free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charges</a:t>
                </a:r>
                <a:r>
                  <a:rPr lang="de-DE" sz="2200" dirty="0">
                    <a:sym typeface="Wingdings" pitchFamily="2" charset="2"/>
                  </a:rPr>
                  <a:t>)</a:t>
                </a:r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965" t="-1955" b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05324-8D2A-103A-31DF-F1772896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80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5−10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2−4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r="-939" b="-5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96667" r="-939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203448" r="-939" b="-3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03448" r="-939" b="-2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90000" r="-939" b="-12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50612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619F64-8081-3325-1DA2-C5841B6A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surface integral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displacement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yields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enclosed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charges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differential form (</a:t>
                </a:r>
                <a:r>
                  <a:rPr lang="de-DE" sz="2400" dirty="0" err="1"/>
                  <a:t>equivalent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integral form):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4C9A88-0E24-72F8-4645-12331553C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11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ABA1CCC-5AD3-614C-36A1-B089D4DFF543}"/>
              </a:ext>
            </a:extLst>
          </p:cNvPr>
          <p:cNvSpPr txBox="1"/>
          <p:nvPr/>
        </p:nvSpPr>
        <p:spPr>
          <a:xfrm>
            <a:off x="7240315" y="5957948"/>
            <a:ext cx="1647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charge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A550F01-4534-6651-09A6-98C6EA0D67BD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6495393" y="5475890"/>
            <a:ext cx="744922" cy="666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/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free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(</a:t>
                </a:r>
                <a:r>
                  <a:rPr lang="de-DE" dirty="0" err="1"/>
                  <a:t>polarization</a:t>
                </a:r>
                <a:r>
                  <a:rPr lang="de-DE" dirty="0"/>
                  <a:t> </a:t>
                </a:r>
                <a:r>
                  <a:rPr lang="de-DE" dirty="0" err="1"/>
                  <a:t>included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blipFill>
                <a:blip r:embed="rId3"/>
                <a:stretch>
                  <a:fillRect l="-1778" t="-5769" r="-88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14013FC-E034-7138-2E0D-8A0E54E7F605}"/>
              </a:ext>
            </a:extLst>
          </p:cNvPr>
          <p:cNvCxnSpPr/>
          <p:nvPr/>
        </p:nvCxnSpPr>
        <p:spPr>
          <a:xfrm flipH="1" flipV="1">
            <a:off x="7126014" y="3331779"/>
            <a:ext cx="938049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5C8A4991-1FD2-77B3-83C4-74D1B05D6D01}"/>
              </a:ext>
            </a:extLst>
          </p:cNvPr>
          <p:cNvSpPr txBox="1"/>
          <p:nvPr/>
        </p:nvSpPr>
        <p:spPr>
          <a:xfrm>
            <a:off x="3683325" y="5957948"/>
            <a:ext cx="1268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divergence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25D1B1D-168D-A215-ABB6-403CC2F9966F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4317506" y="5328745"/>
            <a:ext cx="822053" cy="629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203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068497-E009-BC8D-C95F-BC96F7556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Plate </a:t>
            </a:r>
            <a:r>
              <a:rPr lang="de-DE" dirty="0" err="1"/>
              <a:t>Capacitor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66A5-3591-0825-1474-BB0A5845B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7E15BDD-AC7E-4175-BAA4-87C024DB53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64400" y="1825625"/>
            <a:ext cx="4089400" cy="44958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BAAD2B6-0618-B492-E5F8-1F234AE9FD64}"/>
              </a:ext>
            </a:extLst>
          </p:cNvPr>
          <p:cNvSpPr txBox="1"/>
          <p:nvPr/>
        </p:nvSpPr>
        <p:spPr>
          <a:xfrm>
            <a:off x="5638800" y="2974427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/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depends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on </a:t>
                </a:r>
                <a:r>
                  <a:rPr lang="de-DE" sz="2000" dirty="0" err="1"/>
                  <a:t>geometry</a:t>
                </a:r>
                <a:r>
                  <a:rPr lang="de-DE" sz="2000" dirty="0"/>
                  <a:t> and </a:t>
                </a:r>
                <a:r>
                  <a:rPr lang="de-DE" sz="2000" dirty="0" err="1"/>
                  <a:t>dielectric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blipFill>
                <a:blip r:embed="rId5"/>
                <a:stretch>
                  <a:fillRect l="-2119" b="-8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Geschweifte Klammer rechts 9">
            <a:extLst>
              <a:ext uri="{FF2B5EF4-FFF2-40B4-BE49-F238E27FC236}">
                <a16:creationId xmlns:a16="http://schemas.microsoft.com/office/drawing/2014/main" id="{705730C0-E282-9C2B-71EA-4D2306A5264D}"/>
              </a:ext>
            </a:extLst>
          </p:cNvPr>
          <p:cNvSpPr/>
          <p:nvPr/>
        </p:nvSpPr>
        <p:spPr>
          <a:xfrm rot="5400000">
            <a:off x="3311477" y="4757291"/>
            <a:ext cx="303101" cy="14453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7FD5930-17FC-EC2E-5161-FE2339D10756}"/>
              </a:ext>
            </a:extLst>
          </p:cNvPr>
          <p:cNvSpPr txBox="1"/>
          <p:nvPr/>
        </p:nvSpPr>
        <p:spPr>
          <a:xfrm>
            <a:off x="8065766" y="365125"/>
            <a:ext cx="3888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r>
              <a:rPr lang="de-DE" dirty="0"/>
              <a:t> </a:t>
            </a:r>
            <a:r>
              <a:rPr lang="de-DE" dirty="0" err="1"/>
              <a:t>counteracts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more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charge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can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stored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FF20A85-0D30-D171-CBE4-EF836B1C2B8E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9396248" y="1011456"/>
            <a:ext cx="613673" cy="901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097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FFFB3F-982C-1933-01A9-D3CD8FA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As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V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farad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01BE73-445F-CCAB-FDC5-17AF38FD9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0B68C0-5076-50A0-4D3B-A6B533310D6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7677" y="551787"/>
            <a:ext cx="1926123" cy="95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04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90AAE5-D1BA-BE05-CC31-DC22CCF4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b="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14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A4A7D-0836-93D3-FE34-C909F1F1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ACE58CF-693A-4B4B-24EC-02EB26EA900F}"/>
              </a:ext>
            </a:extLst>
          </p:cNvPr>
          <p:cNvSpPr txBox="1"/>
          <p:nvPr/>
        </p:nvSpPr>
        <p:spPr>
          <a:xfrm>
            <a:off x="6096000" y="2410753"/>
            <a:ext cx="52578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r>
              <a:rPr lang="de-DE" sz="2800" dirty="0"/>
              <a:t> (</a:t>
            </a:r>
            <a:r>
              <a:rPr lang="de-DE" sz="2800" dirty="0" err="1"/>
              <a:t>since</a:t>
            </a:r>
            <a:r>
              <a:rPr lang="de-DE" sz="2800" dirty="0"/>
              <a:t> </a:t>
            </a:r>
            <a:r>
              <a:rPr lang="de-DE" sz="2800" dirty="0" err="1"/>
              <a:t>charge</a:t>
            </a:r>
            <a:r>
              <a:rPr lang="de-DE" sz="2800" dirty="0"/>
              <a:t> </a:t>
            </a:r>
            <a:r>
              <a:rPr lang="de-DE" sz="2800" dirty="0" err="1"/>
              <a:t>cannot</a:t>
            </a:r>
            <a:r>
              <a:rPr lang="de-DE" sz="2800" dirty="0"/>
              <a:t> jump </a:t>
            </a:r>
            <a:r>
              <a:rPr lang="de-DE" sz="2800" dirty="0" err="1"/>
              <a:t>infinitely</a:t>
            </a:r>
            <a:r>
              <a:rPr lang="de-DE" sz="2800" dirty="0"/>
              <a:t> fast)</a:t>
            </a:r>
          </a:p>
          <a:p>
            <a:endParaRPr lang="de-DE" sz="2800" dirty="0"/>
          </a:p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r>
              <a:rPr lang="de-DE" sz="2800" dirty="0"/>
              <a:t> (</a:t>
            </a:r>
            <a:r>
              <a:rPr lang="de-DE" sz="2800" dirty="0" err="1"/>
              <a:t>because</a:t>
            </a:r>
            <a:r>
              <a:rPr lang="de-DE" sz="2800" dirty="0"/>
              <a:t> </a:t>
            </a:r>
            <a:r>
              <a:rPr lang="de-DE" sz="2800" dirty="0" err="1"/>
              <a:t>it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derivative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voltage</a:t>
            </a:r>
            <a:r>
              <a:rPr lang="de-DE" sz="2800" dirty="0"/>
              <a:t>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DCD844-C011-8B3C-3BD9-B94786D50E98}"/>
              </a:ext>
            </a:extLst>
          </p:cNvPr>
          <p:cNvSpPr txBox="1"/>
          <p:nvPr/>
        </p:nvSpPr>
        <p:spPr>
          <a:xfrm>
            <a:off x="2102070" y="5946130"/>
            <a:ext cx="35773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no</a:t>
            </a:r>
            <a:r>
              <a:rPr lang="de-DE" sz="2400" dirty="0"/>
              <a:t> DC </a:t>
            </a:r>
            <a:r>
              <a:rPr lang="de-DE" sz="2400" dirty="0" err="1"/>
              <a:t>through</a:t>
            </a:r>
            <a:r>
              <a:rPr lang="de-DE" sz="2400" dirty="0"/>
              <a:t> </a:t>
            </a:r>
            <a:r>
              <a:rPr lang="de-DE" sz="2400" dirty="0" err="1"/>
              <a:t>capacitors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696D076-5735-44C2-A4A7-C4533931BD7E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4939862"/>
            <a:ext cx="1546926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677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65209F-D73D-4F92-75F0-D08E5D92C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𝑑𝑣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CC849B-EA20-D3F6-04BA-6BF2CEC0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7206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D583-5B29-3896-F17C-46315307C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CD6BE3-1FF9-6A13-8D08-D1B3382F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AE0D35-88FE-B062-3A87-EB9D0C9F8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16</a:t>
            </a:fld>
            <a:endParaRPr lang="de-DE"/>
          </a:p>
        </p:txBody>
      </p:sp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47B49A1F-080D-54A1-CB0E-1E41CA0D3C9B}"/>
              </a:ext>
            </a:extLst>
          </p:cNvPr>
          <p:cNvPicPr>
            <a:picLocks noGrp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478" y="1836490"/>
            <a:ext cx="3889375" cy="18446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/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blipFill>
                <a:blip r:embed="rId3"/>
                <a:stretch>
                  <a:fillRect l="-4324" t="-95604" r="-6757" b="-1362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blipFill>
                <a:blip r:embed="rId4"/>
                <a:stretch>
                  <a:fillRect t="-106316" r="-5946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/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blipFill>
                <a:blip r:embed="rId5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blipFill>
                <a:blip r:embed="rId6"/>
                <a:stretch>
                  <a:fillRect l="-1736" t="-2000" r="-926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76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1BC084-80B4-7326-8A1C-2B7BC157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D084E5-5714-B28F-F669-C6E21FC84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17</a:t>
            </a:fld>
            <a:endParaRPr lang="de-DE"/>
          </a:p>
        </p:txBody>
      </p:sp>
      <p:pic>
        <p:nvPicPr>
          <p:cNvPr id="5" name="Inhaltsplatzhalter 11">
            <a:extLst>
              <a:ext uri="{FF2B5EF4-FFF2-40B4-BE49-F238E27FC236}">
                <a16:creationId xmlns:a16="http://schemas.microsoft.com/office/drawing/2014/main" id="{7CD04EDB-1EC7-2175-CF97-48DA98554AED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437" y="1643933"/>
            <a:ext cx="3719121" cy="21706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/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/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blipFill>
                <a:blip r:embed="rId4"/>
                <a:stretch>
                  <a:fillRect l="-276" t="-107368" r="-718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/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blipFill>
                <a:blip r:embed="rId5"/>
                <a:stretch>
                  <a:fillRect l="-408" b="-4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capacitors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blipFill>
                <a:blip r:embed="rId6"/>
                <a:stretch>
                  <a:fillRect l="-2242" t="-980" b="-68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152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DEF8C204-6CA2-4D07-0E02-8530963B1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474"/>
            <a:ext cx="6579475" cy="3274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155E81BA-DD5E-D70D-7D14-87DEA433314B}"/>
              </a:ext>
            </a:extLst>
          </p:cNvPr>
          <p:cNvSpPr/>
          <p:nvPr/>
        </p:nvSpPr>
        <p:spPr>
          <a:xfrm>
            <a:off x="4845269" y="2638097"/>
            <a:ext cx="2680138" cy="2459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80DB449-FC39-484D-4784-FC4F55BCC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</a:t>
            </a:r>
            <a:r>
              <a:rPr lang="de-DE" dirty="0" err="1"/>
              <a:t>Implementations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FCB56C-0937-D67D-169E-424C6A08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18</a:t>
            </a:fld>
            <a:endParaRPr lang="de-DE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0A7984BE-13A3-12D8-9FE4-E768AEDDB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394" y="2865114"/>
            <a:ext cx="5951111" cy="30243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D533BDA-BD90-84E9-BEF6-A2B3C2E572E7}"/>
              </a:ext>
            </a:extLst>
          </p:cNvPr>
          <p:cNvSpPr txBox="1"/>
          <p:nvPr/>
        </p:nvSpPr>
        <p:spPr>
          <a:xfrm>
            <a:off x="6195608" y="5381351"/>
            <a:ext cx="5751897" cy="4924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2600" dirty="0" err="1"/>
              <a:t>wound</a:t>
            </a:r>
            <a:r>
              <a:rPr lang="de-DE" sz="2600" dirty="0"/>
              <a:t> </a:t>
            </a:r>
            <a:r>
              <a:rPr lang="de-DE" sz="2600" dirty="0" err="1"/>
              <a:t>capacitors</a:t>
            </a:r>
            <a:r>
              <a:rPr lang="de-DE" sz="2600" dirty="0"/>
              <a:t> (film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electrolytic</a:t>
            </a:r>
            <a:r>
              <a:rPr lang="de-DE" sz="2600" dirty="0"/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41F7B96-13D3-764D-C058-9E47DF06640D}"/>
              </a:ext>
            </a:extLst>
          </p:cNvPr>
          <p:cNvSpPr/>
          <p:nvPr/>
        </p:nvSpPr>
        <p:spPr>
          <a:xfrm>
            <a:off x="2521168" y="5018043"/>
            <a:ext cx="3566708" cy="776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01F80DA-78D2-85FE-2EA5-195FAFDE4CDC}"/>
              </a:ext>
            </a:extLst>
          </p:cNvPr>
          <p:cNvSpPr/>
          <p:nvPr/>
        </p:nvSpPr>
        <p:spPr>
          <a:xfrm>
            <a:off x="1854124" y="5391807"/>
            <a:ext cx="667044" cy="4030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C7E65B-658F-D305-4FDD-9E27655AE929}"/>
              </a:ext>
            </a:extLst>
          </p:cNvPr>
          <p:cNvSpPr txBox="1"/>
          <p:nvPr/>
        </p:nvSpPr>
        <p:spPr>
          <a:xfrm>
            <a:off x="576345" y="5397007"/>
            <a:ext cx="542004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600" dirty="0" err="1"/>
              <a:t>multilayer</a:t>
            </a:r>
            <a:r>
              <a:rPr lang="de-DE" sz="2600" dirty="0"/>
              <a:t> </a:t>
            </a:r>
            <a:r>
              <a:rPr lang="de-DE" sz="2600" dirty="0" err="1"/>
              <a:t>ceramic</a:t>
            </a:r>
            <a:r>
              <a:rPr lang="de-DE" sz="2600" dirty="0"/>
              <a:t> </a:t>
            </a:r>
            <a:r>
              <a:rPr lang="de-DE" sz="2600" dirty="0" err="1"/>
              <a:t>capacitor</a:t>
            </a:r>
            <a:r>
              <a:rPr lang="de-DE" sz="2600" dirty="0"/>
              <a:t> (MLCC)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7E8C5B7-301A-D180-0446-E0DA227850C8}"/>
              </a:ext>
            </a:extLst>
          </p:cNvPr>
          <p:cNvSpPr/>
          <p:nvPr/>
        </p:nvSpPr>
        <p:spPr>
          <a:xfrm>
            <a:off x="2593224" y="2436373"/>
            <a:ext cx="1386052" cy="38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terminals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0361B8A-32CA-BD0F-CBC1-843A429791F6}"/>
              </a:ext>
            </a:extLst>
          </p:cNvPr>
          <p:cNvSpPr txBox="1"/>
          <p:nvPr/>
        </p:nvSpPr>
        <p:spPr>
          <a:xfrm>
            <a:off x="2559159" y="4912851"/>
            <a:ext cx="2107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metallic </a:t>
            </a:r>
            <a:r>
              <a:rPr lang="de-DE" dirty="0" err="1"/>
              <a:t>electrodes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78D4B4D-DC48-CD5F-1D4E-CA57188BAA4F}"/>
              </a:ext>
            </a:extLst>
          </p:cNvPr>
          <p:cNvSpPr txBox="1"/>
          <p:nvPr/>
        </p:nvSpPr>
        <p:spPr>
          <a:xfrm>
            <a:off x="4666595" y="294382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dielectric</a:t>
            </a:r>
            <a:endParaRPr lang="de-DE" dirty="0"/>
          </a:p>
        </p:txBody>
      </p:sp>
      <p:cxnSp>
        <p:nvCxnSpPr>
          <p:cNvPr id="22" name="Gerade Verbindung 21">
            <a:extLst>
              <a:ext uri="{FF2B5EF4-FFF2-40B4-BE49-F238E27FC236}">
                <a16:creationId xmlns:a16="http://schemas.microsoft.com/office/drawing/2014/main" id="{95DD1D98-C3A8-CC92-97B1-01EA7D9B594B}"/>
              </a:ext>
            </a:extLst>
          </p:cNvPr>
          <p:cNvCxnSpPr/>
          <p:nvPr/>
        </p:nvCxnSpPr>
        <p:spPr>
          <a:xfrm flipH="1">
            <a:off x="3689131" y="3268717"/>
            <a:ext cx="1156138" cy="34684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F18E0D0A-EB00-4CBB-813B-A8AEED7C80D3}"/>
              </a:ext>
            </a:extLst>
          </p:cNvPr>
          <p:cNvSpPr txBox="1"/>
          <p:nvPr/>
        </p:nvSpPr>
        <p:spPr>
          <a:xfrm>
            <a:off x="775558" y="1887863"/>
            <a:ext cx="54200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connected</a:t>
            </a:r>
            <a:r>
              <a:rPr lang="de-DE" sz="2200" dirty="0"/>
              <a:t> in parallel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DEAD047-684B-D160-CA1F-BB62E0501103}"/>
              </a:ext>
            </a:extLst>
          </p:cNvPr>
          <p:cNvSpPr txBox="1"/>
          <p:nvPr/>
        </p:nvSpPr>
        <p:spPr>
          <a:xfrm>
            <a:off x="6096000" y="1893332"/>
            <a:ext cx="535740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sz="2200" dirty="0"/>
              <a:t>larger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3142233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6FDB6-CDF4-CD73-A347-5A39A5E7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magnet</a:t>
                </a:r>
                <a:r>
                  <a:rPr lang="de-DE" dirty="0"/>
                  <a:t> </a:t>
                </a:r>
                <a:r>
                  <a:rPr lang="de-DE" dirty="0" err="1"/>
                  <a:t>exerts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 on a </a:t>
                </a:r>
                <a:r>
                  <a:rPr lang="de-DE" dirty="0" err="1"/>
                  <a:t>current-carrying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  → 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  <a:blipFill>
                <a:blip r:embed="rId2"/>
                <a:stretch>
                  <a:fillRect l="-2651" t="-5674" b="-4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EE1B0-0968-C580-DE9A-ED43762B2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Bild 68">
            <a:extLst>
              <a:ext uri="{FF2B5EF4-FFF2-40B4-BE49-F238E27FC236}">
                <a16:creationId xmlns:a16="http://schemas.microsoft.com/office/drawing/2014/main" id="{83CA8B5B-AA83-EC15-CBDD-9A8672F6D0AE}"/>
              </a:ext>
            </a:extLst>
          </p:cNvPr>
          <p:cNvPicPr>
            <a:picLocks/>
          </p:cNvPicPr>
          <p:nvPr/>
        </p:nvPicPr>
        <p:blipFill rotWithShape="1"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27"/>
          <a:stretch/>
        </p:blipFill>
        <p:spPr bwMode="auto">
          <a:xfrm>
            <a:off x="1749819" y="1593850"/>
            <a:ext cx="3663163" cy="47625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a14="http://schemas.microsoft.com/office/drawing/2010/main" xmlns:w="http://schemas.openxmlformats.org/wordprocessingml/2006/main" xmlns:w10="urn:schemas-microsoft-com:office:word" xmlns:v="urn:schemas-microsoft-com:vml" xmlns:o="urn:schemas-microsoft-com:office:office" xmlns="" xmlns:mv="urn:schemas-microsoft-com:mac:vml" xmlns:mo="http://schemas.microsoft.com/office/mac/office/2008/main" xmlns:lc="http://schemas.openxmlformats.org/drawingml/2006/lockedCanvas"/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0A62984-AD00-A2BE-2542-A9A6E8F07B38}"/>
              </a:ext>
            </a:extLst>
          </p:cNvPr>
          <p:cNvSpPr txBox="1"/>
          <p:nvPr/>
        </p:nvSpPr>
        <p:spPr>
          <a:xfrm>
            <a:off x="7533708" y="5150069"/>
            <a:ext cx="23823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magnetic</a:t>
            </a:r>
            <a:r>
              <a:rPr lang="de-DE" sz="2800" dirty="0"/>
              <a:t> </a:t>
            </a:r>
            <a:r>
              <a:rPr lang="de-DE" sz="2800" dirty="0" err="1"/>
              <a:t>field</a:t>
            </a:r>
            <a:endParaRPr lang="de-DE" sz="2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A83321C-0B11-1325-E01F-0DFA89843DE5}"/>
              </a:ext>
            </a:extLst>
          </p:cNvPr>
          <p:cNvCxnSpPr>
            <a:stCxn id="8" idx="0"/>
          </p:cNvCxnSpPr>
          <p:nvPr/>
        </p:nvCxnSpPr>
        <p:spPr>
          <a:xfrm flipV="1">
            <a:off x="8724900" y="4078014"/>
            <a:ext cx="723900" cy="1072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8FBC16-CBC5-F3A0-BE0C-6557AE2DF465}"/>
                  </a:ext>
                </a:extLst>
              </p:cNvPr>
              <p:cNvSpPr txBox="1"/>
              <p:nvPr/>
            </p:nvSpPr>
            <p:spPr>
              <a:xfrm>
                <a:off x="4320948" y="3827407"/>
                <a:ext cx="345767" cy="5164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</m:acc>
                    </m:oMath>
                  </m:oMathPara>
                </a14:m>
                <a:endParaRPr lang="de-DE" sz="2400" b="1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8FBC16-CBC5-F3A0-BE0C-6557AE2DF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948" y="3827407"/>
                <a:ext cx="345767" cy="516488"/>
              </a:xfrm>
              <a:prstGeom prst="rect">
                <a:avLst/>
              </a:prstGeom>
              <a:blipFill>
                <a:blip r:embed="rId4"/>
                <a:stretch>
                  <a:fillRect l="-10714" t="-214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6601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278031-2CB7-EB10-D62B-020397E00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 Density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de-D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tesla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/>
                  <a:t>also:	</a:t>
                </a:r>
                <a14:m>
                  <m:oMath xmlns:m="http://schemas.openxmlformats.org/officeDocument/2006/math">
                    <m:r>
                      <a:rPr lang="de-DE">
                        <a:latin typeface="Cambria Math" panose="02040503050406030204" pitchFamily="18" charset="0"/>
                      </a:rPr>
                      <m:t>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=10,000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gauss</a:t>
                </a:r>
                <a:r>
                  <a:rPr lang="de-DE" dirty="0"/>
                  <a:t>)</a:t>
                </a: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direction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orthogonal </a:t>
                </a:r>
                <a:r>
                  <a:rPr lang="de-DE" dirty="0" err="1"/>
                  <a:t>to</a:t>
                </a:r>
                <a:r>
                  <a:rPr lang="de-DE" dirty="0"/>
                  <a:t> plane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, </a:t>
                </a:r>
                <a:r>
                  <a:rPr lang="de-DE" dirty="0" err="1"/>
                  <a:t>strength</a:t>
                </a:r>
                <a:r>
                  <a:rPr lang="de-DE" dirty="0"/>
                  <a:t> </a:t>
                </a:r>
                <a:r>
                  <a:rPr lang="de-DE" dirty="0" err="1"/>
                  <a:t>depends</a:t>
                </a:r>
                <a:r>
                  <a:rPr lang="de-DE" dirty="0"/>
                  <a:t> on angle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C5F7DB-9E53-9485-99E3-6F9D9BAE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53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CED7CA-D5DA-3D9A-C876-1EFE2736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Lorentz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same </a:t>
                </a:r>
                <a:r>
                  <a:rPr lang="de-DE" dirty="0" err="1"/>
                  <a:t>kind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on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particles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 err="1"/>
                  <a:t>including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de-DE">
                            <a:latin typeface="Cambria Math" panose="02040503050406030204" pitchFamily="18" charset="0"/>
                          </a:rPr>
                          <m:t>×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  <a:blipFill>
                <a:blip r:embed="rId2"/>
                <a:stretch>
                  <a:fillRect l="-1086" t="-6977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F6C11B-6D97-ACE0-379F-56244557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p:pic>
        <p:nvPicPr>
          <p:cNvPr id="5" name="Bild 2">
            <a:extLst>
              <a:ext uri="{FF2B5EF4-FFF2-40B4-BE49-F238E27FC236}">
                <a16:creationId xmlns:a16="http://schemas.microsoft.com/office/drawing/2014/main" id="{748E406F-3BAD-2E81-153E-32344A32417A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97662" y="3861117"/>
            <a:ext cx="4796675" cy="299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894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D50216-DFD7-1CF4-DC7A-2B2402D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600" dirty="0"/>
                  <a:t>m</a:t>
                </a:r>
                <a:r>
                  <a:rPr lang="de-DE" sz="2600" dirty="0" err="1"/>
                  <a:t>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exerts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endParaRPr lang="de-DE" sz="2600" dirty="0"/>
              </a:p>
              <a:p>
                <a:r>
                  <a:rPr lang="de-DE" sz="2600" dirty="0"/>
                  <a:t>in turn,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fields</a:t>
                </a:r>
                <a:r>
                  <a:rPr lang="de-DE" sz="2600" dirty="0"/>
                  <a:t> (in permanent </a:t>
                </a:r>
                <a:r>
                  <a:rPr lang="de-DE" sz="2600" dirty="0" err="1"/>
                  <a:t>magnets</a:t>
                </a:r>
                <a:r>
                  <a:rPr lang="de-DE" sz="2600" dirty="0"/>
                  <a:t>: orbital and </a:t>
                </a:r>
                <a:r>
                  <a:rPr lang="de-DE" sz="2600" dirty="0" err="1"/>
                  <a:t>spin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atoms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−7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D8AA70-C1FD-2841-3F8D-949272649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22</a:t>
            </a:fld>
            <a:endParaRPr lang="de-DE"/>
          </a:p>
        </p:txBody>
      </p:sp>
      <p:pic>
        <p:nvPicPr>
          <p:cNvPr id="6" name="Bild 125">
            <a:extLst>
              <a:ext uri="{FF2B5EF4-FFF2-40B4-BE49-F238E27FC236}">
                <a16:creationId xmlns:a16="http://schemas.microsoft.com/office/drawing/2014/main" id="{5788853B-4EA8-32EB-4998-A1FE3ADF391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53" y="3844401"/>
            <a:ext cx="3096512" cy="287707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C4EB8AC-9128-A32A-91CE-4A318DA288B2}"/>
              </a:ext>
            </a:extLst>
          </p:cNvPr>
          <p:cNvSpPr txBox="1"/>
          <p:nvPr/>
        </p:nvSpPr>
        <p:spPr>
          <a:xfrm>
            <a:off x="3198065" y="6088559"/>
            <a:ext cx="39475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physical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D2910F3-F61A-B5DF-0DBA-2D1A37CC48D2}"/>
              </a:ext>
            </a:extLst>
          </p:cNvPr>
          <p:cNvCxnSpPr/>
          <p:nvPr/>
        </p:nvCxnSpPr>
        <p:spPr>
          <a:xfrm flipV="1">
            <a:off x="3783722" y="5738648"/>
            <a:ext cx="0" cy="438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EAE49A7-90CA-5423-1E8C-A4833E0534E3}"/>
              </a:ext>
            </a:extLst>
          </p:cNvPr>
          <p:cNvSpPr txBox="1"/>
          <p:nvPr/>
        </p:nvSpPr>
        <p:spPr>
          <a:xfrm>
            <a:off x="572596" y="3523210"/>
            <a:ext cx="2154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Ampère‘s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force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law</a:t>
            </a:r>
            <a:endParaRPr lang="de-DE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1B265EB-A8CE-75EC-FAB2-12EC4D40A1EE}"/>
              </a:ext>
            </a:extLst>
          </p:cNvPr>
          <p:cNvGrpSpPr/>
          <p:nvPr/>
        </p:nvGrpSpPr>
        <p:grpSpPr>
          <a:xfrm>
            <a:off x="7822200" y="3948744"/>
            <a:ext cx="2160000" cy="1644620"/>
            <a:chOff x="7822200" y="3948744"/>
            <a:chExt cx="2160000" cy="1644620"/>
          </a:xfrm>
        </p:grpSpPr>
        <p:pic>
          <p:nvPicPr>
            <p:cNvPr id="14" name="Bild 1">
              <a:extLst>
                <a:ext uri="{FF2B5EF4-FFF2-40B4-BE49-F238E27FC236}">
                  <a16:creationId xmlns:a16="http://schemas.microsoft.com/office/drawing/2014/main" id="{F14B8821-A0F7-C455-934B-7A1A416D8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2200" y="4001294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/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F2247C8B-2B14-15B6-4D2B-743159444A88}"/>
                </a:ext>
              </a:extLst>
            </p:cNvPr>
            <p:cNvSpPr/>
            <p:nvPr/>
          </p:nvSpPr>
          <p:spPr>
            <a:xfrm>
              <a:off x="9574925" y="4529958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Textfeld 18">
            <a:extLst>
              <a:ext uri="{FF2B5EF4-FFF2-40B4-BE49-F238E27FC236}">
                <a16:creationId xmlns:a16="http://schemas.microsoft.com/office/drawing/2014/main" id="{10A057CD-1868-4E83-C00A-349303D7EA3A}"/>
              </a:ext>
            </a:extLst>
          </p:cNvPr>
          <p:cNvSpPr txBox="1"/>
          <p:nvPr/>
        </p:nvSpPr>
        <p:spPr>
          <a:xfrm>
            <a:off x="5640163" y="4597148"/>
            <a:ext cx="1635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circumference</a:t>
            </a:r>
            <a:endParaRPr lang="de-DE" dirty="0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D338D1A5-BAE9-D847-CEEA-5B036947B6D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897821" y="4656082"/>
            <a:ext cx="742342" cy="1257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1664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46D15C-0FB7-1B0C-33A8-B13D4AAB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Ampère‘s</a:t>
            </a:r>
            <a:r>
              <a:rPr lang="de-DE" dirty="0"/>
              <a:t> </a:t>
            </a:r>
            <a:r>
              <a:rPr lang="de-DE" dirty="0" err="1"/>
              <a:t>Circuital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8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8DE26FB-BE9C-F73F-5160-71DE9DA1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3D948C2-8B73-AD1B-0A2C-5BCC2B4C63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654" y="1446935"/>
            <a:ext cx="2088232" cy="19275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/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A8D8DEAE-9555-00D9-74CC-C425C93C0214}"/>
              </a:ext>
            </a:extLst>
          </p:cNvPr>
          <p:cNvGrpSpPr/>
          <p:nvPr/>
        </p:nvGrpSpPr>
        <p:grpSpPr>
          <a:xfrm>
            <a:off x="1542968" y="1772356"/>
            <a:ext cx="2160000" cy="1644620"/>
            <a:chOff x="1190173" y="3002813"/>
            <a:chExt cx="2160000" cy="1644620"/>
          </a:xfrm>
        </p:grpSpPr>
        <p:pic>
          <p:nvPicPr>
            <p:cNvPr id="11" name="Bild 1">
              <a:extLst>
                <a:ext uri="{FF2B5EF4-FFF2-40B4-BE49-F238E27FC236}">
                  <a16:creationId xmlns:a16="http://schemas.microsoft.com/office/drawing/2014/main" id="{ECC65A41-B0F4-E871-7C2C-0ED993442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0173" y="3055363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/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blipFill>
                  <a:blip r:embed="rId6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9F799909-E546-1CCC-6B78-22555FC46F3C}"/>
                </a:ext>
              </a:extLst>
            </p:cNvPr>
            <p:cNvSpPr/>
            <p:nvPr/>
          </p:nvSpPr>
          <p:spPr>
            <a:xfrm>
              <a:off x="2942898" y="3584027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BD0A65B3-7DB5-2BA3-0B42-042E1083B5AD}"/>
              </a:ext>
            </a:extLst>
          </p:cNvPr>
          <p:cNvSpPr txBox="1"/>
          <p:nvPr/>
        </p:nvSpPr>
        <p:spPr>
          <a:xfrm>
            <a:off x="7218810" y="5411065"/>
            <a:ext cx="1703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E7733AA-7EB4-14B2-BE97-F21909904D4F}"/>
              </a:ext>
            </a:extLst>
          </p:cNvPr>
          <p:cNvSpPr txBox="1"/>
          <p:nvPr/>
        </p:nvSpPr>
        <p:spPr>
          <a:xfrm>
            <a:off x="4009146" y="5411410"/>
            <a:ext cx="96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rotation</a:t>
            </a:r>
            <a:endParaRPr lang="de-DE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248010D-67A2-607C-6E0D-153A53E0F6C3}"/>
              </a:ext>
            </a:extLst>
          </p:cNvPr>
          <p:cNvSpPr txBox="1"/>
          <p:nvPr/>
        </p:nvSpPr>
        <p:spPr>
          <a:xfrm>
            <a:off x="838200" y="6308209"/>
            <a:ext cx="9798155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circuits</a:t>
            </a:r>
            <a:r>
              <a:rPr lang="de-DE" sz="2200" dirty="0"/>
              <a:t> in </a:t>
            </a:r>
            <a:r>
              <a:rPr lang="de-DE" sz="2200" dirty="0" err="1"/>
              <a:t>nature</a:t>
            </a:r>
            <a:r>
              <a:rPr lang="de-DE" sz="2200" dirty="0"/>
              <a:t>: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fields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 a </a:t>
            </a:r>
            <a:r>
              <a:rPr lang="de-DE" sz="2200" dirty="0" err="1"/>
              <a:t>dipole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outside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9330AF-8284-660D-1385-C6D731E20301}"/>
              </a:ext>
            </a:extLst>
          </p:cNvPr>
          <p:cNvCxnSpPr>
            <a:stCxn id="16" idx="0"/>
          </p:cNvCxnSpPr>
          <p:nvPr/>
        </p:nvCxnSpPr>
        <p:spPr>
          <a:xfrm flipV="1">
            <a:off x="4491169" y="5002924"/>
            <a:ext cx="753493" cy="408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47B1CD-66E1-AC28-FCEC-CB0B48E3C1E9}"/>
              </a:ext>
            </a:extLst>
          </p:cNvPr>
          <p:cNvCxnSpPr>
            <a:stCxn id="15" idx="0"/>
          </p:cNvCxnSpPr>
          <p:nvPr/>
        </p:nvCxnSpPr>
        <p:spPr>
          <a:xfrm flipH="1" flipV="1">
            <a:off x="6915806" y="5002924"/>
            <a:ext cx="1154999" cy="408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377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04FEC1-D139-3660-C7D3-CC439B592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Lines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105626D-D927-634D-DAAD-B9D867901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96669" cy="19829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north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south</a:t>
            </a:r>
            <a:r>
              <a:rPr lang="de-DE" sz="2200" dirty="0"/>
              <a:t> pole (</a:t>
            </a:r>
            <a:r>
              <a:rPr lang="de-DE" sz="2200" dirty="0" err="1"/>
              <a:t>dipoles</a:t>
            </a:r>
            <a:r>
              <a:rPr lang="de-DE" sz="2200" dirty="0"/>
              <a:t>, </a:t>
            </a:r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monopoles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 err="1"/>
              <a:t>right</a:t>
            </a:r>
            <a:r>
              <a:rPr lang="de-DE" sz="2200" dirty="0"/>
              <a:t>-hand </a:t>
            </a:r>
            <a:r>
              <a:rPr lang="de-DE" sz="2200" dirty="0" err="1"/>
              <a:t>corkscrew</a:t>
            </a:r>
            <a:r>
              <a:rPr lang="de-DE" sz="2200" dirty="0"/>
              <a:t> </a:t>
            </a:r>
            <a:r>
              <a:rPr lang="de-DE" sz="2200" dirty="0" err="1"/>
              <a:t>rule</a:t>
            </a:r>
            <a:r>
              <a:rPr lang="de-DE" sz="2200" dirty="0"/>
              <a:t>: </a:t>
            </a:r>
            <a:r>
              <a:rPr lang="de-DE" sz="2200" dirty="0" err="1"/>
              <a:t>circular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around</a:t>
            </a:r>
            <a:r>
              <a:rPr lang="de-DE" sz="2200" dirty="0"/>
              <a:t> a </a:t>
            </a:r>
            <a:r>
              <a:rPr lang="de-DE" sz="2200" dirty="0" err="1"/>
              <a:t>conductor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45D19-3588-98D3-24CD-84F331AA3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24</a:t>
            </a:fld>
            <a:endParaRPr lang="de-DE"/>
          </a:p>
        </p:txBody>
      </p:sp>
      <p:pic>
        <p:nvPicPr>
          <p:cNvPr id="5" name="Inhaltsplatzhalter 5">
            <a:extLst>
              <a:ext uri="{FF2B5EF4-FFF2-40B4-BE49-F238E27FC236}">
                <a16:creationId xmlns:a16="http://schemas.microsoft.com/office/drawing/2014/main" id="{FC71C9E8-A873-7F5B-E18E-8B3D59CF7B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07" y="3955753"/>
            <a:ext cx="3926558" cy="2103038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A0127A7A-C183-F767-7980-F61E5EB9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869" y="1345581"/>
            <a:ext cx="5351462" cy="212760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8634769-6E94-BC83-9A9D-8C3616268F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758" y="3955753"/>
            <a:ext cx="7274935" cy="236835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26C8CC8-6E4F-7F01-E38A-EF7876B405B0}"/>
              </a:ext>
            </a:extLst>
          </p:cNvPr>
          <p:cNvSpPr txBox="1"/>
          <p:nvPr/>
        </p:nvSpPr>
        <p:spPr>
          <a:xfrm>
            <a:off x="5717625" y="6060043"/>
            <a:ext cx="222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coil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18833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BC007-3CB2-C15D-A704-FAE2E261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</a:t>
            </a:r>
            <a:r>
              <a:rPr lang="de-DE" dirty="0" err="1"/>
              <a:t>Strength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permeability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r>
                      <a:rPr lang="el-GR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de-DE" sz="2600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magnetization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/>
                  <a:t>(</a:t>
                </a:r>
                <a:r>
                  <a:rPr lang="de-DE" sz="2600" dirty="0" err="1"/>
                  <a:t>beware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confusion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naming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notation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conventions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39E00E-6515-CD98-2DA7-64610376F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25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47E3801-7DF2-DB69-735F-4F572E1F8173}"/>
              </a:ext>
            </a:extLst>
          </p:cNvPr>
          <p:cNvSpPr txBox="1"/>
          <p:nvPr/>
        </p:nvSpPr>
        <p:spPr>
          <a:xfrm>
            <a:off x="4748736" y="1766388"/>
            <a:ext cx="27517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02D6513-3510-647E-6E54-552A261F73C4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731191" y="1981832"/>
            <a:ext cx="1017545" cy="838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/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relative </a:t>
                </a:r>
                <a:r>
                  <a:rPr lang="de-DE" sz="2200" dirty="0" err="1"/>
                  <a:t>permeability</a:t>
                </a:r>
                <a:endParaRPr lang="de-DE" sz="2200" dirty="0"/>
              </a:p>
              <a:p>
                <a:r>
                  <a:rPr lang="de-DE" dirty="0"/>
                  <a:t>(material </a:t>
                </a:r>
                <a:r>
                  <a:rPr lang="de-DE" dirty="0" err="1"/>
                  <a:t>dependent</a:t>
                </a:r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&gt;1000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ferromagnetic</a:t>
                </a:r>
                <a:r>
                  <a:rPr lang="de-DE" dirty="0"/>
                  <a:t> </a:t>
                </a:r>
                <a:r>
                  <a:rPr lang="de-DE" dirty="0" err="1"/>
                  <a:t>materials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blipFill>
                <a:blip r:embed="rId3"/>
                <a:stretch>
                  <a:fillRect l="-1082" t="-5263" r="-649" b="-122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E87A3AF-2B6C-9A66-68E5-6AE8B160A019}"/>
              </a:ext>
            </a:extLst>
          </p:cNvPr>
          <p:cNvCxnSpPr>
            <a:cxnSpLocks/>
          </p:cNvCxnSpPr>
          <p:nvPr/>
        </p:nvCxnSpPr>
        <p:spPr>
          <a:xfrm flipH="1" flipV="1">
            <a:off x="4235675" y="3134797"/>
            <a:ext cx="168159" cy="470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fik 19">
            <a:extLst>
              <a:ext uri="{FF2B5EF4-FFF2-40B4-BE49-F238E27FC236}">
                <a16:creationId xmlns:a16="http://schemas.microsoft.com/office/drawing/2014/main" id="{F9094DDC-0C02-6E71-0A39-95087AEB0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2400984"/>
            <a:ext cx="2035341" cy="36636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/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blipFill>
                <a:blip r:embed="rId6"/>
                <a:stretch>
                  <a:fillRect l="-3509" t="-4444" r="-2632" b="-1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67ECCDD3-B50F-281A-DE28-28A76064172A}"/>
              </a:ext>
            </a:extLst>
          </p:cNvPr>
          <p:cNvSpPr txBox="1"/>
          <p:nvPr/>
        </p:nvSpPr>
        <p:spPr>
          <a:xfrm>
            <a:off x="10156659" y="938559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magnetization</a:t>
            </a:r>
            <a:endParaRPr lang="de-DE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2D6149B-DA87-1115-A1A7-D57F8693450C}"/>
              </a:ext>
            </a:extLst>
          </p:cNvPr>
          <p:cNvCxnSpPr>
            <a:stCxn id="24" idx="2"/>
          </p:cNvCxnSpPr>
          <p:nvPr/>
        </p:nvCxnSpPr>
        <p:spPr>
          <a:xfrm>
            <a:off x="10956718" y="1307891"/>
            <a:ext cx="397082" cy="458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8958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ABFAE-EED4-0734-FE23-5C1CB23D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Vs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Wb</m:t>
                    </m:r>
                  </m:oMath>
                </a14:m>
                <a:r>
                  <a:rPr lang="de-DE" sz="2600" dirty="0"/>
                  <a:t>		(</a:t>
                </a:r>
                <a:r>
                  <a:rPr lang="de-DE" sz="2600" dirty="0" err="1"/>
                  <a:t>weber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87E519-2DEE-4C38-B1C0-39F4F6AB4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26</a:t>
            </a:fld>
            <a:endParaRPr lang="de-DE"/>
          </a:p>
        </p:txBody>
      </p:sp>
      <p:pic>
        <p:nvPicPr>
          <p:cNvPr id="5" name="Bild 1">
            <a:extLst>
              <a:ext uri="{FF2B5EF4-FFF2-40B4-BE49-F238E27FC236}">
                <a16:creationId xmlns:a16="http://schemas.microsoft.com/office/drawing/2014/main" id="{D6B7995C-F8B3-B03D-2AE1-DF741C0E57A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03583" y="3699532"/>
            <a:ext cx="4784834" cy="3158468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CAEFB75-3839-D4AC-1F36-D84C8583D22F}"/>
              </a:ext>
            </a:extLst>
          </p:cNvPr>
          <p:cNvSpPr/>
          <p:nvPr/>
        </p:nvSpPr>
        <p:spPr>
          <a:xfrm>
            <a:off x="4214648" y="3857297"/>
            <a:ext cx="1019504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CD20264-D626-D70A-470E-CD0D6CABA6FB}"/>
              </a:ext>
            </a:extLst>
          </p:cNvPr>
          <p:cNvSpPr/>
          <p:nvPr/>
        </p:nvSpPr>
        <p:spPr>
          <a:xfrm>
            <a:off x="7803931" y="6255133"/>
            <a:ext cx="806669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5696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94F84-37B9-F7AA-1DAD-0F7D50A1F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Magnetism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b="1" dirty="0" err="1"/>
                  <a:t>closed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monopoles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(The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an </a:t>
                </a:r>
                <a:r>
                  <a:rPr lang="de-DE" sz="2600" b="1" dirty="0"/>
                  <a:t>open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 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.)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895" b="-11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D5027B-27E5-ACA3-3A7C-E38FF8C7C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4121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AC383-37FA-DD4B-87F0-AC7AE59A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600" dirty="0"/>
                  <a:t>changing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induces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conductor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Faraday’s</a:t>
                </a:r>
                <a:r>
                  <a:rPr lang="de-DE" sz="2600" dirty="0"/>
                  <a:t> Law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1F78DB2-B842-DC19-1BD2-FEF20047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84BC26-28DA-8A22-2897-E91DF9763573}"/>
              </a:ext>
            </a:extLst>
          </p:cNvPr>
          <p:cNvSpPr txBox="1"/>
          <p:nvPr/>
        </p:nvSpPr>
        <p:spPr>
          <a:xfrm>
            <a:off x="959508" y="5328747"/>
            <a:ext cx="3731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induced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C89AC07-5867-E201-64B3-5667E9EE5D18}"/>
              </a:ext>
            </a:extLst>
          </p:cNvPr>
          <p:cNvCxnSpPr>
            <a:cxnSpLocks/>
          </p:cNvCxnSpPr>
          <p:nvPr/>
        </p:nvCxnSpPr>
        <p:spPr>
          <a:xfrm flipV="1">
            <a:off x="1576550" y="4280311"/>
            <a:ext cx="294289" cy="1185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463232C6-2A31-B16C-082D-18691134D292}"/>
              </a:ext>
            </a:extLst>
          </p:cNvPr>
          <p:cNvSpPr txBox="1"/>
          <p:nvPr/>
        </p:nvSpPr>
        <p:spPr>
          <a:xfrm>
            <a:off x="5600356" y="5521146"/>
            <a:ext cx="34723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always</a:t>
            </a:r>
            <a:r>
              <a:rPr lang="de-DE" sz="2400" dirty="0"/>
              <a:t> </a:t>
            </a:r>
            <a:r>
              <a:rPr lang="de-DE" sz="2400" dirty="0" err="1"/>
              <a:t>opposes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change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(</a:t>
            </a:r>
            <a:r>
              <a:rPr lang="de-DE" sz="2400" dirty="0" err="1"/>
              <a:t>Lenz‘s</a:t>
            </a:r>
            <a:r>
              <a:rPr lang="de-DE" sz="2400" dirty="0"/>
              <a:t> </a:t>
            </a:r>
            <a:r>
              <a:rPr lang="de-DE" sz="2400" dirty="0" err="1"/>
              <a:t>law</a:t>
            </a:r>
            <a:r>
              <a:rPr lang="de-DE" sz="2400" dirty="0"/>
              <a:t>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DEB1655-2D87-C969-B4F1-A5758C8C864B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9072712" y="4971393"/>
            <a:ext cx="1613451" cy="1149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/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blipFill>
                <a:blip r:embed="rId3"/>
                <a:stretch>
                  <a:fillRect l="-34171" t="-75221" r="-6030" b="-6725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27740B36-21E3-E941-A0FA-E4F8C0304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5573" y="2663823"/>
            <a:ext cx="2774971" cy="161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6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0EA4E4-35C0-9975-C211-DE050AC9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(in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),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henry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  <a:blipFill>
                <a:blip r:embed="rId2"/>
                <a:stretch>
                  <a:fillRect l="-1206" t="-25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D066DE-A9B5-4344-F988-36383960F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AA6429-08F9-A5D6-21E7-74D3C8982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6134" y="365125"/>
            <a:ext cx="2487666" cy="829222"/>
          </a:xfrm>
          <a:prstGeom prst="rect">
            <a:avLst/>
          </a:prstGeom>
        </p:spPr>
      </p:pic>
      <p:pic>
        <p:nvPicPr>
          <p:cNvPr id="4098" name="Picture 2" descr="Electronic Schematic Inductor Symbol Icons - Free SVG &amp; PNG Electronic  Schematic Inductor Symbol Images - Noun Project">
            <a:extLst>
              <a:ext uri="{FF2B5EF4-FFF2-40B4-BE49-F238E27FC236}">
                <a16:creationId xmlns:a16="http://schemas.microsoft.com/office/drawing/2014/main" id="{D8152E2A-F95C-EF82-04F9-7437E044C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9376847" y="521781"/>
            <a:ext cx="1976953" cy="1976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33CF601-91BF-0C0C-C660-9992CB561900}"/>
              </a:ext>
            </a:extLst>
          </p:cNvPr>
          <p:cNvSpPr txBox="1"/>
          <p:nvPr/>
        </p:nvSpPr>
        <p:spPr>
          <a:xfrm>
            <a:off x="8810666" y="1321356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old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43431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A2D9C-0BB3-306D-BE3E-1565C64E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754BD-3E04-A264-9034-42D9A3B53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BE47D0-19D9-17B3-A67F-A52FF453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30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F5EBC10-A09C-B9D4-3168-FF08FB6CBF65}"/>
              </a:ext>
            </a:extLst>
          </p:cNvPr>
          <p:cNvSpPr txBox="1"/>
          <p:nvPr/>
        </p:nvSpPr>
        <p:spPr>
          <a:xfrm>
            <a:off x="6096000" y="2877909"/>
            <a:ext cx="52578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endParaRPr lang="de-DE" sz="2800" dirty="0"/>
          </a:p>
          <a:p>
            <a:endParaRPr lang="de-DE" sz="2800" dirty="0"/>
          </a:p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D7B728-53C2-F838-D54E-D50B0F1CD4D2}"/>
              </a:ext>
            </a:extLst>
          </p:cNvPr>
          <p:cNvSpPr txBox="1"/>
          <p:nvPr/>
        </p:nvSpPr>
        <p:spPr>
          <a:xfrm>
            <a:off x="2102070" y="6145826"/>
            <a:ext cx="41649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inductor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short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DC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7393E42-57DC-C1F9-CDE9-20FB8BA5B71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5139558"/>
            <a:ext cx="1840725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71459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0340E-DB26-ED5B-7213-EC5ED9494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</a:t>
            </a:r>
            <a:r>
              <a:rPr lang="de-DE" dirty="0"/>
              <a:t> (aka Coil)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</p:spPr>
            <p:txBody>
              <a:bodyPr>
                <a:normAutofit/>
              </a:bodyPr>
              <a:lstStyle/>
              <a:p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depends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product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number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turns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expressed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ampere-turns: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  <a:p>
                <a:r>
                  <a:rPr lang="de-DE" sz="2600" dirty="0" err="1"/>
                  <a:t>inductance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effectively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links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linkage</a:t>
                </a:r>
                <a:r>
                  <a:rPr lang="de-DE" sz="2600" dirty="0"/>
                  <a:t> in weber-turns):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  <a:blipFill>
                <a:blip r:embed="rId2"/>
                <a:stretch>
                  <a:fillRect l="-965" t="-4795" b="-34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8F6299-8A52-59D1-8A79-298DB58E5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31</a:t>
            </a:fld>
            <a:endParaRPr lang="de-DE"/>
          </a:p>
        </p:txBody>
      </p:sp>
      <p:pic>
        <p:nvPicPr>
          <p:cNvPr id="5" name="Grafik 4" descr="Ein Bild, das Elektrisches Bauelement, Elektrische Leitungen, passives Bauelement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BD07F218-EC8E-EDAE-A7CC-FA130857D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615" y="1690688"/>
            <a:ext cx="2560502" cy="227162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B109D28-562A-FBCB-F568-8EF77C4280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28035" y="1084572"/>
            <a:ext cx="3041350" cy="3030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3138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0A048C65-D176-C8F6-A87D-6288D96196CE}"/>
              </a:ext>
            </a:extLst>
          </p:cNvPr>
          <p:cNvSpPr/>
          <p:nvPr/>
        </p:nvSpPr>
        <p:spPr>
          <a:xfrm>
            <a:off x="5265683" y="3815255"/>
            <a:ext cx="1776248" cy="12981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0212F4-4577-60F7-C8FB-293F0BDC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Analogue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Ohm’s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ampere-turns </a:t>
                </a:r>
                <a:r>
                  <a:rPr lang="de-DE" dirty="0" err="1"/>
                  <a:t>create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flux</a:t>
                </a:r>
                <a:r>
                  <a:rPr lang="de-DE" dirty="0"/>
                  <a:t> </a:t>
                </a:r>
                <a:r>
                  <a:rPr lang="de-DE" dirty="0" err="1"/>
                  <a:t>through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coil</a:t>
                </a:r>
                <a:r>
                  <a:rPr lang="de-DE" dirty="0"/>
                  <a:t> (like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pushes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), </a:t>
                </a:r>
                <a:r>
                  <a:rPr lang="de-DE" dirty="0" err="1"/>
                  <a:t>depending</a:t>
                </a:r>
                <a:r>
                  <a:rPr lang="de-DE" dirty="0"/>
                  <a:t> on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reluctance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/</a:t>
                </a:r>
                <a:r>
                  <a:rPr lang="de-DE" dirty="0" err="1"/>
                  <a:t>path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num>
                      <m:den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den>
                    </m:f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de-DE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sSub>
                            <m:sSubPr>
                              <m:ctrl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 algn="ctr">
                  <a:buNone/>
                </a:pPr>
                <a:endParaRPr lang="de-DE" sz="32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3200" dirty="0">
                    <a:sym typeface="Wingdings" pitchFamily="2" charset="2"/>
                  </a:rPr>
                  <a:t>	 </a:t>
                </a:r>
                <a14:m>
                  <m:oMath xmlns:m="http://schemas.openxmlformats.org/officeDocument/2006/math">
                    <m:r>
                      <a:rPr lang="de-DE" sz="32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3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17A535-FABD-2E43-7826-8331BD4F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73ECF7-F432-A4CD-4612-9EE5B1850E98}"/>
              </a:ext>
            </a:extLst>
          </p:cNvPr>
          <p:cNvSpPr txBox="1"/>
          <p:nvPr/>
        </p:nvSpPr>
        <p:spPr>
          <a:xfrm>
            <a:off x="8019393" y="4005455"/>
            <a:ext cx="356300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length</a:t>
            </a:r>
            <a:r>
              <a:rPr lang="de-DE" sz="2200" dirty="0"/>
              <a:t> and </a:t>
            </a:r>
            <a:r>
              <a:rPr lang="de-DE" sz="2200" dirty="0" err="1"/>
              <a:t>cross-sectional</a:t>
            </a:r>
            <a:r>
              <a:rPr lang="de-DE" sz="2200" dirty="0"/>
              <a:t>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path</a:t>
            </a:r>
            <a:r>
              <a:rPr lang="de-DE" sz="2200" dirty="0"/>
              <a:t>, not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wire</a:t>
            </a:r>
            <a:r>
              <a:rPr lang="de-DE" sz="2200" dirty="0"/>
              <a:t> </a:t>
            </a:r>
          </a:p>
        </p:txBody>
      </p:sp>
      <p:pic>
        <p:nvPicPr>
          <p:cNvPr id="11" name="Bild 1">
            <a:extLst>
              <a:ext uri="{FF2B5EF4-FFF2-40B4-BE49-F238E27FC236}">
                <a16:creationId xmlns:a16="http://schemas.microsoft.com/office/drawing/2014/main" id="{75F1D273-CC0D-6770-6DC7-ED7AD491F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56" y="3256599"/>
            <a:ext cx="4715973" cy="2168345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E52BDD29-3062-14EE-E022-EFED45FD4393}"/>
              </a:ext>
            </a:extLst>
          </p:cNvPr>
          <p:cNvCxnSpPr>
            <a:cxnSpLocks/>
          </p:cNvCxnSpPr>
          <p:nvPr/>
        </p:nvCxnSpPr>
        <p:spPr>
          <a:xfrm flipH="1" flipV="1">
            <a:off x="7935313" y="3531477"/>
            <a:ext cx="591207" cy="562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A4FFC69-0706-66E8-FD9D-BB4D319E7C47}"/>
              </a:ext>
            </a:extLst>
          </p:cNvPr>
          <p:cNvCxnSpPr>
            <a:cxnSpLocks/>
          </p:cNvCxnSpPr>
          <p:nvPr/>
        </p:nvCxnSpPr>
        <p:spPr>
          <a:xfrm flipH="1" flipV="1">
            <a:off x="8744607" y="3407980"/>
            <a:ext cx="832945" cy="707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12686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82972BD-B524-A0A3-D906-A437D647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E4EEF-8EEF-A738-B87F-DCDCB285D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  <m:t>𝜚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𝑅𝐼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𝑁𝐼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𝜙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𝑅𝐼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nary>
                                      <m:naryPr>
                                        <m:chr m:val="∑"/>
                                        <m:subHide m:val="on"/>
                                        <m:supHide m:val="on"/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/>
                                      <m:sup/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𝑁𝐼</m:t>
                                        </m:r>
                                      </m:e>
                                    </m:nary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el-G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59258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63830" r="-101389" b="-5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63830" r="-1389" b="-5021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256667" r="-101389" b="-68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256667" r="-1389" b="-68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71285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191071" r="-101389" b="-26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191071" r="-1389" b="-267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683133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301852" r="-101389" b="-17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301852" r="-1389" b="-17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37BC9B65-9E67-8EFA-A497-FC06223B12E6}"/>
              </a:ext>
            </a:extLst>
          </p:cNvPr>
          <p:cNvSpPr txBox="1"/>
          <p:nvPr/>
        </p:nvSpPr>
        <p:spPr>
          <a:xfrm>
            <a:off x="9196551" y="2712978"/>
            <a:ext cx="274320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particles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A6A8952-5699-9973-416A-8D43C2BFC9AD}"/>
              </a:ext>
            </a:extLst>
          </p:cNvPr>
          <p:cNvSpPr txBox="1"/>
          <p:nvPr/>
        </p:nvSpPr>
        <p:spPr>
          <a:xfrm>
            <a:off x="252248" y="2712978"/>
            <a:ext cx="282728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electrons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in </a:t>
            </a:r>
            <a:r>
              <a:rPr lang="de-DE" dirty="0" err="1"/>
              <a:t>conductor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04841C-4567-10DF-7D30-DBE2E3ECEFE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079532" y="3036144"/>
            <a:ext cx="1755227" cy="196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98CEB9B-3A3C-6372-036E-FC00756A63CE}"/>
              </a:ext>
            </a:extLst>
          </p:cNvPr>
          <p:cNvCxnSpPr>
            <a:stCxn id="7" idx="1"/>
          </p:cNvCxnSpPr>
          <p:nvPr/>
        </p:nvCxnSpPr>
        <p:spPr>
          <a:xfrm flipH="1">
            <a:off x="7704083" y="3036144"/>
            <a:ext cx="1492468" cy="406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E4F12F77-CBC6-3042-52CF-916E7609A63B}"/>
              </a:ext>
            </a:extLst>
          </p:cNvPr>
          <p:cNvSpPr txBox="1"/>
          <p:nvPr/>
        </p:nvSpPr>
        <p:spPr>
          <a:xfrm>
            <a:off x="2473655" y="3625495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Ohm: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35F6823-89AD-0077-DEB6-3155ACB54119}"/>
              </a:ext>
            </a:extLst>
          </p:cNvPr>
          <p:cNvSpPr txBox="1"/>
          <p:nvPr/>
        </p:nvSpPr>
        <p:spPr>
          <a:xfrm>
            <a:off x="2529984" y="4175377"/>
            <a:ext cx="629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KVL: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0CE5BFF-C097-E698-B8C1-9020D04CBA6E}"/>
              </a:ext>
            </a:extLst>
          </p:cNvPr>
          <p:cNvSpPr txBox="1"/>
          <p:nvPr/>
        </p:nvSpPr>
        <p:spPr>
          <a:xfrm>
            <a:off x="2520462" y="4863805"/>
            <a:ext cx="648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KCL:</a:t>
            </a:r>
          </a:p>
        </p:txBody>
      </p:sp>
    </p:spTree>
    <p:extLst>
      <p:ext uri="{BB962C8B-B14F-4D97-AF65-F5344CB8AC3E}">
        <p14:creationId xmlns:p14="http://schemas.microsoft.com/office/powerpoint/2010/main" val="42019997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04DA4-ADEF-35C6-CF4A-2BD7DF0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ADA038-A47C-5C34-926E-705F62DF4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inductor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𝑁𝑖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535A72-3DC6-B52E-04A4-2C6462E4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6307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3C3F3-4553-959C-3F12-3431A51B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D814D1-3881-8D72-B0A8-62D260D1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0818D1-809C-1DB1-24D4-4BCAF9BE9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/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blipFill>
                <a:blip r:embed="rId2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blipFill>
                <a:blip r:embed="rId3"/>
                <a:stretch>
                  <a:fillRect t="-106316" r="-722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B42701A9-036E-D8DE-BA66-6AF33A457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6390"/>
            <a:ext cx="4720590" cy="12887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inductors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blipFill>
                <a:blip r:embed="rId5"/>
                <a:stretch>
                  <a:fillRect l="-2242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816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B1F9-017C-26AC-37B1-DF502C5C5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A71B57-B85B-CF6D-0A43-1143B4A6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2B3B34-6F81-A23F-BE20-EBEF296AC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/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blipFill>
                <a:blip r:embed="rId2"/>
                <a:stretch>
                  <a:fillRect l="-5263" t="-100943" r="-5263" b="-1443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/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blipFill>
                <a:blip r:embed="rId3"/>
                <a:stretch>
                  <a:fillRect t="-105941" r="-5838" b="-16237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CB41C26C-D7CE-F5A3-8FB2-D1F2CE870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5" y="1704438"/>
            <a:ext cx="2791206" cy="22273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blipFill>
                <a:blip r:embed="rId5"/>
                <a:stretch>
                  <a:fillRect l="-1736" b="-5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616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554E52-AF5E-3BB4-DFEF-B7C601853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4CD589-376D-CC8C-E676-B3284089A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6386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transfers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another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coils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magnetically</a:t>
            </a:r>
            <a:r>
              <a:rPr lang="de-DE" dirty="0"/>
              <a:t> </a:t>
            </a:r>
            <a:r>
              <a:rPr lang="de-DE" dirty="0" err="1"/>
              <a:t>coupled</a:t>
            </a:r>
            <a:r>
              <a:rPr lang="de-DE" dirty="0"/>
              <a:t> via a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(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flux</a:t>
            </a:r>
            <a:r>
              <a:rPr lang="de-DE" dirty="0"/>
              <a:t>),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conductive</a:t>
            </a:r>
            <a:r>
              <a:rPr lang="de-DE" dirty="0"/>
              <a:t> </a:t>
            </a:r>
            <a:r>
              <a:rPr lang="de-DE" dirty="0" err="1"/>
              <a:t>connection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essential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transmission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power (in </a:t>
            </a:r>
            <a:r>
              <a:rPr lang="de-DE" dirty="0" err="1"/>
              <a:t>the</a:t>
            </a:r>
            <a:r>
              <a:rPr lang="de-DE" dirty="0"/>
              <a:t> form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F4388-22F3-016F-A6B4-6BB3D463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37</a:t>
            </a:fld>
            <a:endParaRPr lang="de-DE"/>
          </a:p>
        </p:txBody>
      </p:sp>
      <p:pic>
        <p:nvPicPr>
          <p:cNvPr id="8" name="Grafik 7" descr="Ein Bild, das Stromversorgung, Elektrische Leitungen, Kabel enthält.&#10;&#10;KI-generierte Inhalte können fehlerhaft sein.">
            <a:extLst>
              <a:ext uri="{FF2B5EF4-FFF2-40B4-BE49-F238E27FC236}">
                <a16:creationId xmlns:a16="http://schemas.microsoft.com/office/drawing/2014/main" id="{B3A82F11-943A-A451-685E-72058B7C5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062" y="2125225"/>
            <a:ext cx="4051738" cy="40517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D8D78EE-B7FE-971A-D996-1354B68D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9629" y="447920"/>
            <a:ext cx="1161941" cy="116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447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F65B3ED-9B26-347C-540C-16789B6005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7854" y="3429000"/>
            <a:ext cx="4015946" cy="32127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27DB9B7-4BE1-7667-65E7-E151990F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Ideal Transformer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</a:t>
                </a:r>
                <a:r>
                  <a:rPr lang="de-DE" dirty="0"/>
                  <a:t>-down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step-up</a:t>
                </a:r>
                <a:r>
                  <a:rPr lang="de-DE" dirty="0"/>
                  <a:t>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less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heat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loss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during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energy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transfer</a:t>
                </a:r>
                <a:r>
                  <a:rPr lang="de-DE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loss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𝐼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𝑆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  <a:blipFill>
                <a:blip r:embed="rId4"/>
                <a:stretch>
                  <a:fillRect l="-1695" t="-291" r="-1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48A9F-A3AA-FE6E-5B7F-69A224927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38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FF472A0-A62F-E7C8-7B8F-EB076A8496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5331" y="0"/>
            <a:ext cx="4616669" cy="346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5532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CFC878-8E19-68A5-5A54-A6FEE5997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Load on </a:t>
            </a:r>
            <a:r>
              <a:rPr lang="de-DE" dirty="0" err="1"/>
              <a:t>Secondary</a:t>
            </a:r>
            <a:r>
              <a:rPr lang="de-DE" dirty="0"/>
              <a:t> Side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838EBC-5AB9-134C-52A5-09831177E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527974"/>
          </a:xfrm>
        </p:spPr>
        <p:txBody>
          <a:bodyPr/>
          <a:lstStyle/>
          <a:p>
            <a:pPr marL="0" indent="0" algn="ctr">
              <a:buNone/>
            </a:pP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consider</a:t>
            </a:r>
            <a:r>
              <a:rPr lang="de-DE" dirty="0"/>
              <a:t> mutual </a:t>
            </a:r>
            <a:r>
              <a:rPr lang="de-DE" dirty="0" err="1"/>
              <a:t>inductance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1B5CD8-25C5-2FCB-F642-D797C75A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39</a:t>
            </a:fld>
            <a:endParaRPr lang="de-DE"/>
          </a:p>
        </p:txBody>
      </p:sp>
      <p:pic>
        <p:nvPicPr>
          <p:cNvPr id="6" name="Grafik 5" descr="Ein Bild, das Entwurf, Diagramm, Zeichnung, Lineart enthält.&#10;&#10;KI-generierte Inhalte können fehlerhaft sein.">
            <a:extLst>
              <a:ext uri="{FF2B5EF4-FFF2-40B4-BE49-F238E27FC236}">
                <a16:creationId xmlns:a16="http://schemas.microsoft.com/office/drawing/2014/main" id="{60BA82CA-A20F-5A3E-D755-F42F5EE64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07" y="2897249"/>
            <a:ext cx="5580993" cy="22185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/>
              <p:nvPr/>
            </p:nvSpPr>
            <p:spPr>
              <a:xfrm>
                <a:off x="6096000" y="2762312"/>
                <a:ext cx="5562600" cy="3041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 algn="ctr"/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62312"/>
                <a:ext cx="5562600" cy="30417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3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A4C72-0C01-AA64-2013-9B1A31FAE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Correction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Ampère‘s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</a:t>
                </a:r>
                <a:r>
                  <a:rPr lang="de-DE" dirty="0" err="1"/>
                  <a:t>ymmetry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induction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a time-</a:t>
                </a:r>
                <a:r>
                  <a:rPr lang="de-DE" dirty="0" err="1"/>
                  <a:t>varying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 </a:t>
                </a:r>
                <a:r>
                  <a:rPr lang="de-DE" dirty="0" err="1"/>
                  <a:t>produces</a:t>
                </a:r>
                <a:r>
                  <a:rPr lang="de-DE" dirty="0"/>
                  <a:t> a </a:t>
                </a:r>
                <a:r>
                  <a:rPr lang="de-DE" dirty="0" err="1"/>
                  <a:t>circulating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waves</a:t>
                </a:r>
                <a:r>
                  <a:rPr lang="de-DE" dirty="0"/>
                  <a:t> in </a:t>
                </a:r>
                <a:r>
                  <a:rPr lang="de-DE" dirty="0" err="1"/>
                  <a:t>vacuum</a:t>
                </a:r>
                <a:r>
                  <a:rPr lang="de-DE" dirty="0"/>
                  <a:t>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wires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086" t="-12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FD69E2-FD42-9F14-79D3-C17E18BDC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40</a:t>
            </a:fld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D5541EF8-937A-F2ED-0035-18718395102D}"/>
              </a:ext>
            </a:extLst>
          </p:cNvPr>
          <p:cNvSpPr/>
          <p:nvPr/>
        </p:nvSpPr>
        <p:spPr>
          <a:xfrm>
            <a:off x="5916705" y="2853567"/>
            <a:ext cx="2490085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C670480-0B6C-8D8C-EFFA-C85B4F8F51DD}"/>
              </a:ext>
            </a:extLst>
          </p:cNvPr>
          <p:cNvSpPr/>
          <p:nvPr/>
        </p:nvSpPr>
        <p:spPr>
          <a:xfrm>
            <a:off x="6228678" y="4236386"/>
            <a:ext cx="1527956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1844B65-2CF3-5051-7A4A-EC12BE258381}"/>
              </a:ext>
            </a:extLst>
          </p:cNvPr>
          <p:cNvSpPr txBox="1"/>
          <p:nvPr/>
        </p:nvSpPr>
        <p:spPr>
          <a:xfrm>
            <a:off x="8433239" y="4051720"/>
            <a:ext cx="30900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displacement</a:t>
            </a:r>
            <a:r>
              <a:rPr lang="de-DE" dirty="0"/>
              <a:t> </a:t>
            </a:r>
            <a:r>
              <a:rPr lang="de-DE" dirty="0" err="1"/>
              <a:t>current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9B304CE-AF0F-BA16-A1A9-D89A40FB51C3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7849915" y="3867054"/>
            <a:ext cx="583324" cy="369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8653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2370A-7850-9F73-A240-526316547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in Vacuum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integral form: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blipFill>
                <a:blip r:embed="rId2"/>
                <a:stretch>
                  <a:fillRect l="-5366" t="-7763" b="-296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differential form: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blipFill>
                <a:blip r:embed="rId3"/>
                <a:stretch>
                  <a:fillRect l="-1220" t="-228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0BF1F1-BD18-9489-FE44-E9AD52549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/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blipFill>
                <a:blip r:embed="rId4"/>
                <a:stretch>
                  <a:fillRect l="-2759" r="-2069" b="-63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/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r>
                  <a:rPr lang="de-DE" dirty="0"/>
                  <a:t>     (</a:t>
                </a:r>
                <a:r>
                  <a:rPr lang="de-DE" dirty="0" err="1"/>
                  <a:t>speed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light in </a:t>
                </a:r>
                <a:r>
                  <a:rPr lang="de-DE" dirty="0" err="1"/>
                  <a:t>vacuum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blipFill>
                <a:blip r:embed="rId5"/>
                <a:stretch>
                  <a:fillRect r="-3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D46BF93C-F6FB-0E8C-F0C6-AAB37BFF77DE}"/>
              </a:ext>
            </a:extLst>
          </p:cNvPr>
          <p:cNvSpPr txBox="1"/>
          <p:nvPr/>
        </p:nvSpPr>
        <p:spPr>
          <a:xfrm>
            <a:off x="1925271" y="5581490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wave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519A7F6-5B69-B506-19C7-71BD24379EF9}"/>
              </a:ext>
            </a:extLst>
          </p:cNvPr>
          <p:cNvSpPr/>
          <p:nvPr/>
        </p:nvSpPr>
        <p:spPr>
          <a:xfrm>
            <a:off x="1925271" y="5129046"/>
            <a:ext cx="8493858" cy="1290364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62362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42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87" y="4645840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𝑖𝑅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nary>
                        <m:naryPr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blipFill>
                <a:blip r:embed="rId4"/>
                <a:stretch>
                  <a:fillRect l="-3433" t="-92929" r="-10730" b="-1757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608141"/>
            <a:ext cx="4343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9074363" y="4528367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43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3327061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0181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2278042"/>
            <a:ext cx="3617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44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blipFill>
                <a:blip r:embed="rId2"/>
                <a:stretch>
                  <a:fillRect l="-3433" t="-57037" r="-4721" b="-1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𝜏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79" y="4122419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70521" y="2770345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2016</Words>
  <Application>Microsoft Macintosh PowerPoint</Application>
  <PresentationFormat>Breitbild</PresentationFormat>
  <Paragraphs>436</Paragraphs>
  <Slides>44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</vt:lpstr>
      <vt:lpstr>Introduction to Electrical Engineering</vt:lpstr>
      <vt:lpstr>Overview</vt:lpstr>
      <vt:lpstr>Electric and Magnetic Fields</vt:lpstr>
      <vt:lpstr>Coulomb Force</vt:lpstr>
      <vt:lpstr>Electric Field</vt:lpstr>
      <vt:lpstr>Electric Field Lines</vt:lpstr>
      <vt:lpstr>Voltage and Potential</vt:lpstr>
      <vt:lpstr>Electrostatic Induction</vt:lpstr>
      <vt:lpstr>Electric Displacement</vt:lpstr>
      <vt:lpstr>Dielectric Constants</vt:lpstr>
      <vt:lpstr>Gauss‘s Law</vt:lpstr>
      <vt:lpstr>Plate Capacitor</vt:lpstr>
      <vt:lpstr>Capacitance</vt:lpstr>
      <vt:lpstr>Time Dependence</vt:lpstr>
      <vt:lpstr>Energy of Capacitance</vt:lpstr>
      <vt:lpstr>Capacitors in Series</vt:lpstr>
      <vt:lpstr>Capacitors in Parallel</vt:lpstr>
      <vt:lpstr>Common Implementations</vt:lpstr>
      <vt:lpstr>Magnetic Force</vt:lpstr>
      <vt:lpstr>Magnetic Flux Density</vt:lpstr>
      <vt:lpstr>Lorentz Force</vt:lpstr>
      <vt:lpstr>Generation of Magnetic Fields</vt:lpstr>
      <vt:lpstr>Ampère‘s Circuital Law</vt:lpstr>
      <vt:lpstr>Magnetic Field Lines</vt:lpstr>
      <vt:lpstr>Magnetic Field Strength</vt:lpstr>
      <vt:lpstr>Magnetic Flux</vt:lpstr>
      <vt:lpstr>Gauss‘s Law for Magnetism</vt:lpstr>
      <vt:lpstr>Electromagnetic Induction</vt:lpstr>
      <vt:lpstr>Inductance</vt:lpstr>
      <vt:lpstr>Time Dependence</vt:lpstr>
      <vt:lpstr>Inductor (aka Coil)</vt:lpstr>
      <vt:lpstr>Magnetic Analogue of Ohm’s Law</vt:lpstr>
      <vt:lpstr>Electric vs Magnetic Circuits</vt:lpstr>
      <vt:lpstr>Energy of Inductance</vt:lpstr>
      <vt:lpstr>Inductors in Series</vt:lpstr>
      <vt:lpstr>Inductors in Parallel</vt:lpstr>
      <vt:lpstr>Transformer</vt:lpstr>
      <vt:lpstr>Ideal Transformer</vt:lpstr>
      <vt:lpstr>Load on Secondary Side</vt:lpstr>
      <vt:lpstr>Maxwell‘s Correction to Ampère‘s Law</vt:lpstr>
      <vt:lpstr>Maxwell‘s Equations in Vacuum</vt:lpstr>
      <vt:lpstr>Transient Responses: RC Series Circuit</vt:lpstr>
      <vt:lpstr>Transient Responses: RC Series Circuit</vt:lpstr>
      <vt:lpstr>Transient Responses: RL Parallel Circuit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181</cp:revision>
  <dcterms:created xsi:type="dcterms:W3CDTF">2025-08-07T19:22:22Z</dcterms:created>
  <dcterms:modified xsi:type="dcterms:W3CDTF">2025-11-06T13:05:07Z</dcterms:modified>
</cp:coreProperties>
</file>