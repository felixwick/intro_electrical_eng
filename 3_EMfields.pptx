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tif" ContentType="image/tiff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46"/>
  </p:notesMasterIdLst>
  <p:sldIdLst>
    <p:sldId id="258" r:id="rId2"/>
    <p:sldId id="259" r:id="rId3"/>
    <p:sldId id="257" r:id="rId4"/>
    <p:sldId id="260" r:id="rId5"/>
    <p:sldId id="264" r:id="rId6"/>
    <p:sldId id="265" r:id="rId7"/>
    <p:sldId id="271" r:id="rId8"/>
    <p:sldId id="266" r:id="rId9"/>
    <p:sldId id="267" r:id="rId10"/>
    <p:sldId id="268" r:id="rId11"/>
    <p:sldId id="269" r:id="rId12"/>
    <p:sldId id="273" r:id="rId13"/>
    <p:sldId id="274" r:id="rId14"/>
    <p:sldId id="275" r:id="rId15"/>
    <p:sldId id="276" r:id="rId16"/>
    <p:sldId id="281" r:id="rId17"/>
    <p:sldId id="278" r:id="rId18"/>
    <p:sldId id="282" r:id="rId19"/>
    <p:sldId id="283" r:id="rId20"/>
    <p:sldId id="284" r:id="rId21"/>
    <p:sldId id="285" r:id="rId22"/>
    <p:sldId id="288" r:id="rId23"/>
    <p:sldId id="290" r:id="rId24"/>
    <p:sldId id="279" r:id="rId25"/>
    <p:sldId id="289" r:id="rId26"/>
    <p:sldId id="296" r:id="rId27"/>
    <p:sldId id="297" r:id="rId28"/>
    <p:sldId id="293" r:id="rId29"/>
    <p:sldId id="292" r:id="rId30"/>
    <p:sldId id="302" r:id="rId31"/>
    <p:sldId id="301" r:id="rId32"/>
    <p:sldId id="312" r:id="rId33"/>
    <p:sldId id="313" r:id="rId34"/>
    <p:sldId id="303" r:id="rId35"/>
    <p:sldId id="304" r:id="rId36"/>
    <p:sldId id="305" r:id="rId37"/>
    <p:sldId id="309" r:id="rId38"/>
    <p:sldId id="310" r:id="rId39"/>
    <p:sldId id="311" r:id="rId40"/>
    <p:sldId id="299" r:id="rId41"/>
    <p:sldId id="270" r:id="rId42"/>
    <p:sldId id="306" r:id="rId43"/>
    <p:sldId id="307" r:id="rId44"/>
    <p:sldId id="308" r:id="rId45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433"/>
    <p:restoredTop sz="94694"/>
  </p:normalViewPr>
  <p:slideViewPr>
    <p:cSldViewPr snapToGrid="0">
      <p:cViewPr varScale="1">
        <p:scale>
          <a:sx n="121" d="100"/>
          <a:sy n="121" d="100"/>
        </p:scale>
        <p:origin x="752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presProps" Target="presProps.xml"/><Relationship Id="rId50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notesMaster" Target="notesMasters/notesMaster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0DC04F0-E5BE-8A4A-8776-A62D8C908562}" type="datetimeFigureOut">
              <a:rPr lang="de-DE" smtClean="0"/>
              <a:t>08.09.25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55AC9E4-BC66-294A-BBCA-AADF2923F494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5453831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1DE06EC-6212-A954-5C82-F5DA2674278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1055F870-50BC-A313-ABDB-D6E2ABBA0C8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B7E4CA08-2C1B-84C4-B694-2FEE806AD3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6018AE-B51C-A64B-9A0C-D7153E8CACE6}" type="datetime1">
              <a:rPr lang="de-DE" smtClean="0"/>
              <a:t>08.09.25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48E0539B-DF65-26CE-BED7-31802C9DA8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AD2C57E9-651C-F23C-976F-510D012B1C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03FC7C-1F2C-4946-B702-1A52A755583B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0257711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5E212A4-B429-510A-CD19-219A60E9B2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4B6D7005-5E3E-A66B-6850-7D44B9CE38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4B75665B-AA66-BAEB-8278-65AC08E1DE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0ECF6B-8059-A740-9918-ABE00CA15C78}" type="datetime1">
              <a:rPr lang="de-DE" smtClean="0"/>
              <a:t>08.09.25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331E57F1-8944-DD0E-B240-D24866D831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3812F154-E628-CD75-2F35-475967A422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03FC7C-1F2C-4946-B702-1A52A755583B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8402962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782A214-C610-8455-3B7C-979EE44ABB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D4B4D127-1228-61AB-33FF-7987E1D5159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6741E002-F129-3E65-BF60-63FBF24FEA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2FC42D-A9F2-5F46-A6E4-83DA21EB1DA7}" type="datetime1">
              <a:rPr lang="de-DE" smtClean="0"/>
              <a:t>08.09.25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FDCAB499-6265-0266-772C-F37A7393A0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14D73ADA-6B90-9F92-D1C3-A854879B04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03FC7C-1F2C-4946-B702-1A52A755583B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8425767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F3F3795-A41B-8C9F-D315-BEF68A15B0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140860AA-2D27-99BB-BEA8-0C6D03FD518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F3F5C5FA-43CD-9E92-3F43-7D54FDA9B96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5BD5EEE5-CFB0-E2EB-55DC-11CBC00840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2FD078-B7D9-0342-B0FE-83C1567B4968}" type="datetime1">
              <a:rPr lang="de-DE" smtClean="0"/>
              <a:t>08.09.25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EBBE098A-2F36-C9FB-838D-16AD98F05F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8EC2C5B7-0A55-30DD-9417-FA4F816B7C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03FC7C-1F2C-4946-B702-1A52A755583B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3615285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CA33B71-7D9C-5EB0-E3B4-F18914ADD8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78CF58E3-598A-A2BE-E7DC-E097663B8AC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E780D880-D4D5-53F2-85E4-B48FCD6EAC3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EAD1D3AE-A9AC-4FB7-B684-664E8B02A6D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24876982-368C-79CA-F81C-007EC1064D9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919DF5A6-72DE-8BAE-52E1-07B93FAF55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D8CBD0-47FD-FD4F-ADBF-3FB7FC45433E}" type="datetime1">
              <a:rPr lang="de-DE" smtClean="0"/>
              <a:t>08.09.25</a:t>
            </a:fld>
            <a:endParaRPr lang="de-DE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E2106D21-4323-EC4B-35F6-5F15BD0072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990A5635-7288-2B37-B46B-39BEE9D3F8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03FC7C-1F2C-4946-B702-1A52A755583B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2927741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150535A-4441-B86C-1B2F-63FC4012DB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8C8DB4CC-5C0F-94B2-1C87-A767B49DA2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1EC05A-809E-F549-AD27-341B7CF88349}" type="datetime1">
              <a:rPr lang="de-DE" smtClean="0"/>
              <a:t>08.09.25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75663F2A-15F7-6DAA-0EF8-EE8E72C784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9C0C2F4F-3F62-47FF-2D9E-B3B6B0FF37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03FC7C-1F2C-4946-B702-1A52A755583B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3469412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8A588DC4-D704-4549-929A-036E842612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563BD5-7960-964B-ABA8-1C0937CF751A}" type="datetime1">
              <a:rPr lang="de-DE" smtClean="0"/>
              <a:t>08.09.25</a:t>
            </a:fld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34182277-7A20-25C7-270F-49D10655C0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8DFE270B-CF91-10F3-7E25-12D61FB39C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03FC7C-1F2C-4946-B702-1A52A755583B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0715846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081D12C-7814-AE7A-F088-AAAF7AF77D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B16058D0-170E-33B9-B023-D12C2E41C6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25D1EDA3-F120-2969-1AE3-5212E6CF236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E3779CCF-73B9-A37C-0A35-8AB2711E3D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3F2940-51DB-7140-BB32-48914177C83A}" type="datetime1">
              <a:rPr lang="de-DE" smtClean="0"/>
              <a:t>08.09.25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0B6CAF77-914B-2538-D28C-A86D9748C9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254D5AB4-C0F7-5C56-7BB4-7CBD7B792C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03FC7C-1F2C-4946-B702-1A52A755583B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891064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89C3D59-942F-281D-24A2-F27077F1AE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6600AF17-7024-863A-E49B-BE425DE45C9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EF5C0014-2C02-C2E9-A881-5A88D74ECF2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47C76CD5-04B1-2DCB-54F8-811870FDBB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84A856-6E11-F548-8CC2-863CEFD27DC6}" type="datetime1">
              <a:rPr lang="de-DE" smtClean="0"/>
              <a:t>08.09.25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5F24D664-82EA-5EB5-79DE-B5A65C590D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CD2DE28B-3971-F357-42D1-2A8910D8A5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03FC7C-1F2C-4946-B702-1A52A755583B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6375361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67B616C-1248-1DEE-78B5-88C76CC77A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225027D1-0223-28EA-EB8D-6249C0C3444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E1563E31-F3DB-B82A-BFF4-CDB84D221D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2C5C3D-0BCE-1A4D-A038-C3C9983AFE30}" type="datetime1">
              <a:rPr lang="de-DE" smtClean="0"/>
              <a:t>08.09.25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E1AF18BF-85B2-A1CB-D512-EEF800D2DC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44E84F8B-B34E-D848-08DE-EE3989FBE9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03FC7C-1F2C-4946-B702-1A52A755583B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5656401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141AF314-D5B3-649D-2BFC-90EA770E61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334106AF-1CCE-6507-7F86-96090B759EA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931DAD7C-1CB8-EC1F-2C75-48C6A9F603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6E33CD-81AD-F94E-B1E8-C5B8F4DE9753}" type="datetime1">
              <a:rPr lang="de-DE" smtClean="0"/>
              <a:t>08.09.25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2918258E-97A2-BD89-2737-5330ACCC48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67645D6F-2AAF-C446-7A8B-72FB7F0FF2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03FC7C-1F2C-4946-B702-1A52A755583B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6118155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401CC1D5-6B37-BFC5-262F-6A7C924105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9F86BA95-3AEC-B77E-2C66-6DD233E96C0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A4BD4D17-DE2E-A782-0AB0-2C4F1716CAB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5069303-EE48-C043-8CDB-E1F4E46B58D5}" type="datetime1">
              <a:rPr lang="de-DE" smtClean="0"/>
              <a:t>08.09.25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8B3E0497-CBA6-1E78-74C1-4565A8FF9A5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1FDECC9F-BD10-E42A-A50D-B561BEFEF77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803FC7C-1F2C-4946-B702-1A52A755583B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7701334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sv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0.png"/><Relationship Id="rId4" Type="http://schemas.openxmlformats.org/officeDocument/2006/relationships/image" Target="../media/image19.sv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29.png"/><Relationship Id="rId5" Type="http://schemas.openxmlformats.org/officeDocument/2006/relationships/image" Target="../media/image38.png"/><Relationship Id="rId4" Type="http://schemas.openxmlformats.org/officeDocument/2006/relationships/image" Target="../media/image28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30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5.png"/><Relationship Id="rId5" Type="http://schemas.openxmlformats.org/officeDocument/2006/relationships/image" Target="../media/image43.png"/><Relationship Id="rId4" Type="http://schemas.openxmlformats.org/officeDocument/2006/relationships/image" Target="../media/image32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5.png"/><Relationship Id="rId4" Type="http://schemas.openxmlformats.org/officeDocument/2006/relationships/image" Target="../media/image45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tif"/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9.png"/><Relationship Id="rId5" Type="http://schemas.openxmlformats.org/officeDocument/2006/relationships/image" Target="../media/image45.png"/><Relationship Id="rId4" Type="http://schemas.openxmlformats.org/officeDocument/2006/relationships/image" Target="../media/image58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image" Target="../media/image47.tif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9.tiff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png"/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7.png"/><Relationship Id="rId5" Type="http://schemas.openxmlformats.org/officeDocument/2006/relationships/image" Target="../media/image52.svg"/><Relationship Id="rId4" Type="http://schemas.openxmlformats.org/officeDocument/2006/relationships/image" Target="../media/image51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emf"/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2.png"/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5.svg"/><Relationship Id="rId4" Type="http://schemas.openxmlformats.org/officeDocument/2006/relationships/image" Target="../media/image54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5.png"/><Relationship Id="rId4" Type="http://schemas.openxmlformats.org/officeDocument/2006/relationships/image" Target="../media/image61.svg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jpg"/><Relationship Id="rId2" Type="http://schemas.openxmlformats.org/officeDocument/2006/relationships/image" Target="../media/image7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9.svg"/><Relationship Id="rId4" Type="http://schemas.openxmlformats.org/officeDocument/2006/relationships/image" Target="../media/image68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3.png"/><Relationship Id="rId2" Type="http://schemas.openxmlformats.org/officeDocument/2006/relationships/image" Target="../media/image75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7.png"/><Relationship Id="rId1" Type="http://schemas.openxmlformats.org/officeDocument/2006/relationships/slideLayout" Target="../slideLayouts/slideLayout6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8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4.png"/><Relationship Id="rId2" Type="http://schemas.openxmlformats.org/officeDocument/2006/relationships/image" Target="../media/image8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6.png"/><Relationship Id="rId4" Type="http://schemas.openxmlformats.org/officeDocument/2006/relationships/image" Target="../media/image75.jpe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9.png"/><Relationship Id="rId2" Type="http://schemas.openxmlformats.org/officeDocument/2006/relationships/image" Target="../media/image8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1.png"/><Relationship Id="rId4" Type="http://schemas.openxmlformats.org/officeDocument/2006/relationships/image" Target="../media/image80.jpe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3.png"/><Relationship Id="rId2" Type="http://schemas.openxmlformats.org/officeDocument/2006/relationships/image" Target="../media/image82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4.sv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7.svg"/><Relationship Id="rId5" Type="http://schemas.openxmlformats.org/officeDocument/2006/relationships/image" Target="../media/image86.png"/><Relationship Id="rId4" Type="http://schemas.openxmlformats.org/officeDocument/2006/relationships/image" Target="../media/image690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2.png"/><Relationship Id="rId2" Type="http://schemas.openxmlformats.org/officeDocument/2006/relationships/image" Target="../media/image88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3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5.png"/><Relationship Id="rId2" Type="http://schemas.openxmlformats.org/officeDocument/2006/relationships/image" Target="../media/image94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97.png"/><Relationship Id="rId4" Type="http://schemas.openxmlformats.org/officeDocument/2006/relationships/image" Target="../media/image96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1.jpeg"/><Relationship Id="rId2" Type="http://schemas.openxmlformats.org/officeDocument/2006/relationships/image" Target="../media/image90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101.png"/><Relationship Id="rId4" Type="http://schemas.openxmlformats.org/officeDocument/2006/relationships/image" Target="../media/image100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8.png"/><Relationship Id="rId2" Type="http://schemas.openxmlformats.org/officeDocument/2006/relationships/image" Target="../media/image92.jpeg"/><Relationship Id="rId1" Type="http://schemas.openxmlformats.org/officeDocument/2006/relationships/slideLayout" Target="../slideLayouts/slideLayout6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5.png"/><Relationship Id="rId2" Type="http://schemas.openxmlformats.org/officeDocument/2006/relationships/image" Target="../media/image104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102.png"/><Relationship Id="rId4" Type="http://schemas.openxmlformats.org/officeDocument/2006/relationships/image" Target="../media/image99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BF2923D-3895-BF25-8FF0-9063E9CAEE2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1122363"/>
            <a:ext cx="12192000" cy="2387600"/>
          </a:xfrm>
        </p:spPr>
        <p:txBody>
          <a:bodyPr/>
          <a:lstStyle/>
          <a:p>
            <a:r>
              <a:rPr lang="de-DE" dirty="0" err="1"/>
              <a:t>Introduction</a:t>
            </a:r>
            <a:r>
              <a:rPr lang="de-DE" dirty="0"/>
              <a:t> </a:t>
            </a:r>
            <a:r>
              <a:rPr lang="de-DE" dirty="0" err="1"/>
              <a:t>to</a:t>
            </a:r>
            <a:r>
              <a:rPr lang="de-DE" dirty="0"/>
              <a:t> </a:t>
            </a:r>
            <a:r>
              <a:rPr lang="de-DE" dirty="0" err="1"/>
              <a:t>Electrical</a:t>
            </a:r>
            <a:r>
              <a:rPr lang="de-DE" dirty="0"/>
              <a:t> Engineering</a:t>
            </a:r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C68E1015-F0F7-BDF7-81A6-8D77EBEA051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20080" y="4581128"/>
            <a:ext cx="1973065" cy="1919254"/>
          </a:xfrm>
          <a:prstGeom prst="rect">
            <a:avLst/>
          </a:prstGeom>
        </p:spPr>
      </p:pic>
      <p:pic>
        <p:nvPicPr>
          <p:cNvPr id="5" name="Grafik 4">
            <a:extLst>
              <a:ext uri="{FF2B5EF4-FFF2-40B4-BE49-F238E27FC236}">
                <a16:creationId xmlns:a16="http://schemas.microsoft.com/office/drawing/2014/main" id="{DAF523FF-EDDE-CBCE-CF3C-23754CE877B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071664" y="4581128"/>
            <a:ext cx="2193433" cy="1919254"/>
          </a:xfrm>
          <a:prstGeom prst="rect">
            <a:avLst/>
          </a:prstGeom>
        </p:spPr>
      </p:pic>
      <p:pic>
        <p:nvPicPr>
          <p:cNvPr id="6" name="Grafik 5">
            <a:extLst>
              <a:ext uri="{FF2B5EF4-FFF2-40B4-BE49-F238E27FC236}">
                <a16:creationId xmlns:a16="http://schemas.microsoft.com/office/drawing/2014/main" id="{35D6C663-1B18-BF64-775E-7688EF4041B0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096000" y="4581128"/>
            <a:ext cx="2846090" cy="2276872"/>
          </a:xfrm>
          <a:prstGeom prst="rect">
            <a:avLst/>
          </a:prstGeom>
        </p:spPr>
      </p:pic>
      <p:pic>
        <p:nvPicPr>
          <p:cNvPr id="7" name="Grafik 6">
            <a:extLst>
              <a:ext uri="{FF2B5EF4-FFF2-40B4-BE49-F238E27FC236}">
                <a16:creationId xmlns:a16="http://schemas.microsoft.com/office/drawing/2014/main" id="{037BBB93-FC05-4423-CA66-B8B94BF79CDD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8942090" y="4582955"/>
            <a:ext cx="2712054" cy="1988840"/>
          </a:xfrm>
          <a:prstGeom prst="rect">
            <a:avLst/>
          </a:prstGeom>
        </p:spPr>
      </p:pic>
      <p:pic>
        <p:nvPicPr>
          <p:cNvPr id="9" name="Grafik 8" descr="Ein Bild, das Grafiken, Schrift, Screenshot, Grafikdesign enthält.&#10;&#10;KI-generierte Inhalte können fehlerhaft sein.">
            <a:extLst>
              <a:ext uri="{FF2B5EF4-FFF2-40B4-BE49-F238E27FC236}">
                <a16:creationId xmlns:a16="http://schemas.microsoft.com/office/drawing/2014/main" id="{44C8233E-B9AF-4B79-8A1E-12D4DBDF58A3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402572" y="286205"/>
            <a:ext cx="2251572" cy="11747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03680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F59877E-8B63-4736-A589-18D96CCD18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Overview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350A3E6E-DB3F-1143-1ADE-C8BBC012D11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de-DE" dirty="0" err="1"/>
              <a:t>Physical</a:t>
            </a:r>
            <a:r>
              <a:rPr lang="de-DE" dirty="0"/>
              <a:t> </a:t>
            </a:r>
            <a:r>
              <a:rPr lang="de-DE" dirty="0" err="1"/>
              <a:t>Principles</a:t>
            </a:r>
            <a:r>
              <a:rPr lang="de-DE" dirty="0"/>
              <a:t> and Basic </a:t>
            </a:r>
            <a:r>
              <a:rPr lang="de-DE" dirty="0" err="1"/>
              <a:t>Concepts</a:t>
            </a:r>
            <a:endParaRPr lang="de-DE" dirty="0"/>
          </a:p>
          <a:p>
            <a:pPr marL="514350" indent="-514350">
              <a:buFont typeface="+mj-lt"/>
              <a:buAutoNum type="arabicPeriod"/>
            </a:pPr>
            <a:endParaRPr lang="de-DE" b="1" dirty="0"/>
          </a:p>
          <a:p>
            <a:pPr marL="514350" indent="-514350">
              <a:buFont typeface="+mj-lt"/>
              <a:buAutoNum type="arabicPeriod"/>
            </a:pPr>
            <a:r>
              <a:rPr lang="de-DE" dirty="0" err="1"/>
              <a:t>Direct</a:t>
            </a:r>
            <a:r>
              <a:rPr lang="de-DE" dirty="0"/>
              <a:t> </a:t>
            </a:r>
            <a:r>
              <a:rPr lang="de-DE" dirty="0" err="1"/>
              <a:t>Current</a:t>
            </a:r>
            <a:r>
              <a:rPr lang="de-DE" dirty="0"/>
              <a:t> </a:t>
            </a:r>
            <a:r>
              <a:rPr lang="de-DE" dirty="0" err="1"/>
              <a:t>Circuits</a:t>
            </a:r>
            <a:endParaRPr lang="de-DE" dirty="0"/>
          </a:p>
          <a:p>
            <a:pPr marL="514350" indent="-514350">
              <a:buFont typeface="+mj-lt"/>
              <a:buAutoNum type="arabicPeriod"/>
            </a:pPr>
            <a:endParaRPr lang="de-DE" dirty="0"/>
          </a:p>
          <a:p>
            <a:pPr marL="514350" indent="-514350">
              <a:buFont typeface="+mj-lt"/>
              <a:buAutoNum type="arabicPeriod"/>
            </a:pPr>
            <a:r>
              <a:rPr lang="de-DE" b="1" dirty="0"/>
              <a:t>Electric and </a:t>
            </a:r>
            <a:r>
              <a:rPr lang="de-DE" b="1" dirty="0" err="1"/>
              <a:t>Magnetic</a:t>
            </a:r>
            <a:r>
              <a:rPr lang="de-DE" b="1" dirty="0"/>
              <a:t> Fields</a:t>
            </a:r>
          </a:p>
          <a:p>
            <a:pPr marL="514350" indent="-514350">
              <a:buFont typeface="+mj-lt"/>
              <a:buAutoNum type="arabicPeriod"/>
            </a:pPr>
            <a:endParaRPr lang="de-DE" dirty="0"/>
          </a:p>
          <a:p>
            <a:pPr marL="514350" indent="-514350">
              <a:buFont typeface="+mj-lt"/>
              <a:buAutoNum type="arabicPeriod"/>
            </a:pPr>
            <a:r>
              <a:rPr lang="de-DE" dirty="0" err="1"/>
              <a:t>Alternating</a:t>
            </a:r>
            <a:r>
              <a:rPr lang="de-DE" dirty="0"/>
              <a:t> </a:t>
            </a:r>
            <a:r>
              <a:rPr lang="de-DE" dirty="0" err="1"/>
              <a:t>Current</a:t>
            </a:r>
            <a:r>
              <a:rPr lang="de-DE" dirty="0"/>
              <a:t> Technology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A748FD64-4E75-C8DE-40EE-ED62EA0196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C53EB-36EE-1F44-B26B-550DFA5AE236}" type="slidenum">
              <a:rPr lang="de-DE" smtClean="0"/>
              <a:t>2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14122869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D987FFB-EB4F-C9BB-73C5-AF5E509BAF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Electric and </a:t>
            </a:r>
            <a:r>
              <a:rPr lang="de-DE" dirty="0" err="1"/>
              <a:t>Magnetic</a:t>
            </a:r>
            <a:r>
              <a:rPr lang="de-DE" dirty="0"/>
              <a:t> Fields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04224C21-80A3-E7B8-3CD6-200D3C3866C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de-DE" dirty="0"/>
              <a:t>Coulomb Force</a:t>
            </a:r>
          </a:p>
          <a:p>
            <a:r>
              <a:rPr lang="de-DE" dirty="0" err="1"/>
              <a:t>Electrostatic</a:t>
            </a:r>
            <a:r>
              <a:rPr lang="de-DE" dirty="0"/>
              <a:t> </a:t>
            </a:r>
            <a:r>
              <a:rPr lang="de-DE" dirty="0" err="1"/>
              <a:t>Induction</a:t>
            </a:r>
            <a:endParaRPr lang="de-DE" dirty="0"/>
          </a:p>
          <a:p>
            <a:r>
              <a:rPr lang="de-DE" dirty="0" err="1"/>
              <a:t>Capacitance</a:t>
            </a:r>
            <a:r>
              <a:rPr lang="de-DE" dirty="0"/>
              <a:t> &amp; </a:t>
            </a:r>
            <a:r>
              <a:rPr lang="de-DE" dirty="0" err="1"/>
              <a:t>Capacitor</a:t>
            </a:r>
            <a:endParaRPr lang="de-DE" dirty="0"/>
          </a:p>
          <a:p>
            <a:r>
              <a:rPr lang="de-DE" dirty="0" err="1"/>
              <a:t>Magnetic</a:t>
            </a:r>
            <a:r>
              <a:rPr lang="de-DE" dirty="0"/>
              <a:t> Force</a:t>
            </a:r>
          </a:p>
          <a:p>
            <a:r>
              <a:rPr lang="de-DE" dirty="0" err="1"/>
              <a:t>Electromagnetic</a:t>
            </a:r>
            <a:r>
              <a:rPr lang="de-DE" dirty="0"/>
              <a:t> </a:t>
            </a:r>
            <a:r>
              <a:rPr lang="de-DE" dirty="0" err="1"/>
              <a:t>Induction</a:t>
            </a:r>
            <a:endParaRPr lang="de-DE" dirty="0"/>
          </a:p>
          <a:p>
            <a:r>
              <a:rPr lang="de-DE" dirty="0" err="1"/>
              <a:t>Inductivity</a:t>
            </a:r>
            <a:r>
              <a:rPr lang="de-DE" dirty="0"/>
              <a:t> &amp; </a:t>
            </a:r>
            <a:r>
              <a:rPr lang="de-DE" dirty="0" err="1"/>
              <a:t>Inductor</a:t>
            </a:r>
            <a:endParaRPr lang="de-DE" dirty="0"/>
          </a:p>
          <a:p>
            <a:r>
              <a:rPr lang="de-DE" dirty="0"/>
              <a:t>Transformer</a:t>
            </a:r>
          </a:p>
          <a:p>
            <a:r>
              <a:rPr lang="de-DE" dirty="0" err="1"/>
              <a:t>Maxwell‘s</a:t>
            </a:r>
            <a:r>
              <a:rPr lang="de-DE" dirty="0"/>
              <a:t> </a:t>
            </a:r>
            <a:r>
              <a:rPr lang="de-DE" dirty="0" err="1"/>
              <a:t>Equations</a:t>
            </a:r>
            <a:endParaRPr lang="de-DE" dirty="0"/>
          </a:p>
          <a:p>
            <a:r>
              <a:rPr lang="de-DE" dirty="0"/>
              <a:t>Transient Responses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240A4E34-72E3-5600-6CA0-4AC1B813A0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03FC7C-1F2C-4946-B702-1A52A755583B}" type="slidenum">
              <a:rPr lang="de-DE" smtClean="0"/>
              <a:t>3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81740850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936F556-D5F5-651C-B319-53C2E7D8C9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Coulomb Force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Inhaltsplatzhalter 2">
                <a:extLst>
                  <a:ext uri="{FF2B5EF4-FFF2-40B4-BE49-F238E27FC236}">
                    <a16:creationId xmlns:a16="http://schemas.microsoft.com/office/drawing/2014/main" id="{35737C69-646E-7994-D5A6-F0D16D89EE4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de-DE" dirty="0" err="1"/>
                  <a:t>for</a:t>
                </a:r>
                <a:r>
                  <a:rPr lang="de-DE" dirty="0"/>
                  <a:t> </a:t>
                </a:r>
                <a:r>
                  <a:rPr lang="de-DE" dirty="0" err="1"/>
                  <a:t>point</a:t>
                </a:r>
                <a:r>
                  <a:rPr lang="de-DE" dirty="0"/>
                  <a:t> </a:t>
                </a:r>
                <a:r>
                  <a:rPr lang="de-DE" dirty="0" err="1"/>
                  <a:t>charges</a:t>
                </a:r>
                <a:r>
                  <a:rPr lang="de-DE" dirty="0"/>
                  <a:t> </a:t>
                </a:r>
                <a14:m>
                  <m:oMath xmlns:m="http://schemas.openxmlformats.org/officeDocument/2006/math">
                    <m:r>
                      <a:rPr lang="de-DE" i="1"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lang="de-DE" dirty="0"/>
                  <a:t>:</a:t>
                </a:r>
              </a:p>
              <a:p>
                <a:pPr marL="0" indent="0">
                  <a:buNone/>
                </a:pPr>
                <a:endParaRPr lang="de-DE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⃑"/>
                              <m:ctrlPr>
                                <a:rPr lang="de-DE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de-DE" i="1">
                                  <a:latin typeface="Cambria Math" panose="02040503050406030204" pitchFamily="18" charset="0"/>
                                </a:rPr>
                                <m:t>𝐹</m:t>
                              </m:r>
                            </m:e>
                          </m:acc>
                        </m:e>
                        <m:sub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de-DE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de-DE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⃑"/>
                              <m:ctrlPr>
                                <a:rPr lang="de-DE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de-DE" i="1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</m:acc>
                        </m:e>
                        <m:sub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𝑟</m:t>
                          </m:r>
                        </m:sub>
                      </m:sSub>
                      <m:f>
                        <m:fPr>
                          <m:ctrlPr>
                            <a:rPr lang="de-DE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4</m:t>
                          </m:r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𝜋</m:t>
                          </m:r>
                          <m:sSub>
                            <m:sSubPr>
                              <m:ctrlPr>
                                <a:rPr lang="de-DE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e-DE" i="1">
                                  <a:latin typeface="Cambria Math" panose="02040503050406030204" pitchFamily="18" charset="0"/>
                                </a:rPr>
                                <m:t>𝜀</m:t>
                              </m:r>
                            </m:e>
                            <m:sub>
                              <m:r>
                                <a:rPr lang="de-DE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den>
                      </m:f>
                      <m:f>
                        <m:fPr>
                          <m:ctrlPr>
                            <a:rPr lang="de-DE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de-DE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e-DE" i="1">
                                  <a:latin typeface="Cambria Math" panose="02040503050406030204" pitchFamily="18" charset="0"/>
                                </a:rPr>
                                <m:t>𝑄</m:t>
                              </m:r>
                            </m:e>
                            <m:sub>
                              <m:r>
                                <a:rPr lang="de-DE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num>
                        <m:den>
                          <m:sSup>
                            <m:sSupPr>
                              <m:ctrlPr>
                                <a:rPr lang="de-DE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de-DE" i="1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  <m:sup>
                              <m:r>
                                <a:rPr lang="de-DE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r>
                        <a:rPr lang="de-DE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de-DE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⃑"/>
                              <m:ctrlPr>
                                <a:rPr lang="de-DE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de-DE" i="1">
                                  <a:latin typeface="Cambria Math" panose="02040503050406030204" pitchFamily="18" charset="0"/>
                                </a:rPr>
                                <m:t>𝐸</m:t>
                              </m:r>
                            </m:e>
                          </m:acc>
                        </m:e>
                        <m:sub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de-DE" i="1">
                          <a:latin typeface="Cambria Math" panose="02040503050406030204" pitchFamily="18" charset="0"/>
                        </a:rPr>
                        <m:t>∙</m:t>
                      </m:r>
                      <m:sSub>
                        <m:sSubPr>
                          <m:ctrlPr>
                            <a:rPr lang="de-DE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de-DE" dirty="0"/>
              </a:p>
              <a:p>
                <a:pPr marL="0" indent="0">
                  <a:buNone/>
                </a:pPr>
                <a:endParaRPr lang="de-DE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⃑"/>
                              <m:ctrlPr>
                                <a:rPr lang="de-DE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de-DE" i="1">
                                  <a:latin typeface="Cambria Math" panose="02040503050406030204" pitchFamily="18" charset="0"/>
                                </a:rPr>
                                <m:t>𝐹</m:t>
                              </m:r>
                            </m:e>
                          </m:acc>
                        </m:e>
                        <m:sub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de-DE" i="1">
                          <a:latin typeface="Cambria Math" panose="02040503050406030204" pitchFamily="18" charset="0"/>
                        </a:rPr>
                        <m:t>=−</m:t>
                      </m:r>
                      <m:sSub>
                        <m:sSubPr>
                          <m:ctrlPr>
                            <a:rPr lang="de-DE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⃑"/>
                              <m:ctrlPr>
                                <a:rPr lang="de-DE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de-DE" i="1">
                                  <a:latin typeface="Cambria Math" panose="02040503050406030204" pitchFamily="18" charset="0"/>
                                </a:rPr>
                                <m:t>𝐹</m:t>
                              </m:r>
                            </m:e>
                          </m:acc>
                        </m:e>
                        <m:sub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de-DE" dirty="0"/>
              </a:p>
              <a:p>
                <a:pPr marL="0" indent="0">
                  <a:buNone/>
                </a:pPr>
                <a:endParaRPr lang="de-DE" dirty="0"/>
              </a:p>
              <a:p>
                <a:pPr marL="0" indent="0">
                  <a:buNone/>
                </a:pPr>
                <a:r>
                  <a:rPr lang="de-DE" dirty="0" err="1"/>
                  <a:t>strives</a:t>
                </a:r>
                <a:r>
                  <a:rPr lang="de-DE" dirty="0"/>
                  <a:t> </a:t>
                </a:r>
                <a:r>
                  <a:rPr lang="de-DE" dirty="0" err="1"/>
                  <a:t>to</a:t>
                </a:r>
                <a:r>
                  <a:rPr lang="de-DE" dirty="0"/>
                  <a:t> </a:t>
                </a:r>
                <a:r>
                  <a:rPr lang="de-DE" dirty="0" err="1"/>
                  <a:t>reduce</a:t>
                </a:r>
                <a:r>
                  <a:rPr lang="de-DE" dirty="0"/>
                  <a:t> potential </a:t>
                </a:r>
                <a:r>
                  <a:rPr lang="de-DE" dirty="0" err="1"/>
                  <a:t>difference</a:t>
                </a:r>
                <a:r>
                  <a:rPr lang="de-DE" dirty="0"/>
                  <a:t> </a:t>
                </a:r>
                <a:r>
                  <a:rPr lang="de-DE" dirty="0" err="1"/>
                  <a:t>between</a:t>
                </a:r>
                <a:r>
                  <a:rPr lang="de-DE" dirty="0"/>
                  <a:t> </a:t>
                </a:r>
                <a:r>
                  <a:rPr lang="de-DE" dirty="0" err="1"/>
                  <a:t>charged</a:t>
                </a:r>
                <a:r>
                  <a:rPr lang="de-DE" dirty="0"/>
                  <a:t> </a:t>
                </a:r>
                <a:r>
                  <a:rPr lang="de-DE" dirty="0" err="1"/>
                  <a:t>bodies</a:t>
                </a:r>
                <a:endParaRPr lang="de-DE" dirty="0"/>
              </a:p>
              <a:p>
                <a:pPr marL="0" indent="0">
                  <a:buNone/>
                </a:pPr>
                <a:r>
                  <a:rPr lang="de-DE" dirty="0">
                    <a:sym typeface="Wingdings" pitchFamily="2" charset="2"/>
                  </a:rPr>
                  <a:t> </a:t>
                </a:r>
                <a:r>
                  <a:rPr lang="de-DE" dirty="0" err="1">
                    <a:sym typeface="Wingdings" pitchFamily="2" charset="2"/>
                  </a:rPr>
                  <a:t>no</a:t>
                </a:r>
                <a:r>
                  <a:rPr lang="de-DE" dirty="0">
                    <a:sym typeface="Wingdings" pitchFamily="2" charset="2"/>
                  </a:rPr>
                  <a:t> </a:t>
                </a:r>
                <a:r>
                  <a:rPr lang="de-DE" dirty="0" err="1">
                    <a:sym typeface="Wingdings" pitchFamily="2" charset="2"/>
                  </a:rPr>
                  <a:t>electrostatic</a:t>
                </a:r>
                <a:r>
                  <a:rPr lang="de-DE" dirty="0">
                    <a:sym typeface="Wingdings" pitchFamily="2" charset="2"/>
                  </a:rPr>
                  <a:t> </a:t>
                </a:r>
                <a:r>
                  <a:rPr lang="de-DE" dirty="0" err="1">
                    <a:sym typeface="Wingdings" pitchFamily="2" charset="2"/>
                  </a:rPr>
                  <a:t>field</a:t>
                </a:r>
                <a:r>
                  <a:rPr lang="de-DE" dirty="0">
                    <a:sym typeface="Wingdings" pitchFamily="2" charset="2"/>
                  </a:rPr>
                  <a:t> in (ideal) </a:t>
                </a:r>
                <a:r>
                  <a:rPr lang="de-DE" dirty="0" err="1"/>
                  <a:t>conductors</a:t>
                </a:r>
                <a:endParaRPr lang="de-DE" dirty="0"/>
              </a:p>
              <a:p>
                <a:pPr marL="0" indent="0">
                  <a:buNone/>
                </a:pPr>
                <a:endParaRPr lang="de-DE" dirty="0"/>
              </a:p>
            </p:txBody>
          </p:sp>
        </mc:Choice>
        <mc:Fallback xmlns="">
          <p:sp>
            <p:nvSpPr>
              <p:cNvPr id="3" name="Inhaltsplatzhalter 2">
                <a:extLst>
                  <a:ext uri="{FF2B5EF4-FFF2-40B4-BE49-F238E27FC236}">
                    <a16:creationId xmlns:a16="http://schemas.microsoft.com/office/drawing/2014/main" id="{35737C69-646E-7994-D5A6-F0D16D89EE4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06" t="-2326" b="-1744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A787873D-688B-E72F-5814-937F5E6DE1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03FC7C-1F2C-4946-B702-1A52A755583B}" type="slidenum">
              <a:rPr lang="de-DE" smtClean="0"/>
              <a:t>4</a:t>
            </a:fld>
            <a:endParaRPr lang="de-DE"/>
          </a:p>
        </p:txBody>
      </p:sp>
      <p:sp>
        <p:nvSpPr>
          <p:cNvPr id="6" name="Textfeld 5">
            <a:extLst>
              <a:ext uri="{FF2B5EF4-FFF2-40B4-BE49-F238E27FC236}">
                <a16:creationId xmlns:a16="http://schemas.microsoft.com/office/drawing/2014/main" id="{28685001-A36C-958F-8C93-9BF40F94F398}"/>
              </a:ext>
            </a:extLst>
          </p:cNvPr>
          <p:cNvSpPr txBox="1"/>
          <p:nvPr/>
        </p:nvSpPr>
        <p:spPr>
          <a:xfrm>
            <a:off x="6224752" y="717629"/>
            <a:ext cx="4193627" cy="110799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de-DE" sz="2200" dirty="0" err="1"/>
              <a:t>vector</a:t>
            </a:r>
            <a:r>
              <a:rPr lang="de-DE" sz="2200" dirty="0"/>
              <a:t> </a:t>
            </a:r>
            <a:r>
              <a:rPr lang="de-DE" sz="2200" dirty="0" err="1"/>
              <a:t>field</a:t>
            </a:r>
            <a:r>
              <a:rPr lang="de-DE" sz="2200" dirty="0"/>
              <a:t> </a:t>
            </a:r>
            <a:r>
              <a:rPr lang="de-DE" sz="2200" dirty="0" err="1"/>
              <a:t>associating</a:t>
            </a:r>
            <a:r>
              <a:rPr lang="de-DE" sz="2200" dirty="0"/>
              <a:t> </a:t>
            </a:r>
            <a:r>
              <a:rPr lang="de-DE" sz="2200" dirty="0" err="1"/>
              <a:t>to</a:t>
            </a:r>
            <a:r>
              <a:rPr lang="de-DE" sz="2200" dirty="0"/>
              <a:t> </a:t>
            </a:r>
            <a:r>
              <a:rPr lang="de-DE" sz="2200" dirty="0" err="1"/>
              <a:t>each</a:t>
            </a:r>
            <a:r>
              <a:rPr lang="de-DE" sz="2200" dirty="0"/>
              <a:t> </a:t>
            </a:r>
            <a:r>
              <a:rPr lang="de-DE" sz="2200" dirty="0" err="1"/>
              <a:t>point</a:t>
            </a:r>
            <a:r>
              <a:rPr lang="de-DE" sz="2200" dirty="0"/>
              <a:t> in </a:t>
            </a:r>
            <a:r>
              <a:rPr lang="de-DE" sz="2200" dirty="0" err="1"/>
              <a:t>space</a:t>
            </a:r>
            <a:r>
              <a:rPr lang="de-DE" sz="2200" dirty="0"/>
              <a:t> </a:t>
            </a:r>
            <a:r>
              <a:rPr lang="de-DE" sz="2200" dirty="0" err="1"/>
              <a:t>the</a:t>
            </a:r>
            <a:r>
              <a:rPr lang="de-DE" sz="2200" dirty="0"/>
              <a:t> Coulomb </a:t>
            </a:r>
            <a:r>
              <a:rPr lang="de-DE" sz="2200" dirty="0" err="1"/>
              <a:t>force</a:t>
            </a:r>
            <a:r>
              <a:rPr lang="de-DE" sz="2200" dirty="0"/>
              <a:t> </a:t>
            </a:r>
            <a:r>
              <a:rPr lang="de-DE" sz="2200" dirty="0" err="1"/>
              <a:t>experienced</a:t>
            </a:r>
            <a:r>
              <a:rPr lang="de-DE" sz="2200" dirty="0"/>
              <a:t> </a:t>
            </a:r>
            <a:r>
              <a:rPr lang="de-DE" sz="2200" dirty="0" err="1"/>
              <a:t>by</a:t>
            </a:r>
            <a:r>
              <a:rPr lang="de-DE" sz="2200" dirty="0"/>
              <a:t> a </a:t>
            </a:r>
            <a:r>
              <a:rPr lang="de-DE" sz="2200" dirty="0" err="1"/>
              <a:t>unit</a:t>
            </a:r>
            <a:r>
              <a:rPr lang="de-DE" sz="2200" dirty="0"/>
              <a:t> </a:t>
            </a:r>
            <a:r>
              <a:rPr lang="de-DE" sz="2200" dirty="0" err="1"/>
              <a:t>test</a:t>
            </a:r>
            <a:r>
              <a:rPr lang="de-DE" sz="2200" dirty="0"/>
              <a:t> </a:t>
            </a:r>
            <a:r>
              <a:rPr lang="de-DE" sz="2200" dirty="0" err="1"/>
              <a:t>charge</a:t>
            </a:r>
            <a:endParaRPr lang="de-DE" sz="2200" dirty="0"/>
          </a:p>
        </p:txBody>
      </p:sp>
      <p:cxnSp>
        <p:nvCxnSpPr>
          <p:cNvPr id="8" name="Gerade Verbindung mit Pfeil 7">
            <a:extLst>
              <a:ext uri="{FF2B5EF4-FFF2-40B4-BE49-F238E27FC236}">
                <a16:creationId xmlns:a16="http://schemas.microsoft.com/office/drawing/2014/main" id="{3BF34FDD-7FB7-66A1-4B5C-1E8BEE719228}"/>
              </a:ext>
            </a:extLst>
          </p:cNvPr>
          <p:cNvCxnSpPr>
            <a:cxnSpLocks/>
            <a:stCxn id="6" idx="2"/>
          </p:cNvCxnSpPr>
          <p:nvPr/>
        </p:nvCxnSpPr>
        <p:spPr>
          <a:xfrm flipH="1">
            <a:off x="7283669" y="1825625"/>
            <a:ext cx="1037897" cy="105420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2040209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F561D1A-6BD2-E4F5-CDF8-ED4CE383D8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Electric Field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Inhaltsplatzhalter 2">
                <a:extLst>
                  <a:ext uri="{FF2B5EF4-FFF2-40B4-BE49-F238E27FC236}">
                    <a16:creationId xmlns:a16="http://schemas.microsoft.com/office/drawing/2014/main" id="{878EE570-4A94-321E-84C4-F55E22499EA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indent="0">
                  <a:buNone/>
                </a:pPr>
                <a:endParaRPr lang="de-DE" dirty="0"/>
              </a:p>
              <a:p>
                <a:pPr marL="0" indent="0">
                  <a:buNone/>
                </a:pPr>
                <a:endParaRPr lang="de-DE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⃑"/>
                          <m:ctrlPr>
                            <a:rPr lang="de-DE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</m:acc>
                      <m:r>
                        <a:rPr lang="de-DE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de-DE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⃑"/>
                              <m:ctrlPr>
                                <a:rPr lang="de-DE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de-DE" i="1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</m:acc>
                        </m:e>
                        <m:sub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𝑟</m:t>
                          </m:r>
                        </m:sub>
                      </m:sSub>
                      <m:f>
                        <m:fPr>
                          <m:ctrlPr>
                            <a:rPr lang="de-DE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𝑄</m:t>
                          </m:r>
                        </m:num>
                        <m:den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4</m:t>
                          </m:r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𝜋</m:t>
                          </m:r>
                          <m:sSub>
                            <m:sSubPr>
                              <m:ctrlPr>
                                <a:rPr lang="de-DE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e-DE" i="1">
                                  <a:latin typeface="Cambria Math" panose="02040503050406030204" pitchFamily="18" charset="0"/>
                                </a:rPr>
                                <m:t>𝜀</m:t>
                              </m:r>
                            </m:e>
                            <m:sub>
                              <m:r>
                                <a:rPr lang="de-DE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sSup>
                            <m:sSupPr>
                              <m:ctrlPr>
                                <a:rPr lang="de-DE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de-DE" i="1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  <m:sup>
                              <m:r>
                                <a:rPr lang="de-DE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de-DE" dirty="0"/>
              </a:p>
              <a:p>
                <a:pPr marL="0" indent="0">
                  <a:buNone/>
                </a:pPr>
                <a:endParaRPr lang="de-DE" dirty="0"/>
              </a:p>
              <a:p>
                <a:pPr marL="0" indent="0">
                  <a:buNone/>
                </a:pPr>
                <a:endParaRPr lang="de-DE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de-DE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</m:d>
                      <m:r>
                        <a:rPr lang="de-DE" i="1">
                          <a:latin typeface="Cambria Math" panose="02040503050406030204" pitchFamily="18" charset="0"/>
                        </a:rPr>
                        <m:t>=1 </m:t>
                      </m:r>
                      <m:f>
                        <m:fPr>
                          <m:ctrlPr>
                            <a:rPr lang="de-DE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de-DE">
                              <a:latin typeface="Cambria Math" panose="02040503050406030204" pitchFamily="18" charset="0"/>
                            </a:rPr>
                            <m:t>V</m:t>
                          </m:r>
                        </m:num>
                        <m:den>
                          <m:r>
                            <m:rPr>
                              <m:sty m:val="p"/>
                            </m:rPr>
                            <a:rPr lang="de-DE">
                              <a:latin typeface="Cambria Math" panose="02040503050406030204" pitchFamily="18" charset="0"/>
                            </a:rPr>
                            <m:t>m</m:t>
                          </m:r>
                        </m:den>
                      </m:f>
                    </m:oMath>
                  </m:oMathPara>
                </a14:m>
                <a:endParaRPr lang="de-DE" dirty="0"/>
              </a:p>
              <a:p>
                <a:pPr marL="0" indent="0">
                  <a:buNone/>
                </a:pPr>
                <a:endParaRPr lang="de-DE" dirty="0"/>
              </a:p>
            </p:txBody>
          </p:sp>
        </mc:Choice>
        <mc:Fallback xmlns="">
          <p:sp>
            <p:nvSpPr>
              <p:cNvPr id="3" name="Inhaltsplatzhalter 2">
                <a:extLst>
                  <a:ext uri="{FF2B5EF4-FFF2-40B4-BE49-F238E27FC236}">
                    <a16:creationId xmlns:a16="http://schemas.microsoft.com/office/drawing/2014/main" id="{878EE570-4A94-321E-84C4-F55E22499EA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58C90E17-2901-2ECC-9B3A-F403A1987C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03FC7C-1F2C-4946-B702-1A52A755583B}" type="slidenum">
              <a:rPr lang="de-DE" smtClean="0"/>
              <a:t>5</a:t>
            </a:fld>
            <a:endParaRPr lang="de-DE"/>
          </a:p>
        </p:txBody>
      </p:sp>
      <p:pic>
        <p:nvPicPr>
          <p:cNvPr id="1026" name="Picture 2" descr="undefined">
            <a:extLst>
              <a:ext uri="{FF2B5EF4-FFF2-40B4-BE49-F238E27FC236}">
                <a16:creationId xmlns:a16="http://schemas.microsoft.com/office/drawing/2014/main" id="{506B3796-5E3A-9449-44D5-D86F71255FC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10028" y="1"/>
            <a:ext cx="3781971" cy="25224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feld 4">
            <a:extLst>
              <a:ext uri="{FF2B5EF4-FFF2-40B4-BE49-F238E27FC236}">
                <a16:creationId xmlns:a16="http://schemas.microsoft.com/office/drawing/2014/main" id="{DA5094CC-61F8-0367-6C06-79FF1C136E56}"/>
              </a:ext>
            </a:extLst>
          </p:cNvPr>
          <p:cNvSpPr txBox="1"/>
          <p:nvPr/>
        </p:nvSpPr>
        <p:spPr>
          <a:xfrm>
            <a:off x="3581401" y="5946130"/>
            <a:ext cx="323216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2400" dirty="0" err="1"/>
              <a:t>electrical</a:t>
            </a:r>
            <a:r>
              <a:rPr lang="de-DE" sz="2400" dirty="0"/>
              <a:t> </a:t>
            </a:r>
            <a:r>
              <a:rPr lang="de-DE" sz="2400" dirty="0" err="1"/>
              <a:t>field</a:t>
            </a:r>
            <a:r>
              <a:rPr lang="de-DE" sz="2400" dirty="0"/>
              <a:t> </a:t>
            </a:r>
            <a:r>
              <a:rPr lang="de-DE" sz="2400" dirty="0" err="1"/>
              <a:t>strength</a:t>
            </a:r>
            <a:endParaRPr lang="de-DE" sz="2400" dirty="0"/>
          </a:p>
        </p:txBody>
      </p:sp>
      <p:cxnSp>
        <p:nvCxnSpPr>
          <p:cNvPr id="7" name="Gerade Verbindung mit Pfeil 6">
            <a:extLst>
              <a:ext uri="{FF2B5EF4-FFF2-40B4-BE49-F238E27FC236}">
                <a16:creationId xmlns:a16="http://schemas.microsoft.com/office/drawing/2014/main" id="{4A54B0AE-BA3A-720F-9056-17E882D7F681}"/>
              </a:ext>
            </a:extLst>
          </p:cNvPr>
          <p:cNvCxnSpPr>
            <a:cxnSpLocks/>
            <a:stCxn id="5" idx="0"/>
          </p:cNvCxnSpPr>
          <p:nvPr/>
        </p:nvCxnSpPr>
        <p:spPr>
          <a:xfrm flipV="1">
            <a:off x="5197485" y="5244662"/>
            <a:ext cx="288915" cy="70146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838544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3">
            <a:extLst>
              <a:ext uri="{FF2B5EF4-FFF2-40B4-BE49-F238E27FC236}">
                <a16:creationId xmlns:a16="http://schemas.microsoft.com/office/drawing/2014/main" id="{8F8D3919-E5EE-70F9-E283-3C941E7E95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Electric Field Lines</a:t>
            </a:r>
          </a:p>
        </p:txBody>
      </p:sp>
      <p:sp>
        <p:nvSpPr>
          <p:cNvPr id="10" name="Inhaltsplatzhalter 9">
            <a:extLst>
              <a:ext uri="{FF2B5EF4-FFF2-40B4-BE49-F238E27FC236}">
                <a16:creationId xmlns:a16="http://schemas.microsoft.com/office/drawing/2014/main" id="{742392A4-7186-4AD3-13F1-4538D2BC38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4176464" cy="4351338"/>
          </a:xfrm>
        </p:spPr>
        <p:txBody>
          <a:bodyPr>
            <a:normAutofit fontScale="92500" lnSpcReduction="20000"/>
          </a:bodyPr>
          <a:lstStyle/>
          <a:p>
            <a:r>
              <a:rPr lang="de-DE" sz="2600" dirty="0" err="1"/>
              <a:t>field</a:t>
            </a:r>
            <a:r>
              <a:rPr lang="de-DE" sz="2600" dirty="0"/>
              <a:t> </a:t>
            </a:r>
            <a:r>
              <a:rPr lang="de-DE" sz="2600" dirty="0" err="1"/>
              <a:t>lines</a:t>
            </a:r>
            <a:r>
              <a:rPr lang="de-DE" sz="2600" dirty="0"/>
              <a:t> follow </a:t>
            </a:r>
            <a:r>
              <a:rPr lang="de-DE" sz="2600" dirty="0" err="1"/>
              <a:t>direction</a:t>
            </a:r>
            <a:r>
              <a:rPr lang="de-DE" sz="2600" dirty="0"/>
              <a:t> </a:t>
            </a:r>
            <a:r>
              <a:rPr lang="de-DE" sz="2600" dirty="0" err="1"/>
              <a:t>of</a:t>
            </a:r>
            <a:r>
              <a:rPr lang="de-DE" sz="2600" dirty="0"/>
              <a:t> </a:t>
            </a:r>
            <a:r>
              <a:rPr lang="de-DE" sz="2600" dirty="0" err="1"/>
              <a:t>electric</a:t>
            </a:r>
            <a:r>
              <a:rPr lang="de-DE" sz="2600" dirty="0"/>
              <a:t> </a:t>
            </a:r>
            <a:r>
              <a:rPr lang="de-DE" sz="2600" dirty="0" err="1"/>
              <a:t>field</a:t>
            </a:r>
            <a:endParaRPr lang="de-DE" sz="2600" dirty="0"/>
          </a:p>
          <a:p>
            <a:pPr marL="0" indent="0">
              <a:buNone/>
            </a:pPr>
            <a:endParaRPr lang="de-DE" sz="2600" dirty="0"/>
          </a:p>
          <a:p>
            <a:r>
              <a:rPr lang="de-DE" sz="2600" dirty="0" err="1"/>
              <a:t>start</a:t>
            </a:r>
            <a:r>
              <a:rPr lang="de-DE" sz="2600" dirty="0"/>
              <a:t> at positive </a:t>
            </a:r>
            <a:r>
              <a:rPr lang="de-DE" sz="2600" dirty="0" err="1"/>
              <a:t>charges</a:t>
            </a:r>
            <a:r>
              <a:rPr lang="de-DE" sz="2600" dirty="0"/>
              <a:t> and end at negative </a:t>
            </a:r>
            <a:r>
              <a:rPr lang="de-DE" sz="2600" dirty="0" err="1"/>
              <a:t>charges</a:t>
            </a:r>
            <a:endParaRPr lang="de-DE" sz="2600" dirty="0"/>
          </a:p>
          <a:p>
            <a:pPr marL="0" indent="0">
              <a:buNone/>
            </a:pPr>
            <a:endParaRPr lang="de-DE" sz="2600" dirty="0"/>
          </a:p>
          <a:p>
            <a:r>
              <a:rPr lang="de-DE" sz="2600" dirty="0" err="1"/>
              <a:t>density</a:t>
            </a:r>
            <a:r>
              <a:rPr lang="de-DE" sz="2600" dirty="0"/>
              <a:t> </a:t>
            </a:r>
            <a:r>
              <a:rPr lang="de-DE" sz="2600" dirty="0" err="1"/>
              <a:t>indicates</a:t>
            </a:r>
            <a:r>
              <a:rPr lang="de-DE" sz="2600" dirty="0"/>
              <a:t> </a:t>
            </a:r>
            <a:r>
              <a:rPr lang="de-DE" sz="2600" dirty="0" err="1"/>
              <a:t>field</a:t>
            </a:r>
            <a:r>
              <a:rPr lang="de-DE" sz="2600" dirty="0"/>
              <a:t> </a:t>
            </a:r>
            <a:r>
              <a:rPr lang="de-DE" sz="2600" dirty="0" err="1"/>
              <a:t>strength</a:t>
            </a:r>
            <a:endParaRPr lang="de-DE" sz="2600" dirty="0"/>
          </a:p>
          <a:p>
            <a:pPr marL="0" indent="0">
              <a:buNone/>
            </a:pPr>
            <a:endParaRPr lang="de-DE" sz="2600" dirty="0"/>
          </a:p>
          <a:p>
            <a:r>
              <a:rPr lang="de-DE" sz="2600" dirty="0" err="1"/>
              <a:t>equipotential</a:t>
            </a:r>
            <a:r>
              <a:rPr lang="de-DE" sz="2600" dirty="0"/>
              <a:t> </a:t>
            </a:r>
            <a:r>
              <a:rPr lang="de-DE" sz="2600" dirty="0" err="1"/>
              <a:t>lines</a:t>
            </a:r>
            <a:r>
              <a:rPr lang="de-DE" sz="2600" dirty="0"/>
              <a:t>/</a:t>
            </a:r>
            <a:r>
              <a:rPr lang="de-DE" sz="2600" dirty="0" err="1"/>
              <a:t>surfaces</a:t>
            </a:r>
            <a:r>
              <a:rPr lang="de-DE" sz="2600" dirty="0"/>
              <a:t> </a:t>
            </a:r>
            <a:r>
              <a:rPr lang="de-DE" sz="2600" dirty="0" err="1"/>
              <a:t>perpendicular</a:t>
            </a:r>
            <a:r>
              <a:rPr lang="de-DE" sz="2600" dirty="0"/>
              <a:t> </a:t>
            </a:r>
            <a:r>
              <a:rPr lang="de-DE" sz="2600" dirty="0" err="1"/>
              <a:t>to</a:t>
            </a:r>
            <a:r>
              <a:rPr lang="de-DE" sz="2600" dirty="0"/>
              <a:t> </a:t>
            </a:r>
            <a:r>
              <a:rPr lang="de-DE" sz="2600" dirty="0" err="1"/>
              <a:t>electric</a:t>
            </a:r>
            <a:r>
              <a:rPr lang="de-DE" sz="2600" dirty="0"/>
              <a:t> </a:t>
            </a:r>
            <a:r>
              <a:rPr lang="de-DE" sz="2600" dirty="0" err="1"/>
              <a:t>field</a:t>
            </a:r>
            <a:r>
              <a:rPr lang="de-DE" sz="2600" dirty="0"/>
              <a:t> </a:t>
            </a:r>
            <a:r>
              <a:rPr lang="de-DE" sz="2600" dirty="0" err="1"/>
              <a:t>lines</a:t>
            </a:r>
            <a:endParaRPr lang="de-DE" sz="2600" dirty="0"/>
          </a:p>
        </p:txBody>
      </p:sp>
      <p:sp>
        <p:nvSpPr>
          <p:cNvPr id="8" name="Foliennummernplatzhalter 7">
            <a:extLst>
              <a:ext uri="{FF2B5EF4-FFF2-40B4-BE49-F238E27FC236}">
                <a16:creationId xmlns:a16="http://schemas.microsoft.com/office/drawing/2014/main" id="{045A6535-D456-9B52-E001-BA05A84A55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03FC7C-1F2C-4946-B702-1A52A755583B}" type="slidenum">
              <a:rPr lang="de-DE" smtClean="0"/>
              <a:t>6</a:t>
            </a:fld>
            <a:endParaRPr lang="de-DE"/>
          </a:p>
        </p:txBody>
      </p:sp>
      <p:pic>
        <p:nvPicPr>
          <p:cNvPr id="5" name="Inhaltsplatzhalter 4">
            <a:extLst>
              <a:ext uri="{FF2B5EF4-FFF2-40B4-BE49-F238E27FC236}">
                <a16:creationId xmlns:a16="http://schemas.microsoft.com/office/drawing/2014/main" id="{60E958E2-534E-2473-D698-A904371E6B75}"/>
              </a:ext>
            </a:extLst>
          </p:cNvPr>
          <p:cNvPicPr>
            <a:picLocks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15900" y="2137470"/>
            <a:ext cx="4176464" cy="4110072"/>
          </a:xfrm>
          <a:prstGeom prst="rect">
            <a:avLst/>
          </a:prstGeom>
        </p:spPr>
      </p:pic>
      <p:pic>
        <p:nvPicPr>
          <p:cNvPr id="6" name="Grafik 5">
            <a:extLst>
              <a:ext uri="{FF2B5EF4-FFF2-40B4-BE49-F238E27FC236}">
                <a16:creationId xmlns:a16="http://schemas.microsoft.com/office/drawing/2014/main" id="{E3E40C46-BC2A-A0F0-6D38-669FB4C7EF02}"/>
              </a:ext>
            </a:extLst>
          </p:cNvPr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84021" y="738276"/>
            <a:ext cx="3407979" cy="2460415"/>
          </a:xfrm>
          <a:prstGeom prst="rect">
            <a:avLst/>
          </a:prstGeom>
        </p:spPr>
      </p:pic>
      <p:pic>
        <p:nvPicPr>
          <p:cNvPr id="7" name="Picture 2">
            <a:extLst>
              <a:ext uri="{FF2B5EF4-FFF2-40B4-BE49-F238E27FC236}">
                <a16:creationId xmlns:a16="http://schemas.microsoft.com/office/drawing/2014/main" id="{C34FC4C9-86F0-08A0-03F9-6A2F4D39286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60525" y="3442093"/>
            <a:ext cx="2454970" cy="28786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" name="Textfeld 10">
            <a:extLst>
              <a:ext uri="{FF2B5EF4-FFF2-40B4-BE49-F238E27FC236}">
                <a16:creationId xmlns:a16="http://schemas.microsoft.com/office/drawing/2014/main" id="{BF845BDB-8C05-BA5F-F29D-EE3A907755D1}"/>
              </a:ext>
            </a:extLst>
          </p:cNvPr>
          <p:cNvSpPr txBox="1"/>
          <p:nvPr/>
        </p:nvSpPr>
        <p:spPr>
          <a:xfrm>
            <a:off x="6155837" y="1729554"/>
            <a:ext cx="14870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 err="1"/>
              <a:t>point</a:t>
            </a:r>
            <a:r>
              <a:rPr lang="de-DE" dirty="0"/>
              <a:t> </a:t>
            </a:r>
            <a:r>
              <a:rPr lang="de-DE" dirty="0" err="1"/>
              <a:t>charge</a:t>
            </a:r>
            <a:r>
              <a:rPr lang="de-DE" dirty="0"/>
              <a:t>:</a:t>
            </a:r>
          </a:p>
        </p:txBody>
      </p:sp>
    </p:spTree>
    <p:extLst>
      <p:ext uri="{BB962C8B-B14F-4D97-AF65-F5344CB8AC3E}">
        <p14:creationId xmlns:p14="http://schemas.microsoft.com/office/powerpoint/2010/main" val="9562122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9D14458-681E-4F53-A397-258D8D48D8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Voltage</a:t>
            </a:r>
            <a:r>
              <a:rPr lang="de-DE" dirty="0"/>
              <a:t> and Potential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Inhaltsplatzhalter 2">
                <a:extLst>
                  <a:ext uri="{FF2B5EF4-FFF2-40B4-BE49-F238E27FC236}">
                    <a16:creationId xmlns:a16="http://schemas.microsoft.com/office/drawing/2014/main" id="{48EA0B80-C25A-3459-725E-A5EFC62B2E8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85000" lnSpcReduction="20000"/>
              </a:bodyPr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𝜑</m:t>
                          </m:r>
                        </m:e>
                        <m:sub>
                          <m:r>
                            <a:rPr lang="de-DE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de-DE">
                          <a:latin typeface="Cambria Math" panose="02040503050406030204" pitchFamily="18" charset="0"/>
                        </a:rPr>
                        <m:t>=−</m:t>
                      </m:r>
                      <m:nary>
                        <m:naryPr>
                          <m:limLoc m:val="subSup"/>
                          <m:ctrlPr>
                            <a:rPr lang="de-DE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sSub>
                            <m:sSubPr>
                              <m:ctrlPr>
                                <a:rPr lang="de-DE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e-DE" i="1"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de-DE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sub>
                        <m:sup>
                          <m:sSub>
                            <m:sSubPr>
                              <m:ctrlPr>
                                <a:rPr lang="de-DE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e-DE" i="1"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de-DE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sup>
                        <m:e>
                          <m:acc>
                            <m:accPr>
                              <m:chr m:val="⃑"/>
                              <m:ctrlPr>
                                <a:rPr lang="de-DE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de-DE" i="1">
                                  <a:latin typeface="Cambria Math" panose="02040503050406030204" pitchFamily="18" charset="0"/>
                                </a:rPr>
                                <m:t>𝐸</m:t>
                              </m:r>
                            </m:e>
                          </m:acc>
                          <m:r>
                            <a:rPr lang="de-DE">
                              <a:latin typeface="Cambria Math" panose="02040503050406030204" pitchFamily="18" charset="0"/>
                            </a:rPr>
                            <m:t>∙</m:t>
                          </m:r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𝑑</m:t>
                          </m:r>
                          <m:acc>
                            <m:accPr>
                              <m:chr m:val="⃑"/>
                              <m:ctrlPr>
                                <a:rPr lang="de-DE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de-DE" b="0" i="1" smtClean="0">
                                  <a:latin typeface="Cambria Math" panose="02040503050406030204" pitchFamily="18" charset="0"/>
                                </a:rPr>
                                <m:t>𝑙</m:t>
                              </m:r>
                            </m:e>
                          </m:acc>
                        </m:e>
                      </m:nary>
                    </m:oMath>
                  </m:oMathPara>
                </a14:m>
                <a:endParaRPr lang="de-DE" dirty="0"/>
              </a:p>
              <a:p>
                <a:pPr marL="0" indent="0">
                  <a:buNone/>
                </a:pPr>
                <a:endParaRPr lang="de-DE" dirty="0"/>
              </a:p>
              <a:p>
                <a:pPr marL="0" indent="0">
                  <a:buNone/>
                </a:pPr>
                <a:endParaRPr lang="de-DE" dirty="0"/>
              </a:p>
              <a:p>
                <a:pPr marL="0" indent="0">
                  <a:buNone/>
                </a:pPr>
                <a:endParaRPr lang="de-DE" dirty="0"/>
              </a:p>
              <a:p>
                <a:pPr marL="0" indent="0">
                  <a:buNone/>
                </a:pPr>
                <a:endParaRPr lang="de-DE" dirty="0"/>
              </a:p>
              <a:p>
                <a:pPr marL="0" indent="0">
                  <a:buNone/>
                </a:pPr>
                <a:endParaRPr lang="de-DE" dirty="0"/>
              </a:p>
              <a:p>
                <a:pPr marL="0" indent="0">
                  <a:buNone/>
                </a:pPr>
                <a:endParaRPr lang="de-DE" dirty="0"/>
              </a:p>
              <a:p>
                <a:pPr marL="0" indent="0">
                  <a:buNone/>
                </a:pPr>
                <a:endParaRPr lang="de-DE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de-DE">
                              <a:latin typeface="Cambria Math" panose="02040503050406030204" pitchFamily="18" charset="0"/>
                            </a:rPr>
                            <m:t>12</m:t>
                          </m:r>
                        </m:sub>
                      </m:sSub>
                      <m:r>
                        <a:rPr lang="de-DE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de-DE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𝜑</m:t>
                          </m:r>
                        </m:e>
                        <m:sub>
                          <m:r>
                            <a:rPr lang="de-DE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de-DE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de-DE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𝜑</m:t>
                          </m:r>
                        </m:e>
                        <m:sub>
                          <m:r>
                            <a:rPr lang="de-DE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de-DE">
                          <a:latin typeface="Cambria Math" panose="02040503050406030204" pitchFamily="18" charset="0"/>
                        </a:rPr>
                        <m:t>=−</m:t>
                      </m:r>
                      <m:nary>
                        <m:naryPr>
                          <m:limLoc m:val="subSup"/>
                          <m:ctrlPr>
                            <a:rPr lang="de-DE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sSub>
                            <m:sSubPr>
                              <m:ctrlPr>
                                <a:rPr lang="de-DE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e-DE" i="1"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de-DE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sub>
                        <m:sup>
                          <m:sSub>
                            <m:sSubPr>
                              <m:ctrlPr>
                                <a:rPr lang="de-DE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e-DE" i="1"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de-DE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sup>
                        <m:e>
                          <m:acc>
                            <m:accPr>
                              <m:chr m:val="⃑"/>
                              <m:ctrlPr>
                                <a:rPr lang="de-DE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de-DE" i="1">
                                  <a:latin typeface="Cambria Math" panose="02040503050406030204" pitchFamily="18" charset="0"/>
                                </a:rPr>
                                <m:t>𝐸</m:t>
                              </m:r>
                            </m:e>
                          </m:acc>
                          <m:r>
                            <a:rPr lang="de-DE">
                              <a:latin typeface="Cambria Math" panose="02040503050406030204" pitchFamily="18" charset="0"/>
                            </a:rPr>
                            <m:t>∙</m:t>
                          </m:r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𝑑</m:t>
                          </m:r>
                          <m:acc>
                            <m:accPr>
                              <m:chr m:val="⃑"/>
                              <m:ctrlPr>
                                <a:rPr lang="de-DE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de-DE" b="0" i="1" smtClean="0">
                                  <a:latin typeface="Cambria Math" panose="02040503050406030204" pitchFamily="18" charset="0"/>
                                </a:rPr>
                                <m:t>𝑙</m:t>
                              </m:r>
                            </m:e>
                          </m:acc>
                        </m:e>
                      </m:nary>
                      <m:r>
                        <a:rPr lang="de-DE">
                          <a:latin typeface="Cambria Math" panose="02040503050406030204" pitchFamily="18" charset="0"/>
                        </a:rPr>
                        <m:t>+</m:t>
                      </m:r>
                      <m:nary>
                        <m:naryPr>
                          <m:limLoc m:val="subSup"/>
                          <m:ctrlPr>
                            <a:rPr lang="de-DE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sSub>
                            <m:sSubPr>
                              <m:ctrlPr>
                                <a:rPr lang="de-DE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e-DE" i="1"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de-DE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sub>
                        <m:sup>
                          <m:sSub>
                            <m:sSubPr>
                              <m:ctrlPr>
                                <a:rPr lang="de-DE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e-DE" i="1"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de-DE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sup>
                        <m:e>
                          <m:acc>
                            <m:accPr>
                              <m:chr m:val="⃑"/>
                              <m:ctrlPr>
                                <a:rPr lang="de-DE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de-DE" i="1">
                                  <a:latin typeface="Cambria Math" panose="02040503050406030204" pitchFamily="18" charset="0"/>
                                </a:rPr>
                                <m:t>𝐸</m:t>
                              </m:r>
                            </m:e>
                          </m:acc>
                          <m:r>
                            <a:rPr lang="de-DE">
                              <a:latin typeface="Cambria Math" panose="02040503050406030204" pitchFamily="18" charset="0"/>
                            </a:rPr>
                            <m:t>∙</m:t>
                          </m:r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𝑑</m:t>
                          </m:r>
                          <m:acc>
                            <m:accPr>
                              <m:chr m:val="⃑"/>
                              <m:ctrlPr>
                                <a:rPr lang="de-DE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de-DE" b="0" i="1" smtClean="0">
                                  <a:latin typeface="Cambria Math" panose="02040503050406030204" pitchFamily="18" charset="0"/>
                                </a:rPr>
                                <m:t>𝑙</m:t>
                              </m:r>
                            </m:e>
                          </m:acc>
                        </m:e>
                      </m:nary>
                      <m:r>
                        <a:rPr lang="de-DE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limLoc m:val="subSup"/>
                          <m:ctrlPr>
                            <a:rPr lang="de-DE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sSub>
                            <m:sSubPr>
                              <m:ctrlPr>
                                <a:rPr lang="de-DE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e-DE" i="1"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de-DE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sub>
                        <m:sup>
                          <m:sSub>
                            <m:sSubPr>
                              <m:ctrlPr>
                                <a:rPr lang="de-DE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e-DE" i="1"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de-DE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sup>
                        <m:e>
                          <m:acc>
                            <m:accPr>
                              <m:chr m:val="⃑"/>
                              <m:ctrlPr>
                                <a:rPr lang="de-DE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de-DE" i="1">
                                  <a:latin typeface="Cambria Math" panose="02040503050406030204" pitchFamily="18" charset="0"/>
                                </a:rPr>
                                <m:t>𝐸</m:t>
                              </m:r>
                            </m:e>
                          </m:acc>
                          <m:r>
                            <a:rPr lang="de-DE">
                              <a:latin typeface="Cambria Math" panose="02040503050406030204" pitchFamily="18" charset="0"/>
                            </a:rPr>
                            <m:t>∙</m:t>
                          </m:r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𝑑</m:t>
                          </m:r>
                          <m:acc>
                            <m:accPr>
                              <m:chr m:val="⃑"/>
                              <m:ctrlPr>
                                <a:rPr lang="de-DE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de-DE" b="0" i="1" smtClean="0">
                                  <a:latin typeface="Cambria Math" panose="02040503050406030204" pitchFamily="18" charset="0"/>
                                </a:rPr>
                                <m:t>𝑙</m:t>
                              </m:r>
                            </m:e>
                          </m:acc>
                        </m:e>
                      </m:nary>
                    </m:oMath>
                  </m:oMathPara>
                </a14:m>
                <a:endParaRPr lang="de-DE" dirty="0"/>
              </a:p>
            </p:txBody>
          </p:sp>
        </mc:Choice>
        <mc:Fallback xmlns="">
          <p:sp>
            <p:nvSpPr>
              <p:cNvPr id="3" name="Inhaltsplatzhalter 2">
                <a:extLst>
                  <a:ext uri="{FF2B5EF4-FFF2-40B4-BE49-F238E27FC236}">
                    <a16:creationId xmlns:a16="http://schemas.microsoft.com/office/drawing/2014/main" id="{48EA0B80-C25A-3459-725E-A5EFC62B2E8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t="-35465" b="-49709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B1670DB5-B0C4-4F89-D914-91AC9C65C0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03FC7C-1F2C-4946-B702-1A52A755583B}" type="slidenum">
              <a:rPr lang="de-DE" smtClean="0"/>
              <a:t>7</a:t>
            </a:fld>
            <a:endParaRPr lang="de-DE"/>
          </a:p>
        </p:txBody>
      </p:sp>
      <p:pic>
        <p:nvPicPr>
          <p:cNvPr id="5" name="Inhaltsplatzhalter 4">
            <a:extLst>
              <a:ext uri="{FF2B5EF4-FFF2-40B4-BE49-F238E27FC236}">
                <a16:creationId xmlns:a16="http://schemas.microsoft.com/office/drawing/2014/main" id="{4DD88D46-8E60-1305-D8D3-5B2B1D5C250D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09950" y="2766219"/>
            <a:ext cx="5372100" cy="2333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058280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F0B0CFD-2191-B5C1-6FC1-494C4ACE01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Electrostatic</a:t>
            </a:r>
            <a:r>
              <a:rPr lang="de-DE" dirty="0"/>
              <a:t> </a:t>
            </a:r>
            <a:r>
              <a:rPr lang="de-DE" dirty="0" err="1"/>
              <a:t>Induction</a:t>
            </a:r>
            <a:endParaRPr lang="de-DE" dirty="0"/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76A244D8-9720-EFBD-8BA6-820C90AAE4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03FC7C-1F2C-4946-B702-1A52A755583B}" type="slidenum">
              <a:rPr lang="de-DE" smtClean="0"/>
              <a:t>8</a:t>
            </a:fld>
            <a:endParaRPr lang="de-DE"/>
          </a:p>
        </p:txBody>
      </p:sp>
      <p:pic>
        <p:nvPicPr>
          <p:cNvPr id="5" name="Picture 2">
            <a:extLst>
              <a:ext uri="{FF2B5EF4-FFF2-40B4-BE49-F238E27FC236}">
                <a16:creationId xmlns:a16="http://schemas.microsoft.com/office/drawing/2014/main" id="{53C9C01D-24BC-EEBF-2CAA-69C0C29FCB5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9296" y="1743026"/>
            <a:ext cx="3874054" cy="2210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6" name="Picture 3">
            <a:extLst>
              <a:ext uri="{FF2B5EF4-FFF2-40B4-BE49-F238E27FC236}">
                <a16:creationId xmlns:a16="http://schemas.microsoft.com/office/drawing/2014/main" id="{8F8AF1FC-8859-8E55-F2B0-645CDC495E7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29115" y="1743026"/>
            <a:ext cx="3853589" cy="220292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7" name="Pfeil nach rechts 6">
            <a:extLst>
              <a:ext uri="{FF2B5EF4-FFF2-40B4-BE49-F238E27FC236}">
                <a16:creationId xmlns:a16="http://schemas.microsoft.com/office/drawing/2014/main" id="{43560A69-9FB7-1BE1-5D98-1FA8DA10F13F}"/>
              </a:ext>
            </a:extLst>
          </p:cNvPr>
          <p:cNvSpPr/>
          <p:nvPr/>
        </p:nvSpPr>
        <p:spPr>
          <a:xfrm>
            <a:off x="5580327" y="2692089"/>
            <a:ext cx="1166648" cy="30480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8" name="Textfeld 7">
            <a:extLst>
              <a:ext uri="{FF2B5EF4-FFF2-40B4-BE49-F238E27FC236}">
                <a16:creationId xmlns:a16="http://schemas.microsoft.com/office/drawing/2014/main" id="{312A423B-FDFC-B8EB-43C3-76D914AA255E}"/>
              </a:ext>
            </a:extLst>
          </p:cNvPr>
          <p:cNvSpPr txBox="1"/>
          <p:nvPr/>
        </p:nvSpPr>
        <p:spPr>
          <a:xfrm>
            <a:off x="522893" y="4581318"/>
            <a:ext cx="543647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400" dirty="0" err="1">
                <a:sym typeface="Wingdings" pitchFamily="2" charset="2"/>
              </a:rPr>
              <a:t>conductor</a:t>
            </a:r>
            <a:r>
              <a:rPr lang="de-DE" sz="2400" dirty="0">
                <a:sym typeface="Wingdings" pitchFamily="2" charset="2"/>
              </a:rPr>
              <a:t> in </a:t>
            </a:r>
            <a:r>
              <a:rPr lang="de-DE" sz="2400" dirty="0" err="1">
                <a:sym typeface="Wingdings" pitchFamily="2" charset="2"/>
              </a:rPr>
              <a:t>electric</a:t>
            </a:r>
            <a:r>
              <a:rPr lang="de-DE" sz="2400" dirty="0">
                <a:sym typeface="Wingdings" pitchFamily="2" charset="2"/>
              </a:rPr>
              <a:t> </a:t>
            </a:r>
            <a:r>
              <a:rPr lang="de-DE" sz="2400" dirty="0" err="1">
                <a:sym typeface="Wingdings" pitchFamily="2" charset="2"/>
              </a:rPr>
              <a:t>field</a:t>
            </a:r>
            <a:endParaRPr lang="de-DE" sz="2400" dirty="0">
              <a:sym typeface="Wingdings" pitchFamily="2" charset="2"/>
            </a:endParaRPr>
          </a:p>
          <a:p>
            <a:r>
              <a:rPr lang="de-DE" sz="2400" dirty="0">
                <a:sym typeface="Wingdings" pitchFamily="2" charset="2"/>
              </a:rPr>
              <a:t> </a:t>
            </a:r>
            <a:r>
              <a:rPr lang="de-DE" sz="2400" dirty="0" err="1"/>
              <a:t>electrostatic</a:t>
            </a:r>
            <a:r>
              <a:rPr lang="de-DE" sz="2400" dirty="0"/>
              <a:t> </a:t>
            </a:r>
            <a:r>
              <a:rPr lang="de-DE" sz="2400" dirty="0" err="1"/>
              <a:t>induction</a:t>
            </a:r>
            <a:r>
              <a:rPr lang="de-DE" sz="2400" dirty="0"/>
              <a:t>, aka </a:t>
            </a:r>
            <a:r>
              <a:rPr lang="de-DE" sz="2400" dirty="0" err="1"/>
              <a:t>influence</a:t>
            </a:r>
            <a:r>
              <a:rPr lang="de-DE" sz="2400" dirty="0"/>
              <a:t> (</a:t>
            </a:r>
            <a:r>
              <a:rPr lang="de-DE" sz="2400" dirty="0" err="1"/>
              <a:t>caused</a:t>
            </a:r>
            <a:r>
              <a:rPr lang="de-DE" sz="2400" dirty="0"/>
              <a:t> </a:t>
            </a:r>
            <a:r>
              <a:rPr lang="de-DE" sz="2400" dirty="0" err="1"/>
              <a:t>by</a:t>
            </a:r>
            <a:r>
              <a:rPr lang="de-DE" sz="2400" dirty="0"/>
              <a:t> Coulomb </a:t>
            </a:r>
            <a:r>
              <a:rPr lang="de-DE" sz="2400" dirty="0" err="1"/>
              <a:t>force</a:t>
            </a:r>
            <a:r>
              <a:rPr lang="de-DE" sz="2400" dirty="0"/>
              <a:t>)</a:t>
            </a:r>
          </a:p>
        </p:txBody>
      </p:sp>
      <p:cxnSp>
        <p:nvCxnSpPr>
          <p:cNvPr id="10" name="Gerade Verbindung mit Pfeil 9">
            <a:extLst>
              <a:ext uri="{FF2B5EF4-FFF2-40B4-BE49-F238E27FC236}">
                <a16:creationId xmlns:a16="http://schemas.microsoft.com/office/drawing/2014/main" id="{6576EE79-EE06-01D5-BBC9-DC13550B4195}"/>
              </a:ext>
            </a:extLst>
          </p:cNvPr>
          <p:cNvCxnSpPr>
            <a:cxnSpLocks/>
            <a:stCxn id="8" idx="0"/>
          </p:cNvCxnSpPr>
          <p:nvPr/>
        </p:nvCxnSpPr>
        <p:spPr>
          <a:xfrm flipH="1" flipV="1">
            <a:off x="2953407" y="3289735"/>
            <a:ext cx="287724" cy="129158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feld 10">
            <a:extLst>
              <a:ext uri="{FF2B5EF4-FFF2-40B4-BE49-F238E27FC236}">
                <a16:creationId xmlns:a16="http://schemas.microsoft.com/office/drawing/2014/main" id="{18972C89-137E-CEA3-3526-A98BDED8D268}"/>
              </a:ext>
            </a:extLst>
          </p:cNvPr>
          <p:cNvSpPr txBox="1"/>
          <p:nvPr/>
        </p:nvSpPr>
        <p:spPr>
          <a:xfrm>
            <a:off x="7241627" y="4581318"/>
            <a:ext cx="442747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400" dirty="0" err="1"/>
              <a:t>induced</a:t>
            </a:r>
            <a:r>
              <a:rPr lang="de-DE" sz="2400" dirty="0"/>
              <a:t> </a:t>
            </a:r>
            <a:r>
              <a:rPr lang="de-DE" sz="2400" dirty="0" err="1"/>
              <a:t>surface</a:t>
            </a:r>
            <a:r>
              <a:rPr lang="de-DE" sz="2400" dirty="0"/>
              <a:t> </a:t>
            </a:r>
            <a:r>
              <a:rPr lang="de-DE" sz="2400" dirty="0" err="1"/>
              <a:t>charges</a:t>
            </a:r>
            <a:r>
              <a:rPr lang="de-DE" sz="2400" dirty="0"/>
              <a:t> </a:t>
            </a:r>
            <a:r>
              <a:rPr lang="de-DE" sz="2400" dirty="0" err="1"/>
              <a:t>cancel</a:t>
            </a:r>
            <a:r>
              <a:rPr lang="de-DE" sz="2400" dirty="0"/>
              <a:t> </a:t>
            </a:r>
            <a:r>
              <a:rPr lang="de-DE" sz="2400" dirty="0" err="1"/>
              <a:t>electric</a:t>
            </a:r>
            <a:r>
              <a:rPr lang="de-DE" sz="2400" dirty="0"/>
              <a:t> </a:t>
            </a:r>
            <a:r>
              <a:rPr lang="de-DE" sz="2400" dirty="0" err="1"/>
              <a:t>field</a:t>
            </a:r>
            <a:r>
              <a:rPr lang="de-DE" sz="2400" dirty="0"/>
              <a:t> in </a:t>
            </a:r>
            <a:r>
              <a:rPr lang="de-DE" sz="2400" dirty="0" err="1"/>
              <a:t>conductor</a:t>
            </a:r>
            <a:endParaRPr lang="de-DE" sz="2400" dirty="0"/>
          </a:p>
          <a:p>
            <a:r>
              <a:rPr lang="de-DE" sz="2400" dirty="0">
                <a:sym typeface="Wingdings" pitchFamily="2" charset="2"/>
              </a:rPr>
              <a:t> </a:t>
            </a:r>
            <a:r>
              <a:rPr lang="de-DE" sz="2400" dirty="0"/>
              <a:t>Faraday </a:t>
            </a:r>
            <a:r>
              <a:rPr lang="de-DE" sz="2400" dirty="0" err="1"/>
              <a:t>cage</a:t>
            </a:r>
            <a:endParaRPr lang="de-DE" sz="2400" dirty="0"/>
          </a:p>
        </p:txBody>
      </p:sp>
    </p:spTree>
    <p:extLst>
      <p:ext uri="{BB962C8B-B14F-4D97-AF65-F5344CB8AC3E}">
        <p14:creationId xmlns:p14="http://schemas.microsoft.com/office/powerpoint/2010/main" val="7101101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8D690F9-98BE-6BA0-BA65-DD9C30A82E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Electric </a:t>
            </a:r>
            <a:r>
              <a:rPr lang="de-DE" dirty="0" err="1"/>
              <a:t>Displacement</a:t>
            </a:r>
            <a:endParaRPr lang="de-DE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Inhaltsplatzhalter 3">
                <a:extLst>
                  <a:ext uri="{FF2B5EF4-FFF2-40B4-BE49-F238E27FC236}">
                    <a16:creationId xmlns:a16="http://schemas.microsoft.com/office/drawing/2014/main" id="{72E4B351-399B-D2D5-E79C-025FEE3E13B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/>
              </a:bodyPr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acc>
                        <m:accPr>
                          <m:chr m:val="⃑"/>
                          <m:ctrlPr>
                            <a:rPr lang="de-DE" sz="2600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de-DE" sz="2600" i="1"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</m:acc>
                      <m:r>
                        <a:rPr lang="de-DE" sz="26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de-DE" sz="2600" i="1">
                          <a:latin typeface="Cambria Math" panose="02040503050406030204" pitchFamily="18" charset="0"/>
                        </a:rPr>
                        <m:t>𝜀</m:t>
                      </m:r>
                      <m:acc>
                        <m:accPr>
                          <m:chr m:val="⃑"/>
                          <m:ctrlPr>
                            <a:rPr lang="de-DE" sz="2600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de-DE" sz="2600" i="1"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</m:acc>
                    </m:oMath>
                  </m:oMathPara>
                </a14:m>
                <a:endParaRPr lang="de-DE" sz="2600" dirty="0"/>
              </a:p>
              <a:p>
                <a:pPr marL="0" indent="0">
                  <a:buNone/>
                </a:pPr>
                <a:endParaRPr lang="de-DE" sz="2600" dirty="0"/>
              </a:p>
              <a:p>
                <a:pPr marL="0" indent="0">
                  <a:buNone/>
                </a:pPr>
                <a:r>
                  <a:rPr lang="de-DE" dirty="0"/>
                  <a:t>absolute </a:t>
                </a:r>
                <a:r>
                  <a:rPr lang="de-DE" dirty="0" err="1"/>
                  <a:t>permittivity</a:t>
                </a:r>
                <a:r>
                  <a:rPr lang="de-DE" dirty="0"/>
                  <a:t>:     </a:t>
                </a:r>
                <a14:m>
                  <m:oMath xmlns:m="http://schemas.openxmlformats.org/officeDocument/2006/math">
                    <m:r>
                      <a:rPr lang="de-DE" sz="2600" i="1">
                        <a:latin typeface="Cambria Math" panose="02040503050406030204" pitchFamily="18" charset="0"/>
                      </a:rPr>
                      <m:t>𝜀</m:t>
                    </m:r>
                    <m:r>
                      <a:rPr lang="de-DE" sz="2600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de-DE" sz="2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sz="2600" i="1">
                            <a:latin typeface="Cambria Math" panose="02040503050406030204" pitchFamily="18" charset="0"/>
                          </a:rPr>
                          <m:t>𝜀</m:t>
                        </m:r>
                      </m:e>
                      <m:sub>
                        <m:r>
                          <a:rPr lang="de-DE" sz="2600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de-DE" sz="2600" i="1">
                        <a:latin typeface="Cambria Math" panose="02040503050406030204" pitchFamily="18" charset="0"/>
                      </a:rPr>
                      <m:t>∙</m:t>
                    </m:r>
                    <m:sSub>
                      <m:sSubPr>
                        <m:ctrlPr>
                          <a:rPr lang="de-DE" sz="2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sz="2600" i="1">
                            <a:latin typeface="Cambria Math" panose="02040503050406030204" pitchFamily="18" charset="0"/>
                          </a:rPr>
                          <m:t>𝜀</m:t>
                        </m:r>
                      </m:e>
                      <m:sub>
                        <m:r>
                          <a:rPr lang="de-DE" sz="2600" i="1"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</m:sSub>
                  </m:oMath>
                </a14:m>
                <a:endParaRPr lang="de-DE" sz="2600" dirty="0"/>
              </a:p>
              <a:p>
                <a:pPr marL="0" indent="0">
                  <a:buNone/>
                </a:pPr>
                <a:endParaRPr lang="de-DE" sz="26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de-DE" sz="2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de-DE" sz="2600" i="1"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</m:d>
                      <m:r>
                        <a:rPr lang="de-DE" sz="2600" i="1">
                          <a:latin typeface="Cambria Math" panose="02040503050406030204" pitchFamily="18" charset="0"/>
                        </a:rPr>
                        <m:t>=1 </m:t>
                      </m:r>
                      <m:f>
                        <m:fPr>
                          <m:ctrlPr>
                            <a:rPr lang="de-DE" sz="26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de-DE" sz="2600">
                              <a:latin typeface="Cambria Math" panose="02040503050406030204" pitchFamily="18" charset="0"/>
                            </a:rPr>
                            <m:t>As</m:t>
                          </m:r>
                        </m:num>
                        <m:den>
                          <m:sSup>
                            <m:sSupPr>
                              <m:ctrlPr>
                                <a:rPr lang="de-DE" sz="26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de-DE" sz="2600">
                                  <a:latin typeface="Cambria Math" panose="02040503050406030204" pitchFamily="18" charset="0"/>
                                </a:rPr>
                                <m:t>m</m:t>
                              </m:r>
                            </m:e>
                            <m:sup>
                              <m:r>
                                <a:rPr lang="de-DE" sz="260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de-DE" sz="2600" dirty="0"/>
              </a:p>
              <a:p>
                <a:pPr marL="0" indent="0">
                  <a:buNone/>
                </a:pPr>
                <a:endParaRPr lang="de-DE" sz="2600" dirty="0"/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de-DE" sz="2600" i="1"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r>
                  <a:rPr lang="de-DE" sz="2600" dirty="0"/>
                  <a:t> </a:t>
                </a:r>
                <a:r>
                  <a:rPr lang="de-DE" sz="2600" dirty="0" err="1"/>
                  <a:t>abstracts</a:t>
                </a:r>
                <a:r>
                  <a:rPr lang="de-DE" sz="2600" dirty="0"/>
                  <a:t> </a:t>
                </a:r>
                <a:r>
                  <a:rPr lang="de-DE" sz="2600" dirty="0" err="1"/>
                  <a:t>away</a:t>
                </a:r>
                <a:r>
                  <a:rPr lang="de-DE" sz="2600" dirty="0"/>
                  <a:t> (</a:t>
                </a:r>
                <a:r>
                  <a:rPr lang="de-DE" sz="2600" dirty="0" err="1"/>
                  <a:t>absorbs</a:t>
                </a:r>
                <a:r>
                  <a:rPr lang="de-DE" sz="2600" dirty="0"/>
                  <a:t>) </a:t>
                </a:r>
                <a:r>
                  <a:rPr lang="de-DE" sz="2600" dirty="0" err="1"/>
                  <a:t>polarization</a:t>
                </a:r>
                <a:r>
                  <a:rPr lang="de-DE" sz="2600" dirty="0"/>
                  <a:t> </a:t>
                </a:r>
                <a:r>
                  <a:rPr lang="de-DE" sz="2600" dirty="0" err="1"/>
                  <a:t>effects</a:t>
                </a:r>
                <a:r>
                  <a:rPr lang="de-DE" sz="2600" dirty="0"/>
                  <a:t> (</a:t>
                </a:r>
                <a:r>
                  <a:rPr lang="de-DE" sz="2600" dirty="0" err="1"/>
                  <a:t>bound</a:t>
                </a:r>
                <a:r>
                  <a:rPr lang="de-DE" sz="2600" dirty="0"/>
                  <a:t> </a:t>
                </a:r>
                <a:r>
                  <a:rPr lang="de-DE" sz="2600" dirty="0" err="1"/>
                  <a:t>charges</a:t>
                </a:r>
                <a:r>
                  <a:rPr lang="de-DE" sz="2600" dirty="0"/>
                  <a:t> </a:t>
                </a:r>
                <a:r>
                  <a:rPr lang="de-DE" sz="2600" dirty="0" err="1"/>
                  <a:t>displaced</a:t>
                </a:r>
                <a:r>
                  <a:rPr lang="de-DE" sz="2600" dirty="0"/>
                  <a:t> </a:t>
                </a:r>
                <a:r>
                  <a:rPr lang="de-DE" sz="2600" dirty="0" err="1"/>
                  <a:t>by</a:t>
                </a:r>
                <a:r>
                  <a:rPr lang="de-DE" sz="2600" dirty="0"/>
                  <a:t> </a:t>
                </a:r>
                <a:r>
                  <a:rPr lang="de-DE" sz="2600" dirty="0" err="1"/>
                  <a:t>induction</a:t>
                </a:r>
                <a:r>
                  <a:rPr lang="de-DE" sz="2600" dirty="0"/>
                  <a:t>) </a:t>
                </a:r>
                <a:r>
                  <a:rPr lang="de-DE" sz="2600" dirty="0" err="1"/>
                  <a:t>from</a:t>
                </a:r>
                <a:r>
                  <a:rPr lang="de-DE" sz="2600" dirty="0"/>
                  <a:t> </a:t>
                </a:r>
                <a14:m>
                  <m:oMath xmlns:m="http://schemas.openxmlformats.org/officeDocument/2006/math">
                    <m:r>
                      <a:rPr lang="de-DE" sz="2600" i="1">
                        <a:latin typeface="Cambria Math" panose="02040503050406030204" pitchFamily="18" charset="0"/>
                      </a:rPr>
                      <m:t>𝐸</m:t>
                    </m:r>
                  </m:oMath>
                </a14:m>
                <a:r>
                  <a:rPr lang="de-DE" sz="2600" dirty="0"/>
                  <a:t>, </a:t>
                </a:r>
                <a:r>
                  <a:rPr lang="de-DE" sz="2600" dirty="0" err="1"/>
                  <a:t>leaving</a:t>
                </a:r>
                <a:r>
                  <a:rPr lang="de-DE" sz="2600" dirty="0"/>
                  <a:t> a </a:t>
                </a:r>
                <a:r>
                  <a:rPr lang="de-DE" sz="2600" dirty="0" err="1"/>
                  <a:t>field</a:t>
                </a:r>
                <a:r>
                  <a:rPr lang="de-DE" sz="2600" dirty="0"/>
                  <a:t> </a:t>
                </a:r>
                <a:r>
                  <a:rPr lang="de-DE" sz="2600" dirty="0" err="1"/>
                  <a:t>that</a:t>
                </a:r>
                <a:r>
                  <a:rPr lang="de-DE" sz="2600" dirty="0"/>
                  <a:t> </a:t>
                </a:r>
                <a:r>
                  <a:rPr lang="de-DE" sz="2600" dirty="0" err="1"/>
                  <a:t>couples</a:t>
                </a:r>
                <a:r>
                  <a:rPr lang="de-DE" sz="2600" dirty="0"/>
                  <a:t> </a:t>
                </a:r>
                <a:r>
                  <a:rPr lang="de-DE" sz="2600" dirty="0" err="1"/>
                  <a:t>only</a:t>
                </a:r>
                <a:r>
                  <a:rPr lang="de-DE" sz="2600" dirty="0"/>
                  <a:t> </a:t>
                </a:r>
                <a:r>
                  <a:rPr lang="de-DE" sz="2600" dirty="0" err="1"/>
                  <a:t>to</a:t>
                </a:r>
                <a:r>
                  <a:rPr lang="de-DE" sz="2600" dirty="0"/>
                  <a:t> </a:t>
                </a:r>
                <a:r>
                  <a:rPr lang="de-DE" sz="2600" dirty="0" err="1"/>
                  <a:t>free</a:t>
                </a:r>
                <a:r>
                  <a:rPr lang="de-DE" sz="2600" dirty="0"/>
                  <a:t> </a:t>
                </a:r>
                <a:r>
                  <a:rPr lang="de-DE" sz="2600" dirty="0" err="1"/>
                  <a:t>charges</a:t>
                </a:r>
                <a:r>
                  <a:rPr lang="de-DE" sz="2600" dirty="0"/>
                  <a:t>.</a:t>
                </a:r>
              </a:p>
              <a:p>
                <a:pPr marL="0" indent="0">
                  <a:buNone/>
                </a:pPr>
                <a:r>
                  <a:rPr lang="de-DE" sz="2600" dirty="0">
                    <a:sym typeface="Wingdings" pitchFamily="2" charset="2"/>
                  </a:rPr>
                  <a:t> </a:t>
                </a:r>
                <a14:m>
                  <m:oMath xmlns:m="http://schemas.openxmlformats.org/officeDocument/2006/math">
                    <m:r>
                      <a:rPr lang="de-DE" sz="2600" i="1"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r>
                  <a:rPr lang="de-DE" sz="2600" dirty="0"/>
                  <a:t> </a:t>
                </a:r>
                <a:r>
                  <a:rPr lang="de-DE" sz="2600" dirty="0" err="1"/>
                  <a:t>is</a:t>
                </a:r>
                <a:r>
                  <a:rPr lang="de-DE" sz="2600" dirty="0"/>
                  <a:t> an </a:t>
                </a:r>
                <a:r>
                  <a:rPr lang="de-DE" sz="2600" dirty="0" err="1"/>
                  <a:t>auxiliary</a:t>
                </a:r>
                <a:r>
                  <a:rPr lang="de-DE" sz="2600" dirty="0"/>
                  <a:t> </a:t>
                </a:r>
                <a:r>
                  <a:rPr lang="de-DE" sz="2600" dirty="0" err="1"/>
                  <a:t>field</a:t>
                </a:r>
                <a:r>
                  <a:rPr lang="de-DE" sz="2600" dirty="0"/>
                  <a:t>! </a:t>
                </a:r>
                <a14:m>
                  <m:oMath xmlns:m="http://schemas.openxmlformats.org/officeDocument/2006/math">
                    <m:r>
                      <a:rPr lang="de-DE" sz="2600" i="1">
                        <a:latin typeface="Cambria Math" panose="02040503050406030204" pitchFamily="18" charset="0"/>
                      </a:rPr>
                      <m:t>𝐸</m:t>
                    </m:r>
                  </m:oMath>
                </a14:m>
                <a:r>
                  <a:rPr lang="de-DE" sz="2600" dirty="0"/>
                  <a:t> </a:t>
                </a:r>
                <a:r>
                  <a:rPr lang="de-DE" sz="2600" dirty="0" err="1"/>
                  <a:t>is</a:t>
                </a:r>
                <a:r>
                  <a:rPr lang="de-DE" sz="2600" dirty="0"/>
                  <a:t> </a:t>
                </a:r>
                <a:r>
                  <a:rPr lang="de-DE" sz="2600" dirty="0" err="1"/>
                  <a:t>the</a:t>
                </a:r>
                <a:r>
                  <a:rPr lang="de-DE" sz="2600" dirty="0"/>
                  <a:t> </a:t>
                </a:r>
                <a:r>
                  <a:rPr lang="de-DE" sz="2600" dirty="0" err="1"/>
                  <a:t>actual</a:t>
                </a:r>
                <a:r>
                  <a:rPr lang="de-DE" sz="2600" dirty="0"/>
                  <a:t>, </a:t>
                </a:r>
                <a:r>
                  <a:rPr lang="de-DE" sz="2600" dirty="0" err="1"/>
                  <a:t>physical</a:t>
                </a:r>
                <a:r>
                  <a:rPr lang="de-DE" sz="2600" dirty="0"/>
                  <a:t> </a:t>
                </a:r>
                <a:r>
                  <a:rPr lang="de-DE" sz="2600" dirty="0" err="1"/>
                  <a:t>field</a:t>
                </a:r>
                <a:r>
                  <a:rPr lang="de-DE" sz="2600" dirty="0"/>
                  <a:t>.</a:t>
                </a:r>
              </a:p>
              <a:p>
                <a:pPr marL="0" indent="0">
                  <a:buNone/>
                </a:pPr>
                <a:endParaRPr lang="de-DE" dirty="0"/>
              </a:p>
            </p:txBody>
          </p:sp>
        </mc:Choice>
        <mc:Fallback xmlns="">
          <p:sp>
            <p:nvSpPr>
              <p:cNvPr id="4" name="Inhaltsplatzhalter 3">
                <a:extLst>
                  <a:ext uri="{FF2B5EF4-FFF2-40B4-BE49-F238E27FC236}">
                    <a16:creationId xmlns:a16="http://schemas.microsoft.com/office/drawing/2014/main" id="{72E4B351-399B-D2D5-E79C-025FEE3E13B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86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6E16DB53-59FC-9E9B-76B7-2EA79A1151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03FC7C-1F2C-4946-B702-1A52A755583B}" type="slidenum">
              <a:rPr lang="de-DE" smtClean="0"/>
              <a:t>9</a:t>
            </a:fld>
            <a:endParaRPr lang="de-DE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feld 4">
                <a:extLst>
                  <a:ext uri="{FF2B5EF4-FFF2-40B4-BE49-F238E27FC236}">
                    <a16:creationId xmlns:a16="http://schemas.microsoft.com/office/drawing/2014/main" id="{D98153E0-5C10-89C1-96B9-DA1D2177D54B}"/>
                  </a:ext>
                </a:extLst>
              </p:cNvPr>
              <p:cNvSpPr txBox="1"/>
              <p:nvPr/>
            </p:nvSpPr>
            <p:spPr>
              <a:xfrm>
                <a:off x="6249071" y="1717595"/>
                <a:ext cx="2617076" cy="111626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de-DE" sz="2200" dirty="0" err="1"/>
                  <a:t>vacuum</a:t>
                </a:r>
                <a:r>
                  <a:rPr lang="de-DE" sz="2200" dirty="0"/>
                  <a:t> </a:t>
                </a:r>
                <a:r>
                  <a:rPr lang="de-DE" sz="2200" dirty="0" err="1"/>
                  <a:t>permittivity</a:t>
                </a:r>
                <a:r>
                  <a:rPr lang="de-DE" sz="2200" dirty="0"/>
                  <a:t> (</a:t>
                </a:r>
                <a:r>
                  <a:rPr lang="de-DE" sz="2200" dirty="0" err="1"/>
                  <a:t>physical</a:t>
                </a:r>
                <a:r>
                  <a:rPr lang="de-DE" sz="2200" dirty="0"/>
                  <a:t> </a:t>
                </a:r>
                <a:r>
                  <a:rPr lang="de-DE" sz="2200" dirty="0" err="1"/>
                  <a:t>constant</a:t>
                </a:r>
                <a:r>
                  <a:rPr lang="de-DE" sz="2200" dirty="0"/>
                  <a:t>)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sz="1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sz="1200" i="1">
                              <a:latin typeface="Cambria Math" panose="02040503050406030204" pitchFamily="18" charset="0"/>
                            </a:rPr>
                            <m:t>𝜀</m:t>
                          </m:r>
                        </m:e>
                        <m:sub>
                          <m:r>
                            <a:rPr lang="de-DE" sz="120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de-DE" sz="1200">
                          <a:latin typeface="Cambria Math" panose="02040503050406030204" pitchFamily="18" charset="0"/>
                        </a:rPr>
                        <m:t>=8,854∙</m:t>
                      </m:r>
                      <m:sSup>
                        <m:sSupPr>
                          <m:ctrlPr>
                            <a:rPr lang="de-DE" sz="12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de-DE" sz="1200">
                              <a:latin typeface="Cambria Math" panose="02040503050406030204" pitchFamily="18" charset="0"/>
                            </a:rPr>
                            <m:t>10</m:t>
                          </m:r>
                        </m:e>
                        <m:sup>
                          <m:r>
                            <a:rPr lang="de-DE" sz="1200">
                              <a:latin typeface="Cambria Math" panose="02040503050406030204" pitchFamily="18" charset="0"/>
                            </a:rPr>
                            <m:t>−12</m:t>
                          </m:r>
                        </m:sup>
                      </m:sSup>
                      <m:f>
                        <m:fPr>
                          <m:ctrlPr>
                            <a:rPr lang="de-DE" sz="12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de-DE" sz="1200">
                              <a:latin typeface="Cambria Math" panose="02040503050406030204" pitchFamily="18" charset="0"/>
                            </a:rPr>
                            <m:t>As</m:t>
                          </m:r>
                        </m:num>
                        <m:den>
                          <m:r>
                            <m:rPr>
                              <m:sty m:val="p"/>
                            </m:rPr>
                            <a:rPr lang="de-DE" sz="1200">
                              <a:latin typeface="Cambria Math" panose="02040503050406030204" pitchFamily="18" charset="0"/>
                            </a:rPr>
                            <m:t>Vm</m:t>
                          </m:r>
                        </m:den>
                      </m:f>
                    </m:oMath>
                  </m:oMathPara>
                </a14:m>
                <a:endParaRPr lang="de-DE" sz="1200" dirty="0"/>
              </a:p>
            </p:txBody>
          </p:sp>
        </mc:Choice>
        <mc:Fallback xmlns="">
          <p:sp>
            <p:nvSpPr>
              <p:cNvPr id="5" name="Textfeld 4">
                <a:extLst>
                  <a:ext uri="{FF2B5EF4-FFF2-40B4-BE49-F238E27FC236}">
                    <a16:creationId xmlns:a16="http://schemas.microsoft.com/office/drawing/2014/main" id="{D98153E0-5C10-89C1-96B9-DA1D2177D54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49071" y="1717595"/>
                <a:ext cx="2617076" cy="1116268"/>
              </a:xfrm>
              <a:prstGeom prst="rect">
                <a:avLst/>
              </a:prstGeom>
              <a:blipFill>
                <a:blip r:embed="rId3"/>
                <a:stretch>
                  <a:fillRect l="-2913" t="-3371" r="-1456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feld 5">
            <a:extLst>
              <a:ext uri="{FF2B5EF4-FFF2-40B4-BE49-F238E27FC236}">
                <a16:creationId xmlns:a16="http://schemas.microsoft.com/office/drawing/2014/main" id="{63617A28-E2D5-805D-1A46-2BBB66BC01A5}"/>
              </a:ext>
            </a:extLst>
          </p:cNvPr>
          <p:cNvSpPr txBox="1"/>
          <p:nvPr/>
        </p:nvSpPr>
        <p:spPr>
          <a:xfrm>
            <a:off x="6249071" y="3142532"/>
            <a:ext cx="295799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200" dirty="0"/>
              <a:t>relative </a:t>
            </a:r>
            <a:r>
              <a:rPr lang="de-DE" sz="2200" dirty="0" err="1"/>
              <a:t>permittivity</a:t>
            </a:r>
            <a:r>
              <a:rPr lang="de-DE" sz="2200" dirty="0"/>
              <a:t>, aka </a:t>
            </a:r>
            <a:r>
              <a:rPr lang="de-DE" sz="2200" dirty="0" err="1"/>
              <a:t>dielectric</a:t>
            </a:r>
            <a:r>
              <a:rPr lang="de-DE" sz="2200" dirty="0"/>
              <a:t> </a:t>
            </a:r>
            <a:r>
              <a:rPr lang="de-DE" sz="2200" dirty="0" err="1"/>
              <a:t>constant</a:t>
            </a:r>
            <a:r>
              <a:rPr lang="de-DE" sz="2200" dirty="0"/>
              <a:t> (material </a:t>
            </a:r>
            <a:r>
              <a:rPr lang="de-DE" sz="2200" dirty="0" err="1"/>
              <a:t>dependent</a:t>
            </a:r>
            <a:r>
              <a:rPr lang="de-DE" sz="2200" dirty="0"/>
              <a:t>)</a:t>
            </a:r>
          </a:p>
        </p:txBody>
      </p:sp>
      <p:cxnSp>
        <p:nvCxnSpPr>
          <p:cNvPr id="11" name="Gerade Verbindung mit Pfeil 10">
            <a:extLst>
              <a:ext uri="{FF2B5EF4-FFF2-40B4-BE49-F238E27FC236}">
                <a16:creationId xmlns:a16="http://schemas.microsoft.com/office/drawing/2014/main" id="{923270DA-E5AF-4CBF-7F02-E68537DBE456}"/>
              </a:ext>
            </a:extLst>
          </p:cNvPr>
          <p:cNvCxnSpPr>
            <a:cxnSpLocks/>
            <a:stCxn id="5" idx="1"/>
          </p:cNvCxnSpPr>
          <p:nvPr/>
        </p:nvCxnSpPr>
        <p:spPr>
          <a:xfrm flipH="1">
            <a:off x="5023948" y="2275729"/>
            <a:ext cx="1225123" cy="65665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Gerade Verbindung mit Pfeil 12">
            <a:extLst>
              <a:ext uri="{FF2B5EF4-FFF2-40B4-BE49-F238E27FC236}">
                <a16:creationId xmlns:a16="http://schemas.microsoft.com/office/drawing/2014/main" id="{44930ECD-01BB-344F-CE35-4C78D41863EA}"/>
              </a:ext>
            </a:extLst>
          </p:cNvPr>
          <p:cNvCxnSpPr>
            <a:cxnSpLocks/>
            <a:stCxn id="6" idx="1"/>
          </p:cNvCxnSpPr>
          <p:nvPr/>
        </p:nvCxnSpPr>
        <p:spPr>
          <a:xfrm flipH="1" flipV="1">
            <a:off x="5580993" y="3142532"/>
            <a:ext cx="668078" cy="55399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feld 23">
                <a:extLst>
                  <a:ext uri="{FF2B5EF4-FFF2-40B4-BE49-F238E27FC236}">
                    <a16:creationId xmlns:a16="http://schemas.microsoft.com/office/drawing/2014/main" id="{15C8F02D-D8A3-9D4D-9884-7CFBB5061229}"/>
                  </a:ext>
                </a:extLst>
              </p:cNvPr>
              <p:cNvSpPr txBox="1"/>
              <p:nvPr/>
            </p:nvSpPr>
            <p:spPr>
              <a:xfrm>
                <a:off x="10434819" y="2833863"/>
                <a:ext cx="1301318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b="0" i="1" smtClean="0">
                          <a:latin typeface="Cambria Math" panose="02040503050406030204" pitchFamily="18" charset="0"/>
                        </a:rPr>
                        <m:t>𝐷</m:t>
                      </m:r>
                      <m:r>
                        <a:rPr lang="de-DE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de-DE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𝜀</m:t>
                          </m:r>
                        </m:e>
                        <m:sub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de-DE" b="0" i="1" smtClean="0">
                          <a:latin typeface="Cambria Math" panose="02040503050406030204" pitchFamily="18" charset="0"/>
                        </a:rPr>
                        <m:t>𝐸</m:t>
                      </m:r>
                      <m:r>
                        <a:rPr lang="de-DE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de-DE" b="0" i="1" smtClean="0">
                          <a:latin typeface="Cambria Math" panose="02040503050406030204" pitchFamily="18" charset="0"/>
                        </a:rPr>
                        <m:t>𝑃</m:t>
                      </m:r>
                    </m:oMath>
                  </m:oMathPara>
                </a14:m>
                <a:endParaRPr lang="de-DE" dirty="0"/>
              </a:p>
            </p:txBody>
          </p:sp>
        </mc:Choice>
        <mc:Fallback xmlns="">
          <p:sp>
            <p:nvSpPr>
              <p:cNvPr id="24" name="Textfeld 23">
                <a:extLst>
                  <a:ext uri="{FF2B5EF4-FFF2-40B4-BE49-F238E27FC236}">
                    <a16:creationId xmlns:a16="http://schemas.microsoft.com/office/drawing/2014/main" id="{15C8F02D-D8A3-9D4D-9884-7CFBB506122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434819" y="2833863"/>
                <a:ext cx="1301318" cy="276999"/>
              </a:xfrm>
              <a:prstGeom prst="rect">
                <a:avLst/>
              </a:prstGeom>
              <a:blipFill>
                <a:blip r:embed="rId4"/>
                <a:stretch>
                  <a:fillRect l="-3846" r="-2885" b="-18182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7" name="Textfeld 26">
            <a:extLst>
              <a:ext uri="{FF2B5EF4-FFF2-40B4-BE49-F238E27FC236}">
                <a16:creationId xmlns:a16="http://schemas.microsoft.com/office/drawing/2014/main" id="{18FCF857-8733-CB12-4609-F8461E592B5E}"/>
              </a:ext>
            </a:extLst>
          </p:cNvPr>
          <p:cNvSpPr txBox="1"/>
          <p:nvPr/>
        </p:nvSpPr>
        <p:spPr>
          <a:xfrm>
            <a:off x="10657490" y="2039007"/>
            <a:ext cx="13596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 err="1"/>
              <a:t>polarization</a:t>
            </a:r>
            <a:endParaRPr lang="de-DE" dirty="0"/>
          </a:p>
        </p:txBody>
      </p:sp>
      <p:cxnSp>
        <p:nvCxnSpPr>
          <p:cNvPr id="29" name="Gerade Verbindung mit Pfeil 28">
            <a:extLst>
              <a:ext uri="{FF2B5EF4-FFF2-40B4-BE49-F238E27FC236}">
                <a16:creationId xmlns:a16="http://schemas.microsoft.com/office/drawing/2014/main" id="{0650AED4-0E16-B05D-7817-19BD68E32EBA}"/>
              </a:ext>
            </a:extLst>
          </p:cNvPr>
          <p:cNvCxnSpPr>
            <a:stCxn id="27" idx="2"/>
          </p:cNvCxnSpPr>
          <p:nvPr/>
        </p:nvCxnSpPr>
        <p:spPr>
          <a:xfrm>
            <a:off x="11337324" y="2408339"/>
            <a:ext cx="255587" cy="42552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9461972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el 5">
            <a:extLst>
              <a:ext uri="{FF2B5EF4-FFF2-40B4-BE49-F238E27FC236}">
                <a16:creationId xmlns:a16="http://schemas.microsoft.com/office/drawing/2014/main" id="{829F4C70-B761-8837-4FE8-54D5045814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Dielectric</a:t>
            </a:r>
            <a:r>
              <a:rPr lang="de-DE" dirty="0"/>
              <a:t> Constants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Inhaltsplatzhalter 6">
                <a:extLst>
                  <a:ext uri="{FF2B5EF4-FFF2-40B4-BE49-F238E27FC236}">
                    <a16:creationId xmlns:a16="http://schemas.microsoft.com/office/drawing/2014/main" id="{8138E723-5679-F6D1-A7BF-CC34848417F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4"/>
                <a:ext cx="10515600" cy="4530725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de-DE" sz="2400" dirty="0" err="1"/>
                  <a:t>insulators</a:t>
                </a:r>
                <a:r>
                  <a:rPr lang="de-DE" sz="2400" dirty="0"/>
                  <a:t> (</a:t>
                </a:r>
                <a:r>
                  <a:rPr lang="de-DE" sz="2400" dirty="0" err="1"/>
                  <a:t>dielectrics</a:t>
                </a:r>
                <a:r>
                  <a:rPr lang="de-DE" sz="2400" dirty="0"/>
                  <a:t>) in </a:t>
                </a:r>
                <a:r>
                  <a:rPr lang="de-DE" sz="2400" dirty="0" err="1"/>
                  <a:t>electric</a:t>
                </a:r>
                <a:r>
                  <a:rPr lang="de-DE" sz="2400" dirty="0"/>
                  <a:t> </a:t>
                </a:r>
                <a:r>
                  <a:rPr lang="de-DE" sz="2400" dirty="0" err="1"/>
                  <a:t>field</a:t>
                </a:r>
                <a:r>
                  <a:rPr lang="de-DE" sz="2400" dirty="0"/>
                  <a:t>:</a:t>
                </a:r>
              </a:p>
              <a:p>
                <a:pPr marL="0" indent="0">
                  <a:buNone/>
                </a:pPr>
                <a:r>
                  <a:rPr lang="de-DE" sz="2400" dirty="0" err="1">
                    <a:sym typeface="Wingdings" pitchFamily="2" charset="2"/>
                  </a:rPr>
                  <a:t>electrons</a:t>
                </a:r>
                <a:r>
                  <a:rPr lang="de-DE" sz="2400" dirty="0">
                    <a:sym typeface="Wingdings" pitchFamily="2" charset="2"/>
                  </a:rPr>
                  <a:t> </a:t>
                </a:r>
                <a:r>
                  <a:rPr lang="de-DE" sz="2400" dirty="0" err="1">
                    <a:sym typeface="Wingdings" pitchFamily="2" charset="2"/>
                  </a:rPr>
                  <a:t>slightly</a:t>
                </a:r>
                <a:r>
                  <a:rPr lang="de-DE" sz="2400" dirty="0">
                    <a:sym typeface="Wingdings" pitchFamily="2" charset="2"/>
                  </a:rPr>
                  <a:t> </a:t>
                </a:r>
                <a:r>
                  <a:rPr lang="de-DE" sz="2400" dirty="0" err="1">
                    <a:sym typeface="Wingdings" pitchFamily="2" charset="2"/>
                  </a:rPr>
                  <a:t>shifted</a:t>
                </a:r>
                <a:r>
                  <a:rPr lang="de-DE" sz="2400" dirty="0">
                    <a:sym typeface="Wingdings" pitchFamily="2" charset="2"/>
                  </a:rPr>
                  <a:t> relative </a:t>
                </a:r>
                <a:r>
                  <a:rPr lang="de-DE" sz="2400" dirty="0" err="1">
                    <a:sym typeface="Wingdings" pitchFamily="2" charset="2"/>
                  </a:rPr>
                  <a:t>to</a:t>
                </a:r>
                <a:r>
                  <a:rPr lang="de-DE" sz="2400" dirty="0">
                    <a:sym typeface="Wingdings" pitchFamily="2" charset="2"/>
                  </a:rPr>
                  <a:t> </a:t>
                </a:r>
                <a:r>
                  <a:rPr lang="de-DE" sz="2400" dirty="0" err="1">
                    <a:sym typeface="Wingdings" pitchFamily="2" charset="2"/>
                  </a:rPr>
                  <a:t>nuclei</a:t>
                </a:r>
                <a:r>
                  <a:rPr lang="de-DE" sz="2400" dirty="0">
                    <a:sym typeface="Wingdings" pitchFamily="2" charset="2"/>
                  </a:rPr>
                  <a:t> (</a:t>
                </a:r>
                <a:r>
                  <a:rPr lang="de-DE" sz="2400" dirty="0" err="1">
                    <a:sym typeface="Wingdings" pitchFamily="2" charset="2"/>
                  </a:rPr>
                  <a:t>polarization</a:t>
                </a:r>
                <a:r>
                  <a:rPr lang="de-DE" sz="2400" dirty="0">
                    <a:sym typeface="Wingdings" pitchFamily="2" charset="2"/>
                  </a:rPr>
                  <a:t>), </a:t>
                </a:r>
                <a:r>
                  <a:rPr lang="de-DE" sz="2400" dirty="0" err="1">
                    <a:sym typeface="Wingdings" pitchFamily="2" charset="2"/>
                  </a:rPr>
                  <a:t>the</a:t>
                </a:r>
                <a:r>
                  <a:rPr lang="de-DE" sz="2400" dirty="0">
                    <a:sym typeface="Wingdings" pitchFamily="2" charset="2"/>
                  </a:rPr>
                  <a:t> </a:t>
                </a:r>
                <a:r>
                  <a:rPr lang="de-DE" sz="2400" dirty="0" err="1">
                    <a:sym typeface="Wingdings" pitchFamily="2" charset="2"/>
                  </a:rPr>
                  <a:t>more</a:t>
                </a:r>
                <a:r>
                  <a:rPr lang="de-DE" sz="2400" dirty="0">
                    <a:sym typeface="Wingdings" pitchFamily="2" charset="2"/>
                  </a:rPr>
                  <a:t> </a:t>
                </a:r>
                <a:r>
                  <a:rPr lang="de-DE" sz="2400" dirty="0" err="1">
                    <a:sym typeface="Wingdings" pitchFamily="2" charset="2"/>
                  </a:rPr>
                  <a:t>the</a:t>
                </a:r>
                <a:r>
                  <a:rPr lang="de-DE" sz="2400" dirty="0">
                    <a:sym typeface="Wingdings" pitchFamily="2" charset="2"/>
                  </a:rPr>
                  <a:t> </a:t>
                </a:r>
                <a:r>
                  <a:rPr lang="de-DE" sz="2400" dirty="0" err="1">
                    <a:sym typeface="Wingdings" pitchFamily="2" charset="2"/>
                  </a:rPr>
                  <a:t>higher</a:t>
                </a:r>
                <a:r>
                  <a:rPr lang="de-DE" sz="2400" dirty="0">
                    <a:sym typeface="Wingdings" pitchFamily="2" charset="2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DE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sz="2400" i="1">
                            <a:latin typeface="Cambria Math" panose="02040503050406030204" pitchFamily="18" charset="0"/>
                          </a:rPr>
                          <m:t>𝜀</m:t>
                        </m:r>
                      </m:e>
                      <m:sub>
                        <m:r>
                          <a:rPr lang="de-DE" sz="2400" i="1"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</m:sSub>
                  </m:oMath>
                </a14:m>
                <a:endParaRPr lang="de-DE" sz="2400" dirty="0"/>
              </a:p>
              <a:p>
                <a:pPr marL="0" indent="0">
                  <a:buNone/>
                </a:pPr>
                <a:r>
                  <a:rPr lang="de-DE" sz="2400" dirty="0">
                    <a:sym typeface="Wingdings" pitchFamily="2" charset="2"/>
                  </a:rPr>
                  <a:t> </a:t>
                </a:r>
                <a:r>
                  <a:rPr lang="de-DE" sz="2400" dirty="0" err="1">
                    <a:sym typeface="Wingdings" pitchFamily="2" charset="2"/>
                  </a:rPr>
                  <a:t>weakens</a:t>
                </a:r>
                <a:r>
                  <a:rPr lang="de-DE" sz="2400" dirty="0">
                    <a:sym typeface="Wingdings" pitchFamily="2" charset="2"/>
                  </a:rPr>
                  <a:t> </a:t>
                </a:r>
                <a:r>
                  <a:rPr lang="de-DE" sz="2400" dirty="0" err="1">
                    <a:sym typeface="Wingdings" pitchFamily="2" charset="2"/>
                  </a:rPr>
                  <a:t>electric</a:t>
                </a:r>
                <a:r>
                  <a:rPr lang="de-DE" sz="2400" dirty="0">
                    <a:sym typeface="Wingdings" pitchFamily="2" charset="2"/>
                  </a:rPr>
                  <a:t> </a:t>
                </a:r>
                <a:r>
                  <a:rPr lang="de-DE" sz="2400" dirty="0" err="1">
                    <a:sym typeface="Wingdings" pitchFamily="2" charset="2"/>
                  </a:rPr>
                  <a:t>field</a:t>
                </a:r>
                <a:r>
                  <a:rPr lang="de-DE" sz="2400" dirty="0">
                    <a:sym typeface="Wingdings" pitchFamily="2" charset="2"/>
                  </a:rPr>
                  <a:t> </a:t>
                </a:r>
                <a:r>
                  <a:rPr lang="de-DE" sz="2400" dirty="0" err="1">
                    <a:sym typeface="Wingdings" pitchFamily="2" charset="2"/>
                  </a:rPr>
                  <a:t>inside</a:t>
                </a:r>
                <a:r>
                  <a:rPr lang="de-DE" sz="2400" dirty="0">
                    <a:sym typeface="Wingdings" pitchFamily="2" charset="2"/>
                  </a:rPr>
                  <a:t> </a:t>
                </a:r>
                <a:r>
                  <a:rPr lang="de-DE" sz="2400" dirty="0" err="1">
                    <a:sym typeface="Wingdings" pitchFamily="2" charset="2"/>
                  </a:rPr>
                  <a:t>the</a:t>
                </a:r>
                <a:r>
                  <a:rPr lang="de-DE" sz="2400" dirty="0">
                    <a:sym typeface="Wingdings" pitchFamily="2" charset="2"/>
                  </a:rPr>
                  <a:t> </a:t>
                </a:r>
                <a:r>
                  <a:rPr lang="de-DE" sz="2400" dirty="0" err="1">
                    <a:sym typeface="Wingdings" pitchFamily="2" charset="2"/>
                  </a:rPr>
                  <a:t>dielectric</a:t>
                </a:r>
                <a:endParaRPr lang="de-DE" sz="2400" dirty="0">
                  <a:sym typeface="Wingdings" pitchFamily="2" charset="2"/>
                </a:endParaRPr>
              </a:p>
              <a:p>
                <a:pPr marL="0" indent="0">
                  <a:buNone/>
                </a:pPr>
                <a:endParaRPr lang="de-DE" sz="2400" dirty="0">
                  <a:sym typeface="Wingdings" pitchFamily="2" charset="2"/>
                </a:endParaRPr>
              </a:p>
              <a:p>
                <a:pPr marL="0" indent="0">
                  <a:buNone/>
                </a:pPr>
                <a:endParaRPr lang="de-DE" sz="2400" dirty="0">
                  <a:sym typeface="Wingdings" pitchFamily="2" charset="2"/>
                </a:endParaRPr>
              </a:p>
              <a:p>
                <a:pPr marL="0" indent="0">
                  <a:buNone/>
                </a:pPr>
                <a:endParaRPr lang="de-DE" sz="2400" dirty="0">
                  <a:sym typeface="Wingdings" pitchFamily="2" charset="2"/>
                </a:endParaRPr>
              </a:p>
              <a:p>
                <a:pPr marL="0" indent="0">
                  <a:buNone/>
                </a:pPr>
                <a:endParaRPr lang="de-DE" sz="2400" dirty="0">
                  <a:sym typeface="Wingdings" pitchFamily="2" charset="2"/>
                </a:endParaRPr>
              </a:p>
              <a:p>
                <a:pPr marL="0" indent="0">
                  <a:buNone/>
                </a:pPr>
                <a:endParaRPr lang="de-DE" sz="2400" dirty="0">
                  <a:sym typeface="Wingdings" pitchFamily="2" charset="2"/>
                </a:endParaRPr>
              </a:p>
              <a:p>
                <a:pPr marL="0" indent="0">
                  <a:buNone/>
                </a:pPr>
                <a:endParaRPr lang="de-DE" sz="2400" dirty="0">
                  <a:sym typeface="Wingdings" pitchFamily="2" charset="2"/>
                </a:endParaRPr>
              </a:p>
              <a:p>
                <a:pPr marL="0" indent="0">
                  <a:buNone/>
                </a:pPr>
                <a:r>
                  <a:rPr lang="de-DE" sz="2200" dirty="0" err="1">
                    <a:sym typeface="Wingdings" pitchFamily="2" charset="2"/>
                  </a:rPr>
                  <a:t>inside</a:t>
                </a:r>
                <a:r>
                  <a:rPr lang="de-DE" sz="2200" dirty="0">
                    <a:sym typeface="Wingdings" pitchFamily="2" charset="2"/>
                  </a:rPr>
                  <a:t> </a:t>
                </a:r>
                <a:r>
                  <a:rPr lang="de-DE" sz="2200" dirty="0" err="1">
                    <a:sym typeface="Wingdings" pitchFamily="2" charset="2"/>
                  </a:rPr>
                  <a:t>perfect</a:t>
                </a:r>
                <a:r>
                  <a:rPr lang="de-DE" sz="2200" dirty="0">
                    <a:sym typeface="Wingdings" pitchFamily="2" charset="2"/>
                  </a:rPr>
                  <a:t> </a:t>
                </a:r>
                <a:r>
                  <a:rPr lang="de-DE" sz="2200" dirty="0" err="1">
                    <a:sym typeface="Wingdings" pitchFamily="2" charset="2"/>
                  </a:rPr>
                  <a:t>conductors</a:t>
                </a:r>
                <a:r>
                  <a:rPr lang="de-DE" sz="2200" dirty="0">
                    <a:sym typeface="Wingdings" pitchFamily="2" charset="2"/>
                  </a:rPr>
                  <a:t>: </a:t>
                </a:r>
                <a14:m>
                  <m:oMath xmlns:m="http://schemas.openxmlformats.org/officeDocument/2006/math">
                    <m:r>
                      <a:rPr lang="de-DE" sz="2200" i="1">
                        <a:latin typeface="Cambria Math" panose="02040503050406030204" pitchFamily="18" charset="0"/>
                      </a:rPr>
                      <m:t>𝐷</m:t>
                    </m:r>
                    <m:r>
                      <a:rPr lang="de-DE" sz="2200" i="1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de-DE" sz="2200" dirty="0">
                    <a:sym typeface="Wingdings" pitchFamily="2" charset="2"/>
                  </a:rPr>
                  <a:t> (</a:t>
                </a:r>
                <a:r>
                  <a:rPr lang="de-DE" sz="2200" dirty="0" err="1">
                    <a:sym typeface="Wingdings" pitchFamily="2" charset="2"/>
                  </a:rPr>
                  <a:t>since</a:t>
                </a:r>
                <a:r>
                  <a:rPr lang="de-DE" sz="2200" dirty="0">
                    <a:sym typeface="Wingdings" pitchFamily="2" charset="2"/>
                  </a:rPr>
                  <a:t> </a:t>
                </a:r>
                <a14:m>
                  <m:oMath xmlns:m="http://schemas.openxmlformats.org/officeDocument/2006/math">
                    <m:r>
                      <a:rPr lang="de-DE" sz="2200" i="1">
                        <a:latin typeface="Cambria Math" panose="02040503050406030204" pitchFamily="18" charset="0"/>
                      </a:rPr>
                      <m:t>𝐸</m:t>
                    </m:r>
                    <m:r>
                      <a:rPr lang="de-DE" sz="2200" i="1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de-DE" sz="2200" dirty="0">
                    <a:sym typeface="Wingdings" pitchFamily="2" charset="2"/>
                  </a:rPr>
                  <a:t>), </a:t>
                </a:r>
                <a:r>
                  <a:rPr lang="de-DE" sz="2200" dirty="0" err="1">
                    <a:sym typeface="Wingdings" pitchFamily="2" charset="2"/>
                  </a:rPr>
                  <a:t>although</a:t>
                </a:r>
                <a:r>
                  <a:rPr lang="de-DE" sz="2200" dirty="0">
                    <a:sym typeface="Wingdings" pitchFamily="2" charset="2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DE" sz="2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sz="2200" i="1">
                            <a:latin typeface="Cambria Math" panose="02040503050406030204" pitchFamily="18" charset="0"/>
                          </a:rPr>
                          <m:t>𝜀</m:t>
                        </m:r>
                      </m:e>
                      <m:sub>
                        <m:r>
                          <a:rPr lang="de-DE" sz="2200" i="1"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</m:sSub>
                    <m:r>
                      <a:rPr lang="de-DE" sz="2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→∞</m:t>
                    </m:r>
                  </m:oMath>
                </a14:m>
                <a:r>
                  <a:rPr lang="de-DE" sz="2200" dirty="0">
                    <a:sym typeface="Wingdings" pitchFamily="2" charset="2"/>
                  </a:rPr>
                  <a:t> (</a:t>
                </a:r>
                <a:r>
                  <a:rPr lang="de-DE" sz="2200" dirty="0" err="1">
                    <a:sym typeface="Wingdings" pitchFamily="2" charset="2"/>
                  </a:rPr>
                  <a:t>free</a:t>
                </a:r>
                <a:r>
                  <a:rPr lang="de-DE" sz="2200" dirty="0">
                    <a:sym typeface="Wingdings" pitchFamily="2" charset="2"/>
                  </a:rPr>
                  <a:t> </a:t>
                </a:r>
                <a:r>
                  <a:rPr lang="de-DE" sz="2200" dirty="0" err="1">
                    <a:sym typeface="Wingdings" pitchFamily="2" charset="2"/>
                  </a:rPr>
                  <a:t>charges</a:t>
                </a:r>
                <a:r>
                  <a:rPr lang="de-DE" sz="2200" dirty="0">
                    <a:sym typeface="Wingdings" pitchFamily="2" charset="2"/>
                  </a:rPr>
                  <a:t>)</a:t>
                </a:r>
              </a:p>
            </p:txBody>
          </p:sp>
        </mc:Choice>
        <mc:Fallback xmlns="">
          <p:sp>
            <p:nvSpPr>
              <p:cNvPr id="7" name="Inhaltsplatzhalter 6">
                <a:extLst>
                  <a:ext uri="{FF2B5EF4-FFF2-40B4-BE49-F238E27FC236}">
                    <a16:creationId xmlns:a16="http://schemas.microsoft.com/office/drawing/2014/main" id="{8138E723-5679-F6D1-A7BF-CC34848417F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4"/>
                <a:ext cx="10515600" cy="4530725"/>
              </a:xfrm>
              <a:blipFill>
                <a:blip r:embed="rId2"/>
                <a:stretch>
                  <a:fillRect l="-965" t="-1955" b="-1955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6F705324-8D2A-103A-31DF-F17728967E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03FC7C-1F2C-4946-B702-1A52A755583B}" type="slidenum">
              <a:rPr lang="de-DE" smtClean="0"/>
              <a:t>10</a:t>
            </a:fld>
            <a:endParaRPr lang="de-DE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8" name="Tabelle 7">
                <a:extLst>
                  <a:ext uri="{FF2B5EF4-FFF2-40B4-BE49-F238E27FC236}">
                    <a16:creationId xmlns:a16="http://schemas.microsoft.com/office/drawing/2014/main" id="{75A67FB3-CA7C-06B9-51BB-C456672CB3C1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82216953"/>
                  </p:ext>
                </p:extLst>
              </p:nvPr>
            </p:nvGraphicFramePr>
            <p:xfrm>
              <a:off x="3402723" y="3273889"/>
              <a:ext cx="5386554" cy="222504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693277">
                      <a:extLst>
                        <a:ext uri="{9D8B030D-6E8A-4147-A177-3AD203B41FA5}">
                          <a16:colId xmlns:a16="http://schemas.microsoft.com/office/drawing/2014/main" val="4282490237"/>
                        </a:ext>
                      </a:extLst>
                    </a:gridCol>
                    <a:gridCol w="2693277">
                      <a:extLst>
                        <a:ext uri="{9D8B030D-6E8A-4147-A177-3AD203B41FA5}">
                          <a16:colId xmlns:a16="http://schemas.microsoft.com/office/drawing/2014/main" val="3886840435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endParaRPr lang="de-DE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de-DE" sz="18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de-DE" sz="1800" i="1">
                                        <a:latin typeface="Cambria Math" panose="02040503050406030204" pitchFamily="18" charset="0"/>
                                      </a:rPr>
                                      <m:t>𝜀</m:t>
                                    </m:r>
                                  </m:e>
                                  <m:sub>
                                    <m:r>
                                      <a:rPr lang="de-DE" sz="1800" i="1">
                                        <a:latin typeface="Cambria Math" panose="02040503050406030204" pitchFamily="18" charset="0"/>
                                      </a:rPr>
                                      <m:t>𝑟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de-DE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67002139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de-DE" dirty="0" err="1"/>
                            <a:t>air</a:t>
                          </a:r>
                          <a:endParaRPr lang="de-DE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de-DE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≈</m:t>
                                </m:r>
                                <m:r>
                                  <a:rPr lang="de-DE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de-DE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79615352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de-DE" dirty="0" err="1"/>
                            <a:t>water</a:t>
                          </a:r>
                          <a:endParaRPr lang="de-DE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de-DE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≈</m:t>
                                </m:r>
                                <m:r>
                                  <a:rPr lang="de-DE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80</m:t>
                                </m:r>
                              </m:oMath>
                            </m:oMathPara>
                          </a14:m>
                          <a:endParaRPr lang="de-DE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64255727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de-DE" dirty="0" err="1"/>
                            <a:t>glass</a:t>
                          </a:r>
                          <a:endParaRPr lang="de-DE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de-DE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≈</m:t>
                                </m:r>
                                <m:r>
                                  <a:rPr lang="de-DE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5−10</m:t>
                                </m:r>
                              </m:oMath>
                            </m:oMathPara>
                          </a14:m>
                          <a:endParaRPr lang="de-DE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49886107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de-DE" dirty="0" err="1"/>
                            <a:t>plastics</a:t>
                          </a:r>
                          <a:r>
                            <a:rPr lang="de-DE" dirty="0"/>
                            <a:t> / </a:t>
                          </a:r>
                          <a:r>
                            <a:rPr lang="de-DE" dirty="0" err="1"/>
                            <a:t>polymers</a:t>
                          </a:r>
                          <a:endParaRPr lang="de-DE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de-DE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≈</m:t>
                                </m:r>
                                <m:r>
                                  <a:rPr lang="de-DE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2−4</m:t>
                                </m:r>
                              </m:oMath>
                            </m:oMathPara>
                          </a14:m>
                          <a:endParaRPr lang="de-DE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8057011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de-DE" dirty="0" err="1"/>
                            <a:t>ferroelectric</a:t>
                          </a:r>
                          <a:r>
                            <a:rPr lang="de-DE" dirty="0"/>
                            <a:t> </a:t>
                          </a:r>
                          <a:r>
                            <a:rPr lang="de-DE" dirty="0" err="1"/>
                            <a:t>ceramics</a:t>
                          </a:r>
                          <a:endParaRPr lang="de-DE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de-DE" dirty="0" err="1"/>
                            <a:t>up</a:t>
                          </a:r>
                          <a:r>
                            <a:rPr lang="de-DE" dirty="0"/>
                            <a:t> </a:t>
                          </a:r>
                          <a:r>
                            <a:rPr lang="de-DE" dirty="0" err="1"/>
                            <a:t>to</a:t>
                          </a:r>
                          <a:r>
                            <a:rPr lang="de-DE" dirty="0"/>
                            <a:t> </a:t>
                          </a:r>
                          <a:r>
                            <a:rPr lang="de-DE" dirty="0" err="1"/>
                            <a:t>several</a:t>
                          </a:r>
                          <a:r>
                            <a:rPr lang="de-DE" dirty="0"/>
                            <a:t> </a:t>
                          </a:r>
                          <a:r>
                            <a:rPr lang="de-DE" dirty="0" err="1"/>
                            <a:t>thousand</a:t>
                          </a:r>
                          <a:endParaRPr lang="de-DE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14574777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8" name="Tabelle 7">
                <a:extLst>
                  <a:ext uri="{FF2B5EF4-FFF2-40B4-BE49-F238E27FC236}">
                    <a16:creationId xmlns:a16="http://schemas.microsoft.com/office/drawing/2014/main" id="{75A67FB3-CA7C-06B9-51BB-C456672CB3C1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82216953"/>
                  </p:ext>
                </p:extLst>
              </p:nvPr>
            </p:nvGraphicFramePr>
            <p:xfrm>
              <a:off x="3402723" y="3273889"/>
              <a:ext cx="5386554" cy="222504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693277">
                      <a:extLst>
                        <a:ext uri="{9D8B030D-6E8A-4147-A177-3AD203B41FA5}">
                          <a16:colId xmlns:a16="http://schemas.microsoft.com/office/drawing/2014/main" val="4282490237"/>
                        </a:ext>
                      </a:extLst>
                    </a:gridCol>
                    <a:gridCol w="2693277">
                      <a:extLst>
                        <a:ext uri="{9D8B030D-6E8A-4147-A177-3AD203B41FA5}">
                          <a16:colId xmlns:a16="http://schemas.microsoft.com/office/drawing/2014/main" val="3886840435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endParaRPr lang="de-DE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de-DE"/>
                        </a:p>
                      </a:txBody>
                      <a:tcPr>
                        <a:blipFill>
                          <a:blip r:embed="rId3"/>
                          <a:stretch>
                            <a:fillRect l="-100000" r="-939" b="-53448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67002139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de-DE" dirty="0" err="1"/>
                            <a:t>air</a:t>
                          </a:r>
                          <a:endParaRPr lang="de-DE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de-DE"/>
                        </a:p>
                      </a:txBody>
                      <a:tcPr>
                        <a:blipFill>
                          <a:blip r:embed="rId3"/>
                          <a:stretch>
                            <a:fillRect l="-100000" t="-96667" r="-939" b="-41666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79615352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de-DE" dirty="0" err="1"/>
                            <a:t>water</a:t>
                          </a:r>
                          <a:endParaRPr lang="de-DE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de-DE"/>
                        </a:p>
                      </a:txBody>
                      <a:tcPr>
                        <a:blipFill>
                          <a:blip r:embed="rId3"/>
                          <a:stretch>
                            <a:fillRect l="-100000" t="-203448" r="-939" b="-33103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64255727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de-DE" dirty="0" err="1"/>
                            <a:t>glass</a:t>
                          </a:r>
                          <a:endParaRPr lang="de-DE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de-DE"/>
                        </a:p>
                      </a:txBody>
                      <a:tcPr>
                        <a:blipFill>
                          <a:blip r:embed="rId3"/>
                          <a:stretch>
                            <a:fillRect l="-100000" t="-303448" r="-939" b="-23103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9886107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de-DE" dirty="0" err="1"/>
                            <a:t>plastics</a:t>
                          </a:r>
                          <a:r>
                            <a:rPr lang="de-DE" dirty="0"/>
                            <a:t> / </a:t>
                          </a:r>
                          <a:r>
                            <a:rPr lang="de-DE" dirty="0" err="1"/>
                            <a:t>polymers</a:t>
                          </a:r>
                          <a:endParaRPr lang="de-DE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de-DE"/>
                        </a:p>
                      </a:txBody>
                      <a:tcPr>
                        <a:blipFill>
                          <a:blip r:embed="rId3"/>
                          <a:stretch>
                            <a:fillRect l="-100000" t="-390000" r="-939" b="-12333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8057011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de-DE" dirty="0" err="1"/>
                            <a:t>ferroelectric</a:t>
                          </a:r>
                          <a:r>
                            <a:rPr lang="de-DE" dirty="0"/>
                            <a:t> </a:t>
                          </a:r>
                          <a:r>
                            <a:rPr lang="de-DE" dirty="0" err="1"/>
                            <a:t>ceramics</a:t>
                          </a:r>
                          <a:endParaRPr lang="de-DE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de-DE" dirty="0" err="1"/>
                            <a:t>up</a:t>
                          </a:r>
                          <a:r>
                            <a:rPr lang="de-DE" dirty="0"/>
                            <a:t> </a:t>
                          </a:r>
                          <a:r>
                            <a:rPr lang="de-DE" dirty="0" err="1"/>
                            <a:t>to</a:t>
                          </a:r>
                          <a:r>
                            <a:rPr lang="de-DE" dirty="0"/>
                            <a:t> </a:t>
                          </a:r>
                          <a:r>
                            <a:rPr lang="de-DE" dirty="0" err="1"/>
                            <a:t>several</a:t>
                          </a:r>
                          <a:r>
                            <a:rPr lang="de-DE" dirty="0"/>
                            <a:t> </a:t>
                          </a:r>
                          <a:r>
                            <a:rPr lang="de-DE" dirty="0" err="1"/>
                            <a:t>thousand</a:t>
                          </a:r>
                          <a:endParaRPr lang="de-DE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145747775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255061290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7619F64-8081-3325-1DA2-C5841B6AC7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Gauss‘s</a:t>
            </a:r>
            <a:r>
              <a:rPr lang="de-DE" dirty="0"/>
              <a:t> Law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Inhaltsplatzhalter 2">
                <a:extLst>
                  <a:ext uri="{FF2B5EF4-FFF2-40B4-BE49-F238E27FC236}">
                    <a16:creationId xmlns:a16="http://schemas.microsoft.com/office/drawing/2014/main" id="{C3D7F540-A6CC-9BD1-D409-062BBB05227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de-DE" sz="2400" dirty="0"/>
                  <a:t>surface integral </a:t>
                </a:r>
                <a:r>
                  <a:rPr lang="de-DE" sz="2400" dirty="0" err="1"/>
                  <a:t>over</a:t>
                </a:r>
                <a:r>
                  <a:rPr lang="de-DE" sz="2400" dirty="0"/>
                  <a:t> </a:t>
                </a:r>
                <a:r>
                  <a:rPr lang="de-DE" sz="2400" dirty="0" err="1"/>
                  <a:t>electric</a:t>
                </a:r>
                <a:r>
                  <a:rPr lang="de-DE" sz="2400" dirty="0"/>
                  <a:t> </a:t>
                </a:r>
                <a:r>
                  <a:rPr lang="de-DE" sz="2400" dirty="0" err="1"/>
                  <a:t>displacement</a:t>
                </a:r>
                <a:r>
                  <a:rPr lang="de-DE" sz="2400" dirty="0"/>
                  <a:t> </a:t>
                </a:r>
                <a:r>
                  <a:rPr lang="de-DE" sz="2400" dirty="0" err="1"/>
                  <a:t>yields</a:t>
                </a:r>
                <a:r>
                  <a:rPr lang="de-DE" sz="2400" dirty="0"/>
                  <a:t> </a:t>
                </a:r>
                <a:r>
                  <a:rPr lang="de-DE" sz="2400" dirty="0" err="1"/>
                  <a:t>sum</a:t>
                </a:r>
                <a:r>
                  <a:rPr lang="de-DE" sz="2400" dirty="0"/>
                  <a:t> </a:t>
                </a:r>
                <a:r>
                  <a:rPr lang="de-DE" sz="2400" dirty="0" err="1"/>
                  <a:t>of</a:t>
                </a:r>
                <a:r>
                  <a:rPr lang="de-DE" sz="2400" dirty="0"/>
                  <a:t> </a:t>
                </a:r>
                <a:r>
                  <a:rPr lang="de-DE" sz="2400" dirty="0" err="1"/>
                  <a:t>enclosed</a:t>
                </a:r>
                <a:r>
                  <a:rPr lang="de-DE" sz="2400" dirty="0"/>
                  <a:t> </a:t>
                </a:r>
                <a:r>
                  <a:rPr lang="de-DE" sz="2400" dirty="0" err="1"/>
                  <a:t>charges</a:t>
                </a:r>
                <a:r>
                  <a:rPr lang="de-DE" sz="2400" dirty="0"/>
                  <a:t>:</a:t>
                </a:r>
              </a:p>
              <a:p>
                <a:pPr marL="0" indent="0">
                  <a:buNone/>
                </a:pPr>
                <a:endParaRPr lang="de-DE" sz="24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∯"/>
                          <m:limLoc m:val="undOvr"/>
                          <m:subHide m:val="on"/>
                          <m:supHide m:val="on"/>
                          <m:ctrlPr>
                            <a:rPr lang="de-DE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acc>
                            <m:accPr>
                              <m:chr m:val="⃑"/>
                              <m:ctrlPr>
                                <a:rPr lang="de-DE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de-DE" i="1">
                                  <a:latin typeface="Cambria Math" panose="02040503050406030204" pitchFamily="18" charset="0"/>
                                </a:rPr>
                                <m:t>𝐷</m:t>
                              </m:r>
                            </m:e>
                          </m:acc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𝑑</m:t>
                          </m:r>
                          <m:acc>
                            <m:accPr>
                              <m:chr m:val="⃑"/>
                              <m:ctrlPr>
                                <a:rPr lang="de-DE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de-DE" i="1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</m:acc>
                        </m:e>
                      </m:nary>
                      <m:r>
                        <a:rPr lang="de-DE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de-DE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de-DE">
                              <a:latin typeface="Cambria Math" panose="02040503050406030204" pitchFamily="18" charset="0"/>
                            </a:rPr>
                            <m:t>free</m:t>
                          </m:r>
                        </m:sub>
                      </m:sSub>
                    </m:oMath>
                  </m:oMathPara>
                </a14:m>
                <a:endParaRPr lang="de-DE" sz="2400" dirty="0"/>
              </a:p>
              <a:p>
                <a:pPr marL="0" indent="0">
                  <a:buNone/>
                </a:pPr>
                <a:endParaRPr lang="de-DE" sz="2400" dirty="0"/>
              </a:p>
              <a:p>
                <a:pPr marL="0" indent="0">
                  <a:buNone/>
                </a:pPr>
                <a:r>
                  <a:rPr lang="de-DE" sz="2400" dirty="0"/>
                  <a:t>differential form (</a:t>
                </a:r>
                <a:r>
                  <a:rPr lang="de-DE" sz="2400" dirty="0" err="1"/>
                  <a:t>equivalent</a:t>
                </a:r>
                <a:r>
                  <a:rPr lang="de-DE" sz="2400" dirty="0"/>
                  <a:t> </a:t>
                </a:r>
                <a:r>
                  <a:rPr lang="de-DE" sz="2400" dirty="0" err="1"/>
                  <a:t>to</a:t>
                </a:r>
                <a:r>
                  <a:rPr lang="de-DE" sz="2400" dirty="0"/>
                  <a:t> integral form):</a:t>
                </a:r>
              </a:p>
              <a:p>
                <a:pPr marL="0" indent="0">
                  <a:buNone/>
                </a:pPr>
                <a:endParaRPr lang="de-DE" sz="24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de-DE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∇</m:t>
                      </m:r>
                      <m:r>
                        <a:rPr lang="de-DE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acc>
                        <m:accPr>
                          <m:chr m:val="⃑"/>
                          <m:ctrlPr>
                            <a:rPr lang="de-DE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</m:acc>
                      <m:r>
                        <a:rPr lang="de-DE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de-DE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𝜌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de-DE" b="0" i="0" smtClean="0">
                              <a:latin typeface="Cambria Math" panose="02040503050406030204" pitchFamily="18" charset="0"/>
                            </a:rPr>
                            <m:t>free</m:t>
                          </m:r>
                        </m:sub>
                      </m:sSub>
                    </m:oMath>
                  </m:oMathPara>
                </a14:m>
                <a:endParaRPr lang="de-DE" dirty="0"/>
              </a:p>
            </p:txBody>
          </p:sp>
        </mc:Choice>
        <mc:Fallback xmlns="">
          <p:sp>
            <p:nvSpPr>
              <p:cNvPr id="3" name="Inhaltsplatzhalter 2">
                <a:extLst>
                  <a:ext uri="{FF2B5EF4-FFF2-40B4-BE49-F238E27FC236}">
                    <a16:creationId xmlns:a16="http://schemas.microsoft.com/office/drawing/2014/main" id="{C3D7F540-A6CC-9BD1-D409-062BBB05227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65" t="-23547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254C9A88-0E24-72F8-4645-12331553C2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03FC7C-1F2C-4946-B702-1A52A755583B}" type="slidenum">
              <a:rPr lang="de-DE" smtClean="0"/>
              <a:t>11</a:t>
            </a:fld>
            <a:endParaRPr lang="de-DE"/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1ABA1CCC-5AD3-614C-36A1-B089D4DFF543}"/>
              </a:ext>
            </a:extLst>
          </p:cNvPr>
          <p:cNvSpPr txBox="1"/>
          <p:nvPr/>
        </p:nvSpPr>
        <p:spPr>
          <a:xfrm>
            <a:off x="7240315" y="5957948"/>
            <a:ext cx="16474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 err="1"/>
              <a:t>charge</a:t>
            </a:r>
            <a:r>
              <a:rPr lang="de-DE" dirty="0"/>
              <a:t> </a:t>
            </a:r>
            <a:r>
              <a:rPr lang="de-DE" dirty="0" err="1"/>
              <a:t>density</a:t>
            </a:r>
            <a:endParaRPr lang="de-DE" dirty="0"/>
          </a:p>
        </p:txBody>
      </p:sp>
      <p:cxnSp>
        <p:nvCxnSpPr>
          <p:cNvPr id="7" name="Gerade Verbindung mit Pfeil 6">
            <a:extLst>
              <a:ext uri="{FF2B5EF4-FFF2-40B4-BE49-F238E27FC236}">
                <a16:creationId xmlns:a16="http://schemas.microsoft.com/office/drawing/2014/main" id="{7A550F01-4534-6651-09A6-98C6EA0D67BD}"/>
              </a:ext>
            </a:extLst>
          </p:cNvPr>
          <p:cNvCxnSpPr>
            <a:cxnSpLocks/>
            <a:stCxn id="5" idx="1"/>
          </p:cNvCxnSpPr>
          <p:nvPr/>
        </p:nvCxnSpPr>
        <p:spPr>
          <a:xfrm flipH="1" flipV="1">
            <a:off x="6495393" y="5475890"/>
            <a:ext cx="744922" cy="66672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feld 8">
                <a:extLst>
                  <a:ext uri="{FF2B5EF4-FFF2-40B4-BE49-F238E27FC236}">
                    <a16:creationId xmlns:a16="http://schemas.microsoft.com/office/drawing/2014/main" id="{A4BEC89C-9EE8-14AD-353E-12C9B1BF8329}"/>
                  </a:ext>
                </a:extLst>
              </p:cNvPr>
              <p:cNvSpPr txBox="1"/>
              <p:nvPr/>
            </p:nvSpPr>
            <p:spPr>
              <a:xfrm>
                <a:off x="8043042" y="3429000"/>
                <a:ext cx="2850931" cy="64633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de-DE" dirty="0"/>
                  <a:t>free </a:t>
                </a:r>
                <a:r>
                  <a:rPr lang="de-DE" dirty="0" err="1"/>
                  <a:t>charges</a:t>
                </a:r>
                <a:r>
                  <a:rPr lang="de-DE" dirty="0"/>
                  <a:t> </a:t>
                </a:r>
                <a:r>
                  <a:rPr lang="de-DE" dirty="0" err="1"/>
                  <a:t>only</a:t>
                </a:r>
                <a:r>
                  <a:rPr lang="de-DE" dirty="0"/>
                  <a:t> (</a:t>
                </a:r>
                <a:r>
                  <a:rPr lang="de-DE" dirty="0" err="1"/>
                  <a:t>polarization</a:t>
                </a:r>
                <a:r>
                  <a:rPr lang="de-DE" dirty="0"/>
                  <a:t> </a:t>
                </a:r>
                <a:r>
                  <a:rPr lang="de-DE" dirty="0" err="1"/>
                  <a:t>included</a:t>
                </a:r>
                <a:r>
                  <a:rPr lang="de-DE" dirty="0"/>
                  <a:t> in </a:t>
                </a:r>
                <a14:m>
                  <m:oMath xmlns:m="http://schemas.openxmlformats.org/officeDocument/2006/math">
                    <m:r>
                      <a:rPr lang="de-DE" i="1"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r>
                  <a:rPr lang="de-DE" dirty="0"/>
                  <a:t>)</a:t>
                </a:r>
              </a:p>
            </p:txBody>
          </p:sp>
        </mc:Choice>
        <mc:Fallback xmlns="">
          <p:sp>
            <p:nvSpPr>
              <p:cNvPr id="9" name="Textfeld 8">
                <a:extLst>
                  <a:ext uri="{FF2B5EF4-FFF2-40B4-BE49-F238E27FC236}">
                    <a16:creationId xmlns:a16="http://schemas.microsoft.com/office/drawing/2014/main" id="{A4BEC89C-9EE8-14AD-353E-12C9B1BF832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43042" y="3429000"/>
                <a:ext cx="2850931" cy="646331"/>
              </a:xfrm>
              <a:prstGeom prst="rect">
                <a:avLst/>
              </a:prstGeom>
              <a:blipFill>
                <a:blip r:embed="rId3"/>
                <a:stretch>
                  <a:fillRect l="-1778" t="-5769" r="-889" b="-11538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3" name="Gerade Verbindung mit Pfeil 12">
            <a:extLst>
              <a:ext uri="{FF2B5EF4-FFF2-40B4-BE49-F238E27FC236}">
                <a16:creationId xmlns:a16="http://schemas.microsoft.com/office/drawing/2014/main" id="{A14013FC-E034-7138-2E0D-8A0E54E7F605}"/>
              </a:ext>
            </a:extLst>
          </p:cNvPr>
          <p:cNvCxnSpPr/>
          <p:nvPr/>
        </p:nvCxnSpPr>
        <p:spPr>
          <a:xfrm flipH="1" flipV="1">
            <a:off x="7126014" y="3331779"/>
            <a:ext cx="938049" cy="39939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feld 13">
            <a:extLst>
              <a:ext uri="{FF2B5EF4-FFF2-40B4-BE49-F238E27FC236}">
                <a16:creationId xmlns:a16="http://schemas.microsoft.com/office/drawing/2014/main" id="{5C8A4991-1FD2-77B3-83C4-74D1B05D6D01}"/>
              </a:ext>
            </a:extLst>
          </p:cNvPr>
          <p:cNvSpPr txBox="1"/>
          <p:nvPr/>
        </p:nvSpPr>
        <p:spPr>
          <a:xfrm>
            <a:off x="3683325" y="5957948"/>
            <a:ext cx="12683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 err="1"/>
              <a:t>divergence</a:t>
            </a:r>
            <a:endParaRPr lang="de-DE" dirty="0"/>
          </a:p>
        </p:txBody>
      </p:sp>
      <p:cxnSp>
        <p:nvCxnSpPr>
          <p:cNvPr id="16" name="Gerade Verbindung mit Pfeil 15">
            <a:extLst>
              <a:ext uri="{FF2B5EF4-FFF2-40B4-BE49-F238E27FC236}">
                <a16:creationId xmlns:a16="http://schemas.microsoft.com/office/drawing/2014/main" id="{825D1B1D-168D-A215-ABB6-403CC2F9966F}"/>
              </a:ext>
            </a:extLst>
          </p:cNvPr>
          <p:cNvCxnSpPr>
            <a:cxnSpLocks/>
            <a:stCxn id="14" idx="0"/>
          </p:cNvCxnSpPr>
          <p:nvPr/>
        </p:nvCxnSpPr>
        <p:spPr>
          <a:xfrm flipV="1">
            <a:off x="4317506" y="5328745"/>
            <a:ext cx="822053" cy="62920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4203891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5068497-E009-BC8D-C95F-BC96F75560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Plate </a:t>
            </a:r>
            <a:r>
              <a:rPr lang="de-DE" dirty="0" err="1"/>
              <a:t>Capacitor</a:t>
            </a:r>
            <a:endParaRPr lang="de-DE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Inhaltsplatzhalter 2">
                <a:extLst>
                  <a:ext uri="{FF2B5EF4-FFF2-40B4-BE49-F238E27FC236}">
                    <a16:creationId xmlns:a16="http://schemas.microsoft.com/office/drawing/2014/main" id="{161E870D-C52D-A617-DC93-C992C66D4F8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6426200" cy="3419037"/>
              </a:xfrm>
            </p:spPr>
            <p:txBody>
              <a:bodyPr/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i="1" smtClean="0">
                          <a:latin typeface="Cambria Math" panose="02040503050406030204" pitchFamily="18" charset="0"/>
                        </a:rPr>
                        <m:t>𝐷</m:t>
                      </m:r>
                      <m:r>
                        <a:rPr lang="de-DE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de-DE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𝑄</m:t>
                          </m:r>
                        </m:num>
                        <m:den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𝐴</m:t>
                          </m:r>
                        </m:den>
                      </m:f>
                    </m:oMath>
                  </m:oMathPara>
                </a14:m>
                <a:endParaRPr lang="de-DE" dirty="0"/>
              </a:p>
              <a:p>
                <a:pPr marL="0" indent="0">
                  <a:buNone/>
                </a:pPr>
                <a:endParaRPr lang="de-DE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𝜀</m:t>
                          </m:r>
                        </m:e>
                        <m:sub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de-DE" i="1">
                          <a:latin typeface="Cambria Math" panose="02040503050406030204" pitchFamily="18" charset="0"/>
                        </a:rPr>
                        <m:t>∙</m:t>
                      </m:r>
                      <m:sSub>
                        <m:sSubPr>
                          <m:ctrlPr>
                            <a:rPr lang="de-DE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𝜀</m:t>
                          </m:r>
                        </m:e>
                        <m:sub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𝑟</m:t>
                          </m:r>
                        </m:sub>
                      </m:sSub>
                      <m:r>
                        <a:rPr lang="de-DE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r>
                        <a:rPr lang="de-DE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𝐸</m:t>
                      </m:r>
                      <m:r>
                        <a:rPr lang="de-DE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r>
                        <a:rPr lang="de-DE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𝑑</m:t>
                      </m:r>
                      <m:r>
                        <a:rPr lang="de-DE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de-DE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𝑄</m:t>
                          </m:r>
                        </m:num>
                        <m:den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den>
                      </m:f>
                      <m:r>
                        <a:rPr lang="de-DE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r>
                        <a:rPr lang="de-DE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𝑑</m:t>
                      </m:r>
                    </m:oMath>
                  </m:oMathPara>
                </a14:m>
                <a:endParaRPr lang="de-DE" b="0" dirty="0"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:endParaRPr lang="de-DE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de-DE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de-DE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e-DE" i="1">
                                  <a:latin typeface="Cambria Math" panose="02040503050406030204" pitchFamily="18" charset="0"/>
                                </a:rPr>
                                <m:t>𝜀</m:t>
                              </m:r>
                            </m:e>
                            <m:sub>
                              <m:r>
                                <a:rPr lang="de-DE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∙</m:t>
                          </m:r>
                          <m:sSub>
                            <m:sSubPr>
                              <m:ctrlPr>
                                <a:rPr lang="de-DE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e-DE" i="1">
                                  <a:latin typeface="Cambria Math" panose="02040503050406030204" pitchFamily="18" charset="0"/>
                                </a:rPr>
                                <m:t>𝜀</m:t>
                              </m:r>
                            </m:e>
                            <m:sub>
                              <m:r>
                                <a:rPr lang="de-DE" i="1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sub>
                          </m:sSub>
                          <m:r>
                            <a:rPr lang="de-DE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∙</m:t>
                          </m:r>
                          <m:r>
                            <a:rPr lang="de-DE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𝐴</m:t>
                          </m:r>
                        </m:num>
                        <m:den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den>
                      </m:f>
                      <m:r>
                        <a:rPr lang="de-DE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r>
                        <a:rPr lang="de-DE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𝑉</m:t>
                      </m:r>
                      <m:r>
                        <a:rPr lang="de-DE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de-DE" b="0" i="1" smtClean="0">
                          <a:latin typeface="Cambria Math" panose="02040503050406030204" pitchFamily="18" charset="0"/>
                        </a:rPr>
                        <m:t>𝑄</m:t>
                      </m:r>
                    </m:oMath>
                  </m:oMathPara>
                </a14:m>
                <a:endParaRPr lang="de-DE" dirty="0"/>
              </a:p>
            </p:txBody>
          </p:sp>
        </mc:Choice>
        <mc:Fallback xmlns="">
          <p:sp>
            <p:nvSpPr>
              <p:cNvPr id="3" name="Inhaltsplatzhalter 2">
                <a:extLst>
                  <a:ext uri="{FF2B5EF4-FFF2-40B4-BE49-F238E27FC236}">
                    <a16:creationId xmlns:a16="http://schemas.microsoft.com/office/drawing/2014/main" id="{161E870D-C52D-A617-DC93-C992C66D4F8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6426200" cy="3419037"/>
              </a:xfrm>
              <a:blipFill>
                <a:blip r:embed="rId2"/>
                <a:stretch>
                  <a:fillRect t="-1111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EAE166A5-3591-0825-1474-BB0A5845B0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03FC7C-1F2C-4946-B702-1A52A755583B}" type="slidenum">
              <a:rPr lang="de-DE" smtClean="0"/>
              <a:t>12</a:t>
            </a:fld>
            <a:endParaRPr lang="de-DE"/>
          </a:p>
        </p:txBody>
      </p:sp>
      <p:pic>
        <p:nvPicPr>
          <p:cNvPr id="6" name="Grafik 5">
            <a:extLst>
              <a:ext uri="{FF2B5EF4-FFF2-40B4-BE49-F238E27FC236}">
                <a16:creationId xmlns:a16="http://schemas.microsoft.com/office/drawing/2014/main" id="{57E15BDD-AC7E-4175-BAA4-87C024DB536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264400" y="1825625"/>
            <a:ext cx="4089400" cy="4495800"/>
          </a:xfrm>
          <a:prstGeom prst="rect">
            <a:avLst/>
          </a:prstGeom>
        </p:spPr>
      </p:pic>
      <p:sp>
        <p:nvSpPr>
          <p:cNvPr id="7" name="Textfeld 6">
            <a:extLst>
              <a:ext uri="{FF2B5EF4-FFF2-40B4-BE49-F238E27FC236}">
                <a16:creationId xmlns:a16="http://schemas.microsoft.com/office/drawing/2014/main" id="{0BAAD2B6-0618-B492-E5F8-1F234AE9FD64}"/>
              </a:ext>
            </a:extLst>
          </p:cNvPr>
          <p:cNvSpPr txBox="1"/>
          <p:nvPr/>
        </p:nvSpPr>
        <p:spPr>
          <a:xfrm>
            <a:off x="5638800" y="2974427"/>
            <a:ext cx="65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endParaRPr lang="de-DE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feld 8">
                <a:extLst>
                  <a:ext uri="{FF2B5EF4-FFF2-40B4-BE49-F238E27FC236}">
                    <a16:creationId xmlns:a16="http://schemas.microsoft.com/office/drawing/2014/main" id="{E019DE96-9B27-CD77-2934-C109F48D4927}"/>
                  </a:ext>
                </a:extLst>
              </p:cNvPr>
              <p:cNvSpPr txBox="1"/>
              <p:nvPr/>
            </p:nvSpPr>
            <p:spPr>
              <a:xfrm>
                <a:off x="3247691" y="5661572"/>
                <a:ext cx="2984939" cy="113877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de-DE" sz="2800" b="0" i="1" smtClean="0">
                          <a:latin typeface="Cambria Math" panose="02040503050406030204" pitchFamily="18" charset="0"/>
                        </a:rPr>
                        <m:t>𝐶</m:t>
                      </m:r>
                    </m:oMath>
                  </m:oMathPara>
                </a14:m>
                <a:endParaRPr lang="de-DE" sz="2800" dirty="0"/>
              </a:p>
              <a:p>
                <a:r>
                  <a:rPr lang="de-DE" sz="2000" dirty="0"/>
                  <a:t>(</a:t>
                </a:r>
                <a:r>
                  <a:rPr lang="de-DE" sz="2000" dirty="0" err="1"/>
                  <a:t>depends</a:t>
                </a:r>
                <a:r>
                  <a:rPr lang="de-DE" sz="2000" dirty="0"/>
                  <a:t> </a:t>
                </a:r>
                <a:r>
                  <a:rPr lang="de-DE" sz="2000" dirty="0" err="1"/>
                  <a:t>only</a:t>
                </a:r>
                <a:r>
                  <a:rPr lang="de-DE" sz="2000" dirty="0"/>
                  <a:t> on </a:t>
                </a:r>
                <a:r>
                  <a:rPr lang="de-DE" sz="2000" dirty="0" err="1"/>
                  <a:t>geometry</a:t>
                </a:r>
                <a:r>
                  <a:rPr lang="de-DE" sz="2000" dirty="0"/>
                  <a:t> and </a:t>
                </a:r>
                <a:r>
                  <a:rPr lang="de-DE" sz="2000" dirty="0" err="1"/>
                  <a:t>dielectric</a:t>
                </a:r>
                <a:r>
                  <a:rPr lang="de-DE" sz="2000" dirty="0"/>
                  <a:t>)</a:t>
                </a:r>
              </a:p>
            </p:txBody>
          </p:sp>
        </mc:Choice>
        <mc:Fallback xmlns="">
          <p:sp>
            <p:nvSpPr>
              <p:cNvPr id="9" name="Textfeld 8">
                <a:extLst>
                  <a:ext uri="{FF2B5EF4-FFF2-40B4-BE49-F238E27FC236}">
                    <a16:creationId xmlns:a16="http://schemas.microsoft.com/office/drawing/2014/main" id="{E019DE96-9B27-CD77-2934-C109F48D492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47691" y="5661572"/>
                <a:ext cx="2984939" cy="1138773"/>
              </a:xfrm>
              <a:prstGeom prst="rect">
                <a:avLst/>
              </a:prstGeom>
              <a:blipFill>
                <a:blip r:embed="rId5"/>
                <a:stretch>
                  <a:fillRect l="-2119" b="-8791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Geschweifte Klammer rechts 9">
            <a:extLst>
              <a:ext uri="{FF2B5EF4-FFF2-40B4-BE49-F238E27FC236}">
                <a16:creationId xmlns:a16="http://schemas.microsoft.com/office/drawing/2014/main" id="{705730C0-E282-9C2B-71EA-4D2306A5264D}"/>
              </a:ext>
            </a:extLst>
          </p:cNvPr>
          <p:cNvSpPr/>
          <p:nvPr/>
        </p:nvSpPr>
        <p:spPr>
          <a:xfrm rot="5400000">
            <a:off x="3311477" y="4757291"/>
            <a:ext cx="303101" cy="1445303"/>
          </a:xfrm>
          <a:prstGeom prst="righ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1" name="Textfeld 10">
            <a:extLst>
              <a:ext uri="{FF2B5EF4-FFF2-40B4-BE49-F238E27FC236}">
                <a16:creationId xmlns:a16="http://schemas.microsoft.com/office/drawing/2014/main" id="{A7FD5930-17FC-EC2E-5161-FE2339D10756}"/>
              </a:ext>
            </a:extLst>
          </p:cNvPr>
          <p:cNvSpPr txBox="1"/>
          <p:nvPr/>
        </p:nvSpPr>
        <p:spPr>
          <a:xfrm>
            <a:off x="8065766" y="365125"/>
            <a:ext cx="388830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 err="1"/>
              <a:t>polarization</a:t>
            </a:r>
            <a:r>
              <a:rPr lang="de-DE" dirty="0"/>
              <a:t> </a:t>
            </a:r>
            <a:r>
              <a:rPr lang="de-DE" dirty="0" err="1"/>
              <a:t>counteracts</a:t>
            </a:r>
            <a:r>
              <a:rPr lang="de-DE" dirty="0"/>
              <a:t> </a:t>
            </a:r>
            <a:r>
              <a:rPr lang="de-DE" dirty="0" err="1"/>
              <a:t>electric</a:t>
            </a:r>
            <a:r>
              <a:rPr lang="de-DE" dirty="0"/>
              <a:t> </a:t>
            </a:r>
            <a:r>
              <a:rPr lang="de-DE" dirty="0" err="1"/>
              <a:t>field</a:t>
            </a:r>
            <a:endParaRPr lang="de-DE" dirty="0"/>
          </a:p>
          <a:p>
            <a:r>
              <a:rPr lang="de-DE" dirty="0">
                <a:sym typeface="Wingdings" pitchFamily="2" charset="2"/>
              </a:rPr>
              <a:t> </a:t>
            </a:r>
            <a:r>
              <a:rPr lang="de-DE" dirty="0" err="1">
                <a:sym typeface="Wingdings" pitchFamily="2" charset="2"/>
              </a:rPr>
              <a:t>more</a:t>
            </a:r>
            <a:r>
              <a:rPr lang="de-DE" dirty="0">
                <a:sym typeface="Wingdings" pitchFamily="2" charset="2"/>
              </a:rPr>
              <a:t> </a:t>
            </a:r>
            <a:r>
              <a:rPr lang="de-DE" dirty="0" err="1">
                <a:sym typeface="Wingdings" pitchFamily="2" charset="2"/>
              </a:rPr>
              <a:t>charge</a:t>
            </a:r>
            <a:r>
              <a:rPr lang="de-DE" dirty="0">
                <a:sym typeface="Wingdings" pitchFamily="2" charset="2"/>
              </a:rPr>
              <a:t> </a:t>
            </a:r>
            <a:r>
              <a:rPr lang="de-DE" dirty="0" err="1">
                <a:sym typeface="Wingdings" pitchFamily="2" charset="2"/>
              </a:rPr>
              <a:t>can</a:t>
            </a:r>
            <a:r>
              <a:rPr lang="de-DE" dirty="0">
                <a:sym typeface="Wingdings" pitchFamily="2" charset="2"/>
              </a:rPr>
              <a:t> </a:t>
            </a:r>
            <a:r>
              <a:rPr lang="de-DE" dirty="0" err="1">
                <a:sym typeface="Wingdings" pitchFamily="2" charset="2"/>
              </a:rPr>
              <a:t>be</a:t>
            </a:r>
            <a:r>
              <a:rPr lang="de-DE" dirty="0">
                <a:sym typeface="Wingdings" pitchFamily="2" charset="2"/>
              </a:rPr>
              <a:t> </a:t>
            </a:r>
            <a:r>
              <a:rPr lang="de-DE" dirty="0" err="1">
                <a:sym typeface="Wingdings" pitchFamily="2" charset="2"/>
              </a:rPr>
              <a:t>stored</a:t>
            </a:r>
            <a:endParaRPr lang="de-DE" dirty="0"/>
          </a:p>
        </p:txBody>
      </p:sp>
      <p:cxnSp>
        <p:nvCxnSpPr>
          <p:cNvPr id="13" name="Gerade Verbindung mit Pfeil 12">
            <a:extLst>
              <a:ext uri="{FF2B5EF4-FFF2-40B4-BE49-F238E27FC236}">
                <a16:creationId xmlns:a16="http://schemas.microsoft.com/office/drawing/2014/main" id="{CFF20A85-0D30-D171-CBE4-EF836B1C2B8E}"/>
              </a:ext>
            </a:extLst>
          </p:cNvPr>
          <p:cNvCxnSpPr>
            <a:cxnSpLocks/>
            <a:stCxn id="11" idx="2"/>
          </p:cNvCxnSpPr>
          <p:nvPr/>
        </p:nvCxnSpPr>
        <p:spPr>
          <a:xfrm flipH="1">
            <a:off x="9396248" y="1011456"/>
            <a:ext cx="613673" cy="90142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8309792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CFFFB3F-982C-1933-01A9-D3CD8FABDC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Capacitance</a:t>
            </a:r>
            <a:endParaRPr lang="de-DE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Inhaltsplatzhalter 2">
                <a:extLst>
                  <a:ext uri="{FF2B5EF4-FFF2-40B4-BE49-F238E27FC236}">
                    <a16:creationId xmlns:a16="http://schemas.microsoft.com/office/drawing/2014/main" id="{63AAE5C6-D481-F824-A13D-E378EFBAB58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de-DE" dirty="0" err="1"/>
                  <a:t>measure</a:t>
                </a:r>
                <a:r>
                  <a:rPr lang="de-DE" dirty="0"/>
                  <a:t> </a:t>
                </a:r>
                <a:r>
                  <a:rPr lang="de-DE" dirty="0" err="1"/>
                  <a:t>of</a:t>
                </a:r>
                <a:r>
                  <a:rPr lang="de-DE" dirty="0"/>
                  <a:t> a </a:t>
                </a:r>
                <a:r>
                  <a:rPr lang="de-DE" dirty="0" err="1"/>
                  <a:t>system’s</a:t>
                </a:r>
                <a:r>
                  <a:rPr lang="de-DE" dirty="0"/>
                  <a:t> </a:t>
                </a:r>
                <a:r>
                  <a:rPr lang="de-DE" dirty="0" err="1"/>
                  <a:t>ability</a:t>
                </a:r>
                <a:r>
                  <a:rPr lang="de-DE" dirty="0"/>
                  <a:t> </a:t>
                </a:r>
                <a:r>
                  <a:rPr lang="de-DE" dirty="0" err="1"/>
                  <a:t>to</a:t>
                </a:r>
                <a:r>
                  <a:rPr lang="de-DE" dirty="0"/>
                  <a:t> </a:t>
                </a:r>
                <a:r>
                  <a:rPr lang="de-DE" dirty="0" err="1"/>
                  <a:t>store</a:t>
                </a:r>
                <a:r>
                  <a:rPr lang="de-DE" dirty="0"/>
                  <a:t> </a:t>
                </a:r>
                <a:r>
                  <a:rPr lang="de-DE" dirty="0" err="1"/>
                  <a:t>electric</a:t>
                </a:r>
                <a:r>
                  <a:rPr lang="de-DE" dirty="0"/>
                  <a:t> </a:t>
                </a:r>
                <a:r>
                  <a:rPr lang="de-DE" dirty="0" err="1"/>
                  <a:t>charge</a:t>
                </a:r>
                <a:r>
                  <a:rPr lang="de-DE" dirty="0"/>
                  <a:t>, </a:t>
                </a:r>
                <a:r>
                  <a:rPr lang="de-DE" dirty="0" err="1"/>
                  <a:t>for</a:t>
                </a:r>
                <a:r>
                  <a:rPr lang="de-DE" dirty="0"/>
                  <a:t> a </a:t>
                </a:r>
                <a:r>
                  <a:rPr lang="de-DE" dirty="0" err="1"/>
                  <a:t>given</a:t>
                </a:r>
                <a:r>
                  <a:rPr lang="de-DE" dirty="0"/>
                  <a:t> potential </a:t>
                </a:r>
                <a:r>
                  <a:rPr lang="de-DE" dirty="0" err="1"/>
                  <a:t>difference</a:t>
                </a:r>
                <a:endParaRPr lang="de-DE" dirty="0"/>
              </a:p>
              <a:p>
                <a:pPr marL="0" indent="0">
                  <a:buNone/>
                </a:pPr>
                <a:endParaRPr lang="de-DE" dirty="0"/>
              </a:p>
              <a:p>
                <a:pPr marL="0" indent="0">
                  <a:buNone/>
                </a:pPr>
                <a:endParaRPr lang="de-DE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i="1">
                          <a:latin typeface="Cambria Math" panose="02040503050406030204" pitchFamily="18" charset="0"/>
                        </a:rPr>
                        <m:t>𝐶</m:t>
                      </m:r>
                      <m:r>
                        <a:rPr lang="de-DE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de-DE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𝑄</m:t>
                          </m:r>
                        </m:num>
                        <m:den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</m:den>
                      </m:f>
                    </m:oMath>
                  </m:oMathPara>
                </a14:m>
                <a:endParaRPr lang="de-DE" dirty="0"/>
              </a:p>
              <a:p>
                <a:pPr marL="0" indent="0">
                  <a:buNone/>
                </a:pPr>
                <a:endParaRPr lang="de-DE" dirty="0"/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de-D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de-DE" i="1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</m:d>
                    <m:r>
                      <a:rPr lang="de-DE" i="1">
                        <a:latin typeface="Cambria Math" panose="02040503050406030204" pitchFamily="18" charset="0"/>
                      </a:rPr>
                      <m:t>=1</m:t>
                    </m:r>
                    <m:f>
                      <m:fPr>
                        <m:ctrlPr>
                          <a:rPr lang="de-DE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de-DE" i="0">
                            <a:latin typeface="Cambria Math" panose="02040503050406030204" pitchFamily="18" charset="0"/>
                          </a:rPr>
                          <m:t>As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de-DE" i="0">
                            <a:latin typeface="Cambria Math" panose="02040503050406030204" pitchFamily="18" charset="0"/>
                          </a:rPr>
                          <m:t>V</m:t>
                        </m:r>
                      </m:den>
                    </m:f>
                    <m:r>
                      <a:rPr lang="de-DE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de-DE" i="1"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de-DE">
                        <a:latin typeface="Cambria Math" panose="02040503050406030204" pitchFamily="18" charset="0"/>
                      </a:rPr>
                      <m:t>F</m:t>
                    </m:r>
                  </m:oMath>
                </a14:m>
                <a:r>
                  <a:rPr lang="de-DE" dirty="0"/>
                  <a:t>	(</a:t>
                </a:r>
                <a:r>
                  <a:rPr lang="de-DE" dirty="0" err="1"/>
                  <a:t>farad</a:t>
                </a:r>
                <a:r>
                  <a:rPr lang="de-DE" dirty="0"/>
                  <a:t>)</a:t>
                </a:r>
              </a:p>
            </p:txBody>
          </p:sp>
        </mc:Choice>
        <mc:Fallback xmlns="">
          <p:sp>
            <p:nvSpPr>
              <p:cNvPr id="3" name="Inhaltsplatzhalter 2">
                <a:extLst>
                  <a:ext uri="{FF2B5EF4-FFF2-40B4-BE49-F238E27FC236}">
                    <a16:creationId xmlns:a16="http://schemas.microsoft.com/office/drawing/2014/main" id="{63AAE5C6-D481-F824-A13D-E378EFBAB58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06" t="-2326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ED01BE73-445F-CCAB-FDC5-17AF38FD94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03FC7C-1F2C-4946-B702-1A52A755583B}" type="slidenum">
              <a:rPr lang="de-DE" smtClean="0"/>
              <a:t>13</a:t>
            </a:fld>
            <a:endParaRPr lang="de-DE"/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480B68C0-5076-50A0-4D3B-A6B533310D64}"/>
              </a:ext>
            </a:extLst>
          </p:cNvPr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27677" y="551787"/>
            <a:ext cx="1926123" cy="9522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510469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590AAE5-D1BA-BE05-CC31-DC22CCF4AB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Time </a:t>
            </a:r>
            <a:r>
              <a:rPr lang="de-DE" dirty="0" err="1"/>
              <a:t>Dependence</a:t>
            </a:r>
            <a:endParaRPr lang="de-DE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Inhaltsplatzhalter 2">
                <a:extLst>
                  <a:ext uri="{FF2B5EF4-FFF2-40B4-BE49-F238E27FC236}">
                    <a16:creationId xmlns:a16="http://schemas.microsoft.com/office/drawing/2014/main" id="{3287AD02-9860-E840-2CB7-7A3597CCBEE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5257800" cy="4351338"/>
              </a:xfrm>
            </p:spPr>
            <p:txBody>
              <a:bodyPr/>
              <a:lstStyle/>
              <a:p>
                <a:pPr marL="0" indent="0">
                  <a:buNone/>
                </a:pPr>
                <a:endParaRPr lang="de-DE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de-DE" b="0" i="1" smtClean="0">
                          <a:latin typeface="Cambria Math" panose="02040503050406030204" pitchFamily="18" charset="0"/>
                        </a:rPr>
                        <m:t>𝑄</m:t>
                      </m:r>
                      <m:r>
                        <a:rPr lang="de-DE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de-DE" i="1">
                          <a:latin typeface="Cambria Math" panose="02040503050406030204" pitchFamily="18" charset="0"/>
                        </a:rPr>
                        <m:t>𝐶</m:t>
                      </m:r>
                      <m:r>
                        <a:rPr lang="de-DE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r>
                        <a:rPr lang="de-DE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𝑉</m:t>
                      </m:r>
                    </m:oMath>
                  </m:oMathPara>
                </a14:m>
                <a:endParaRPr lang="de-DE" b="0" dirty="0"/>
              </a:p>
              <a:p>
                <a:pPr marL="0" indent="0">
                  <a:buNone/>
                </a:pPr>
                <a:endParaRPr lang="de-DE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>
                        <m:fPr>
                          <m:ctrlPr>
                            <a:rPr lang="de-DE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𝑄</m:t>
                          </m:r>
                        </m:num>
                        <m:den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  <m:r>
                        <a:rPr lang="de-DE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de-DE" i="1">
                          <a:latin typeface="Cambria Math" panose="02040503050406030204" pitchFamily="18" charset="0"/>
                        </a:rPr>
                        <m:t>𝐶</m:t>
                      </m:r>
                      <m:r>
                        <a:rPr lang="de-DE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f>
                        <m:fPr>
                          <m:ctrlPr>
                            <a:rPr lang="de-DE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num>
                        <m:den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</m:oMath>
                  </m:oMathPara>
                </a14:m>
                <a:endParaRPr lang="de-DE" dirty="0"/>
              </a:p>
              <a:p>
                <a:pPr marL="0" indent="0">
                  <a:buNone/>
                </a:pPr>
                <a:endParaRPr lang="de-DE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de-DE" i="1"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de-DE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de-DE" i="1">
                          <a:latin typeface="Cambria Math" panose="02040503050406030204" pitchFamily="18" charset="0"/>
                        </a:rPr>
                        <m:t>𝐶</m:t>
                      </m:r>
                      <m:f>
                        <m:fPr>
                          <m:ctrlPr>
                            <a:rPr lang="de-DE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num>
                        <m:den>
                          <m:r>
                            <a:rPr lang="de-DE" i="1" smtClean="0"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</m:oMath>
                  </m:oMathPara>
                </a14:m>
                <a:endParaRPr lang="de-DE" dirty="0"/>
              </a:p>
              <a:p>
                <a:pPr marL="0" indent="0">
                  <a:buNone/>
                </a:pPr>
                <a:endParaRPr lang="de-DE" dirty="0"/>
              </a:p>
            </p:txBody>
          </p:sp>
        </mc:Choice>
        <mc:Fallback xmlns="">
          <p:sp>
            <p:nvSpPr>
              <p:cNvPr id="3" name="Inhaltsplatzhalter 2">
                <a:extLst>
                  <a:ext uri="{FF2B5EF4-FFF2-40B4-BE49-F238E27FC236}">
                    <a16:creationId xmlns:a16="http://schemas.microsoft.com/office/drawing/2014/main" id="{3287AD02-9860-E840-2CB7-7A3597CCBEE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5257800" cy="4351338"/>
              </a:xfrm>
              <a:blipFill>
                <a:blip r:embed="rId2"/>
                <a:stretch>
                  <a:fillRect l="-1446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97EA4A7D-0836-93D3-FE34-C909F1F18D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03FC7C-1F2C-4946-B702-1A52A755583B}" type="slidenum">
              <a:rPr lang="de-DE" smtClean="0"/>
              <a:t>14</a:t>
            </a:fld>
            <a:endParaRPr lang="de-DE"/>
          </a:p>
        </p:txBody>
      </p:sp>
      <p:sp>
        <p:nvSpPr>
          <p:cNvPr id="6" name="Textfeld 5">
            <a:extLst>
              <a:ext uri="{FF2B5EF4-FFF2-40B4-BE49-F238E27FC236}">
                <a16:creationId xmlns:a16="http://schemas.microsoft.com/office/drawing/2014/main" id="{2ACE58CF-693A-4B4B-24EC-02EB26EA900F}"/>
              </a:ext>
            </a:extLst>
          </p:cNvPr>
          <p:cNvSpPr txBox="1"/>
          <p:nvPr/>
        </p:nvSpPr>
        <p:spPr>
          <a:xfrm>
            <a:off x="6096000" y="2410753"/>
            <a:ext cx="5257800" cy="31085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2800" dirty="0" err="1"/>
              <a:t>voltage</a:t>
            </a:r>
            <a:r>
              <a:rPr lang="de-DE" sz="2800" dirty="0"/>
              <a:t> </a:t>
            </a:r>
            <a:r>
              <a:rPr lang="de-DE" sz="2800" dirty="0" err="1"/>
              <a:t>across</a:t>
            </a:r>
            <a:r>
              <a:rPr lang="de-DE" sz="2800" dirty="0"/>
              <a:t> </a:t>
            </a:r>
            <a:r>
              <a:rPr lang="de-DE" sz="2800" dirty="0" err="1"/>
              <a:t>capacity</a:t>
            </a:r>
            <a:r>
              <a:rPr lang="de-DE" sz="2800" dirty="0"/>
              <a:t> </a:t>
            </a:r>
            <a:r>
              <a:rPr lang="de-DE" sz="2800" dirty="0" err="1"/>
              <a:t>is</a:t>
            </a:r>
            <a:r>
              <a:rPr lang="de-DE" sz="2800" dirty="0"/>
              <a:t> </a:t>
            </a:r>
            <a:r>
              <a:rPr lang="de-DE" sz="2800" dirty="0" err="1"/>
              <a:t>continuous</a:t>
            </a:r>
            <a:r>
              <a:rPr lang="de-DE" sz="2800" dirty="0"/>
              <a:t> (</a:t>
            </a:r>
            <a:r>
              <a:rPr lang="de-DE" sz="2800" dirty="0" err="1"/>
              <a:t>since</a:t>
            </a:r>
            <a:r>
              <a:rPr lang="de-DE" sz="2800" dirty="0"/>
              <a:t> </a:t>
            </a:r>
            <a:r>
              <a:rPr lang="de-DE" sz="2800" dirty="0" err="1"/>
              <a:t>charge</a:t>
            </a:r>
            <a:r>
              <a:rPr lang="de-DE" sz="2800" dirty="0"/>
              <a:t> </a:t>
            </a:r>
            <a:r>
              <a:rPr lang="de-DE" sz="2800" dirty="0" err="1"/>
              <a:t>cannot</a:t>
            </a:r>
            <a:r>
              <a:rPr lang="de-DE" sz="2800" dirty="0"/>
              <a:t> jump </a:t>
            </a:r>
            <a:r>
              <a:rPr lang="de-DE" sz="2800" dirty="0" err="1"/>
              <a:t>infinitely</a:t>
            </a:r>
            <a:r>
              <a:rPr lang="de-DE" sz="2800" dirty="0"/>
              <a:t> fast)</a:t>
            </a:r>
          </a:p>
          <a:p>
            <a:endParaRPr lang="de-DE" sz="2800" dirty="0"/>
          </a:p>
          <a:p>
            <a:r>
              <a:rPr lang="de-DE" sz="2800" dirty="0" err="1"/>
              <a:t>current</a:t>
            </a:r>
            <a:r>
              <a:rPr lang="de-DE" sz="2800" dirty="0"/>
              <a:t> </a:t>
            </a:r>
            <a:r>
              <a:rPr lang="de-DE" sz="2800" dirty="0" err="1"/>
              <a:t>through</a:t>
            </a:r>
            <a:r>
              <a:rPr lang="de-DE" sz="2800" dirty="0"/>
              <a:t> </a:t>
            </a:r>
            <a:r>
              <a:rPr lang="de-DE" sz="2800" dirty="0" err="1"/>
              <a:t>capacity</a:t>
            </a:r>
            <a:r>
              <a:rPr lang="de-DE" sz="2800" dirty="0"/>
              <a:t> </a:t>
            </a:r>
            <a:r>
              <a:rPr lang="de-DE" sz="2800" dirty="0" err="1"/>
              <a:t>can</a:t>
            </a:r>
            <a:r>
              <a:rPr lang="de-DE" sz="2800" dirty="0"/>
              <a:t> </a:t>
            </a:r>
            <a:r>
              <a:rPr lang="de-DE" sz="2800" dirty="0" err="1"/>
              <a:t>be</a:t>
            </a:r>
            <a:r>
              <a:rPr lang="de-DE" sz="2800" dirty="0"/>
              <a:t> </a:t>
            </a:r>
            <a:r>
              <a:rPr lang="de-DE" sz="2800" dirty="0" err="1"/>
              <a:t>discontinuous</a:t>
            </a:r>
            <a:r>
              <a:rPr lang="de-DE" sz="2800" dirty="0"/>
              <a:t> (</a:t>
            </a:r>
            <a:r>
              <a:rPr lang="de-DE" sz="2800" dirty="0" err="1"/>
              <a:t>because</a:t>
            </a:r>
            <a:r>
              <a:rPr lang="de-DE" sz="2800" dirty="0"/>
              <a:t> </a:t>
            </a:r>
            <a:r>
              <a:rPr lang="de-DE" sz="2800" dirty="0" err="1"/>
              <a:t>it</a:t>
            </a:r>
            <a:r>
              <a:rPr lang="de-DE" sz="2800" dirty="0"/>
              <a:t> </a:t>
            </a:r>
            <a:r>
              <a:rPr lang="de-DE" sz="2800" dirty="0" err="1"/>
              <a:t>is</a:t>
            </a:r>
            <a:r>
              <a:rPr lang="de-DE" sz="2800" dirty="0"/>
              <a:t> </a:t>
            </a:r>
            <a:r>
              <a:rPr lang="de-DE" sz="2800" dirty="0" err="1"/>
              <a:t>the</a:t>
            </a:r>
            <a:r>
              <a:rPr lang="de-DE" sz="2800" dirty="0"/>
              <a:t> derivative </a:t>
            </a:r>
            <a:r>
              <a:rPr lang="de-DE" sz="2800" dirty="0" err="1"/>
              <a:t>of</a:t>
            </a:r>
            <a:r>
              <a:rPr lang="de-DE" sz="2800" dirty="0"/>
              <a:t> </a:t>
            </a:r>
            <a:r>
              <a:rPr lang="de-DE" sz="2800" dirty="0" err="1"/>
              <a:t>the</a:t>
            </a:r>
            <a:r>
              <a:rPr lang="de-DE" sz="2800" dirty="0"/>
              <a:t> </a:t>
            </a:r>
            <a:r>
              <a:rPr lang="de-DE" sz="2800" dirty="0" err="1"/>
              <a:t>voltage</a:t>
            </a:r>
            <a:r>
              <a:rPr lang="de-DE" sz="2800" dirty="0"/>
              <a:t>)</a:t>
            </a:r>
          </a:p>
        </p:txBody>
      </p:sp>
      <p:sp>
        <p:nvSpPr>
          <p:cNvPr id="7" name="Textfeld 6">
            <a:extLst>
              <a:ext uri="{FF2B5EF4-FFF2-40B4-BE49-F238E27FC236}">
                <a16:creationId xmlns:a16="http://schemas.microsoft.com/office/drawing/2014/main" id="{FDDCD844-C011-8B3C-3BD9-B94786D50E98}"/>
              </a:ext>
            </a:extLst>
          </p:cNvPr>
          <p:cNvSpPr txBox="1"/>
          <p:nvPr/>
        </p:nvSpPr>
        <p:spPr>
          <a:xfrm>
            <a:off x="2102070" y="5946130"/>
            <a:ext cx="3577326" cy="46166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de-DE" sz="2400" dirty="0" err="1"/>
              <a:t>no</a:t>
            </a:r>
            <a:r>
              <a:rPr lang="de-DE" sz="2400" dirty="0"/>
              <a:t> DC </a:t>
            </a:r>
            <a:r>
              <a:rPr lang="de-DE" sz="2400" dirty="0" err="1"/>
              <a:t>through</a:t>
            </a:r>
            <a:r>
              <a:rPr lang="de-DE" sz="2400" dirty="0"/>
              <a:t> </a:t>
            </a:r>
            <a:r>
              <a:rPr lang="de-DE" sz="2400" dirty="0" err="1"/>
              <a:t>capacitors</a:t>
            </a:r>
            <a:endParaRPr lang="de-DE" sz="2400" dirty="0"/>
          </a:p>
        </p:txBody>
      </p:sp>
      <p:cxnSp>
        <p:nvCxnSpPr>
          <p:cNvPr id="9" name="Gerade Verbindung mit Pfeil 8">
            <a:extLst>
              <a:ext uri="{FF2B5EF4-FFF2-40B4-BE49-F238E27FC236}">
                <a16:creationId xmlns:a16="http://schemas.microsoft.com/office/drawing/2014/main" id="{4696D076-5735-44C2-A4A7-C4533931BD7E}"/>
              </a:ext>
            </a:extLst>
          </p:cNvPr>
          <p:cNvCxnSpPr>
            <a:cxnSpLocks/>
            <a:stCxn id="7" idx="0"/>
          </p:cNvCxnSpPr>
          <p:nvPr/>
        </p:nvCxnSpPr>
        <p:spPr>
          <a:xfrm flipH="1" flipV="1">
            <a:off x="2343807" y="4939862"/>
            <a:ext cx="1546926" cy="100626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6967789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565209F-D73D-4F92-75F0-D08E5D92C6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Energy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Capacitance</a:t>
            </a:r>
            <a:endParaRPr lang="de-DE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Inhaltsplatzhalter 2">
                <a:extLst>
                  <a:ext uri="{FF2B5EF4-FFF2-40B4-BE49-F238E27FC236}">
                    <a16:creationId xmlns:a16="http://schemas.microsoft.com/office/drawing/2014/main" id="{0794DA62-ED1B-A331-0877-E01F2C70FA4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endParaRPr lang="de-DE" dirty="0"/>
              </a:p>
              <a:p>
                <a:pPr marL="0" indent="0">
                  <a:buNone/>
                </a:pPr>
                <a:r>
                  <a:rPr lang="de-DE" dirty="0" err="1"/>
                  <a:t>capacitor</a:t>
                </a:r>
                <a:r>
                  <a:rPr lang="de-DE" dirty="0"/>
                  <a:t> </a:t>
                </a:r>
                <a:r>
                  <a:rPr lang="de-DE" dirty="0" err="1"/>
                  <a:t>as</a:t>
                </a:r>
                <a:r>
                  <a:rPr lang="de-DE" dirty="0"/>
                  <a:t> </a:t>
                </a:r>
                <a:r>
                  <a:rPr lang="de-DE" dirty="0" err="1"/>
                  <a:t>energy</a:t>
                </a:r>
                <a:r>
                  <a:rPr lang="de-DE" dirty="0"/>
                  <a:t> </a:t>
                </a:r>
                <a:r>
                  <a:rPr lang="de-DE" dirty="0" err="1"/>
                  <a:t>storage</a:t>
                </a:r>
                <a:r>
                  <a:rPr lang="de-DE" dirty="0"/>
                  <a:t>:</a:t>
                </a:r>
              </a:p>
              <a:p>
                <a:pPr marL="0" indent="0">
                  <a:buNone/>
                </a:pPr>
                <a:endParaRPr lang="de-DE" dirty="0"/>
              </a:p>
              <a:p>
                <a:pPr marL="0" indent="0">
                  <a:buNone/>
                </a:pPr>
                <a:endParaRPr lang="de-DE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i="1">
                          <a:latin typeface="Cambria Math" panose="02040503050406030204" pitchFamily="18" charset="0"/>
                        </a:rPr>
                        <m:t>𝑊</m:t>
                      </m:r>
                      <m:r>
                        <a:rPr lang="de-DE" i="1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limLoc m:val="undOvr"/>
                          <m:subHide m:val="on"/>
                          <m:supHide m:val="on"/>
                          <m:ctrlPr>
                            <a:rPr lang="de-DE" i="1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e>
                      </m:nary>
                      <m:r>
                        <a:rPr lang="de-DE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r>
                        <a:rPr lang="de-DE" b="0" i="1" smtClean="0">
                          <a:latin typeface="Cambria Math" panose="02040503050406030204" pitchFamily="18" charset="0"/>
                        </a:rPr>
                        <m:t>𝑣</m:t>
                      </m:r>
                      <m:r>
                        <a:rPr lang="de-DE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de-DE" i="1">
                          <a:latin typeface="Cambria Math" panose="02040503050406030204" pitchFamily="18" charset="0"/>
                        </a:rPr>
                        <m:t>𝑑𝑡</m:t>
                      </m:r>
                      <m:nary>
                        <m:naryPr>
                          <m:limLoc m:val="undOvr"/>
                          <m:subHide m:val="on"/>
                          <m:supHide m:val="on"/>
                          <m:ctrlPr>
                            <a:rPr lang="de-DE" i="1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𝐶</m:t>
                          </m:r>
                          <m:f>
                            <m:fPr>
                              <m:ctrlPr>
                                <a:rPr lang="de-DE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de-DE" i="1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  <m:r>
                                <a:rPr lang="de-DE" b="0" i="1" smtClean="0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num>
                            <m:den>
                              <m:r>
                                <a:rPr lang="de-DE" i="1">
                                  <a:latin typeface="Cambria Math" panose="02040503050406030204" pitchFamily="18" charset="0"/>
                                </a:rPr>
                                <m:t>𝑑𝑡</m:t>
                              </m:r>
                            </m:den>
                          </m:f>
                        </m:e>
                      </m:nary>
                      <m:r>
                        <a:rPr lang="de-DE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r>
                        <a:rPr lang="de-DE" b="0" i="1" smtClean="0">
                          <a:latin typeface="Cambria Math" panose="02040503050406030204" pitchFamily="18" charset="0"/>
                        </a:rPr>
                        <m:t>𝑣</m:t>
                      </m:r>
                      <m:r>
                        <a:rPr lang="de-DE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de-DE" i="1">
                          <a:latin typeface="Cambria Math" panose="02040503050406030204" pitchFamily="18" charset="0"/>
                        </a:rPr>
                        <m:t>𝑑𝑡</m:t>
                      </m:r>
                      <m:r>
                        <a:rPr lang="de-DE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de-DE" i="1">
                          <a:latin typeface="Cambria Math" panose="02040503050406030204" pitchFamily="18" charset="0"/>
                        </a:rPr>
                        <m:t>𝐶</m:t>
                      </m:r>
                      <m:nary>
                        <m:naryPr>
                          <m:limLoc m:val="undOvr"/>
                          <m:subHide m:val="on"/>
                          <m:supHide m:val="on"/>
                          <m:ctrlPr>
                            <a:rPr lang="de-DE" i="1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𝑑𝑣</m:t>
                          </m:r>
                        </m:e>
                      </m:nary>
                      <m:r>
                        <a:rPr lang="de-DE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de-DE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de-DE" i="1">
                          <a:latin typeface="Cambria Math" panose="02040503050406030204" pitchFamily="18" charset="0"/>
                        </a:rPr>
                        <m:t>𝐶</m:t>
                      </m:r>
                      <m:sSup>
                        <m:sSupPr>
                          <m:ctrlPr>
                            <a:rPr lang="de-DE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p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de-DE" dirty="0"/>
              </a:p>
              <a:p>
                <a:pPr marL="0" indent="0">
                  <a:buNone/>
                </a:pPr>
                <a:endParaRPr lang="de-DE" dirty="0"/>
              </a:p>
            </p:txBody>
          </p:sp>
        </mc:Choice>
        <mc:Fallback xmlns="">
          <p:sp>
            <p:nvSpPr>
              <p:cNvPr id="3" name="Inhaltsplatzhalter 2">
                <a:extLst>
                  <a:ext uri="{FF2B5EF4-FFF2-40B4-BE49-F238E27FC236}">
                    <a16:creationId xmlns:a16="http://schemas.microsoft.com/office/drawing/2014/main" id="{0794DA62-ED1B-A331-0877-E01F2C70FA4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06" b="-25000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D9CC849B-EA20-D3F6-04BA-6BF2CEC0EC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03FC7C-1F2C-4946-B702-1A52A755583B}" type="slidenum">
              <a:rPr lang="de-DE" smtClean="0"/>
              <a:t>15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60720647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44D583-5B29-3896-F17C-46315307CF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CCD6BE3-1FF9-6A13-8D08-D1B3382FC9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Capacitors</a:t>
            </a:r>
            <a:r>
              <a:rPr lang="de-DE" dirty="0"/>
              <a:t> in Series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E7AE0D35-88FE-B062-3A87-EB9D0C9F84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03FC7C-1F2C-4946-B702-1A52A755583B}" type="slidenum">
              <a:rPr lang="de-DE" smtClean="0"/>
              <a:t>16</a:t>
            </a:fld>
            <a:endParaRPr lang="de-DE"/>
          </a:p>
        </p:txBody>
      </p:sp>
      <p:pic>
        <p:nvPicPr>
          <p:cNvPr id="3" name="Inhaltsplatzhalter 7">
            <a:extLst>
              <a:ext uri="{FF2B5EF4-FFF2-40B4-BE49-F238E27FC236}">
                <a16:creationId xmlns:a16="http://schemas.microsoft.com/office/drawing/2014/main" id="{47B49A1F-080D-54A1-CB0E-1E41CA0D3C9B}"/>
              </a:ext>
            </a:extLst>
          </p:cNvPr>
          <p:cNvPicPr>
            <a:picLocks noGrp="1"/>
          </p:cNvPicPr>
          <p:nvPr>
            <p:ph idx="4294967295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01478" y="1836490"/>
            <a:ext cx="3889375" cy="1844675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feld 6">
                <a:extLst>
                  <a:ext uri="{FF2B5EF4-FFF2-40B4-BE49-F238E27FC236}">
                    <a16:creationId xmlns:a16="http://schemas.microsoft.com/office/drawing/2014/main" id="{7B65E465-AE24-2E5D-F438-42849BD4895B}"/>
                  </a:ext>
                </a:extLst>
              </p:cNvPr>
              <p:cNvSpPr txBox="1"/>
              <p:nvPr/>
            </p:nvSpPr>
            <p:spPr>
              <a:xfrm>
                <a:off x="7515281" y="2437684"/>
                <a:ext cx="4676719" cy="114896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15000"/>
                  </a:lnSpc>
                  <a:spcAft>
                    <a:spcPts val="10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2000" b="0" i="1" smtClean="0"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𝑣</m:t>
                      </m:r>
                      <m:r>
                        <a:rPr lang="de-DE" sz="2000" i="1"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lang="de-DE" sz="2000" i="1"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de-DE" sz="2000" i="1"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1</m:t>
                          </m:r>
                        </m:num>
                        <m:den>
                          <m:sSub>
                            <m:sSubPr>
                              <m:ctrlPr>
                                <a:rPr lang="de-DE" sz="2000" i="1"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de-DE" sz="2000" i="1"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de-DE" sz="2000" i="1"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sub>
                          </m:sSub>
                        </m:den>
                      </m:f>
                      <m:nary>
                        <m:naryPr>
                          <m:limLoc m:val="undOvr"/>
                          <m:subHide m:val="on"/>
                          <m:supHide m:val="on"/>
                          <m:ctrlPr>
                            <a:rPr lang="de-DE" sz="2000" i="1"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naryPr>
                        <m:sub/>
                        <m:sup/>
                        <m:e>
                          <m:r>
                            <a:rPr lang="de-DE" sz="2000" i="1"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𝑖</m:t>
                          </m:r>
                          <m:r>
                            <a:rPr lang="de-DE" sz="2000" i="1"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 </m:t>
                          </m:r>
                          <m:r>
                            <a:rPr lang="de-DE" sz="2000" i="1"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𝑑𝑡</m:t>
                          </m:r>
                        </m:e>
                      </m:nary>
                      <m:r>
                        <a:rPr lang="de-DE" sz="2000" i="1"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+</m:t>
                      </m:r>
                      <m:f>
                        <m:fPr>
                          <m:ctrlPr>
                            <a:rPr lang="de-DE" sz="2000" i="1"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de-DE" sz="2000" i="1"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1</m:t>
                          </m:r>
                        </m:num>
                        <m:den>
                          <m:sSub>
                            <m:sSubPr>
                              <m:ctrlPr>
                                <a:rPr lang="de-DE" sz="2000" i="1"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de-DE" sz="2000" i="1"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de-DE" sz="2000" i="1"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sub>
                          </m:sSub>
                        </m:den>
                      </m:f>
                      <m:nary>
                        <m:naryPr>
                          <m:limLoc m:val="undOvr"/>
                          <m:subHide m:val="on"/>
                          <m:supHide m:val="on"/>
                          <m:ctrlPr>
                            <a:rPr lang="de-DE" sz="2000" i="1"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naryPr>
                        <m:sub/>
                        <m:sup/>
                        <m:e>
                          <m:r>
                            <a:rPr lang="de-DE" sz="2000" i="1"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𝑖</m:t>
                          </m:r>
                          <m:r>
                            <a:rPr lang="de-DE" sz="2000" i="1"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 </m:t>
                          </m:r>
                          <m:r>
                            <a:rPr lang="de-DE" sz="2000" i="1"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𝑑𝑡</m:t>
                          </m:r>
                        </m:e>
                      </m:nary>
                      <m:r>
                        <a:rPr lang="de-DE" sz="2000" i="1"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+</m:t>
                      </m:r>
                      <m:r>
                        <a:rPr lang="de-DE" sz="2000" i="1"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⋯+</m:t>
                      </m:r>
                      <m:f>
                        <m:fPr>
                          <m:ctrlPr>
                            <a:rPr lang="de-DE" sz="2000" i="1"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de-DE" sz="2000" i="1"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1</m:t>
                          </m:r>
                        </m:num>
                        <m:den>
                          <m:sSub>
                            <m:sSubPr>
                              <m:ctrlPr>
                                <a:rPr lang="de-DE" sz="2000" i="1"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de-DE" sz="2000" i="1"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de-DE" sz="2000" i="1"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𝑛</m:t>
                              </m:r>
                            </m:sub>
                          </m:sSub>
                        </m:den>
                      </m:f>
                      <m:nary>
                        <m:naryPr>
                          <m:limLoc m:val="undOvr"/>
                          <m:subHide m:val="on"/>
                          <m:supHide m:val="on"/>
                          <m:ctrlPr>
                            <a:rPr lang="de-DE" sz="2000" i="1"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naryPr>
                        <m:sub/>
                        <m:sup/>
                        <m:e>
                          <m:r>
                            <a:rPr lang="de-DE" sz="2000" i="1"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𝑖</m:t>
                          </m:r>
                          <m:r>
                            <a:rPr lang="de-DE" sz="2000" i="1"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 </m:t>
                          </m:r>
                          <m:r>
                            <a:rPr lang="de-DE" sz="2000" i="1"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𝑑𝑡</m:t>
                          </m:r>
                        </m:e>
                      </m:nary>
                    </m:oMath>
                  </m:oMathPara>
                </a14:m>
                <a:endParaRPr lang="de-DE" sz="2000" dirty="0"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7" name="Textfeld 6">
                <a:extLst>
                  <a:ext uri="{FF2B5EF4-FFF2-40B4-BE49-F238E27FC236}">
                    <a16:creationId xmlns:a16="http://schemas.microsoft.com/office/drawing/2014/main" id="{7B65E465-AE24-2E5D-F438-42849BD4895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15281" y="2437684"/>
                <a:ext cx="4676719" cy="1148969"/>
              </a:xfrm>
              <a:prstGeom prst="rect">
                <a:avLst/>
              </a:prstGeom>
              <a:blipFill>
                <a:blip r:embed="rId3"/>
                <a:stretch>
                  <a:fillRect l="-4324" t="-95604" r="-6757" b="-136264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feld 8">
                <a:extLst>
                  <a:ext uri="{FF2B5EF4-FFF2-40B4-BE49-F238E27FC236}">
                    <a16:creationId xmlns:a16="http://schemas.microsoft.com/office/drawing/2014/main" id="{D70D1C51-B8D2-2473-A99A-97E5C364525C}"/>
                  </a:ext>
                </a:extLst>
              </p:cNvPr>
              <p:cNvSpPr txBox="1"/>
              <p:nvPr/>
            </p:nvSpPr>
            <p:spPr>
              <a:xfrm>
                <a:off x="3815254" y="3960284"/>
                <a:ext cx="4676719" cy="1184555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de-DE" sz="26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de-DE" sz="2600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de-DE" sz="2600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den>
                      </m:f>
                      <m:r>
                        <a:rPr lang="de-DE" sz="2600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de-DE" sz="26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de-DE" sz="2600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sSub>
                            <m:sSubPr>
                              <m:ctrlPr>
                                <a:rPr lang="de-DE" sz="2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e-DE" sz="2600" i="1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de-DE" sz="26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den>
                      </m:f>
                      <m:r>
                        <a:rPr lang="de-DE" sz="2600" i="1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de-DE" sz="26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de-DE" sz="2600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sSub>
                            <m:sSubPr>
                              <m:ctrlPr>
                                <a:rPr lang="de-DE" sz="2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e-DE" sz="2600" i="1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de-DE" sz="26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den>
                      </m:f>
                      <m:r>
                        <a:rPr lang="de-DE" sz="2600" i="1">
                          <a:latin typeface="Cambria Math" panose="02040503050406030204" pitchFamily="18" charset="0"/>
                        </a:rPr>
                        <m:t>+⋯+</m:t>
                      </m:r>
                      <m:f>
                        <m:fPr>
                          <m:ctrlPr>
                            <a:rPr lang="de-DE" sz="26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de-DE" sz="2600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sSub>
                            <m:sSubPr>
                              <m:ctrlPr>
                                <a:rPr lang="de-DE" sz="2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e-DE" sz="2600" i="1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de-DE" sz="260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</m:den>
                      </m:f>
                      <m:r>
                        <a:rPr lang="de-DE" sz="2600" i="1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limLoc m:val="undOvr"/>
                          <m:ctrlPr>
                            <a:rPr lang="de-DE" sz="26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/>
                            </m:rPr>
                            <a:rPr lang="de-DE" sz="26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de-DE" sz="2600" i="1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de-DE" sz="2600" i="1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f>
                            <m:fPr>
                              <m:ctrlPr>
                                <a:rPr lang="de-DE" sz="26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de-DE" sz="26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sSub>
                                <m:sSubPr>
                                  <m:ctrlPr>
                                    <a:rPr lang="de-DE" sz="26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de-DE" sz="2600" i="1">
                                      <a:latin typeface="Cambria Math" panose="02040503050406030204" pitchFamily="18" charset="0"/>
                                    </a:rPr>
                                    <m:t>𝐶</m:t>
                                  </m:r>
                                </m:e>
                                <m:sub>
                                  <m:r>
                                    <a:rPr lang="de-DE" sz="2600" b="0" i="1" smtClean="0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sub>
                              </m:sSub>
                            </m:den>
                          </m:f>
                        </m:e>
                      </m:nary>
                    </m:oMath>
                  </m:oMathPara>
                </a14:m>
                <a:endParaRPr lang="de-DE" sz="2600" dirty="0"/>
              </a:p>
            </p:txBody>
          </p:sp>
        </mc:Choice>
        <mc:Fallback>
          <p:sp>
            <p:nvSpPr>
              <p:cNvPr id="9" name="Textfeld 8">
                <a:extLst>
                  <a:ext uri="{FF2B5EF4-FFF2-40B4-BE49-F238E27FC236}">
                    <a16:creationId xmlns:a16="http://schemas.microsoft.com/office/drawing/2014/main" id="{D70D1C51-B8D2-2473-A99A-97E5C364525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15254" y="3960284"/>
                <a:ext cx="4676719" cy="1184555"/>
              </a:xfrm>
              <a:prstGeom prst="rect">
                <a:avLst/>
              </a:prstGeom>
              <a:blipFill>
                <a:blip r:embed="rId4"/>
                <a:stretch>
                  <a:fillRect t="-106316" r="-5946" b="-163158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feld 10">
                <a:extLst>
                  <a:ext uri="{FF2B5EF4-FFF2-40B4-BE49-F238E27FC236}">
                    <a16:creationId xmlns:a16="http://schemas.microsoft.com/office/drawing/2014/main" id="{CC43AE49-5B9F-60E0-1E57-3A2C6D9D4487}"/>
                  </a:ext>
                </a:extLst>
              </p:cNvPr>
              <p:cNvSpPr txBox="1"/>
              <p:nvPr/>
            </p:nvSpPr>
            <p:spPr>
              <a:xfrm>
                <a:off x="391506" y="2343170"/>
                <a:ext cx="2585545" cy="133799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2000" b="0" i="1" smtClean="0">
                          <a:latin typeface="Cambria Math" panose="02040503050406030204" pitchFamily="18" charset="0"/>
                        </a:rPr>
                        <m:t>𝑉</m:t>
                      </m:r>
                      <m:r>
                        <a:rPr lang="de-DE" sz="2000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de-DE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sz="2000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de-DE" sz="200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de-DE" sz="2000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de-DE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sz="2000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de-DE" sz="2000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de-DE" sz="2000" i="1">
                          <a:latin typeface="Cambria Math" panose="02040503050406030204" pitchFamily="18" charset="0"/>
                        </a:rPr>
                        <m:t>+⋯+</m:t>
                      </m:r>
                      <m:sSub>
                        <m:sSubPr>
                          <m:ctrlPr>
                            <a:rPr lang="de-DE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sz="2000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de-DE" sz="2000" i="1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</m:oMath>
                  </m:oMathPara>
                </a14:m>
                <a:endParaRPr lang="de-DE" sz="2000" dirty="0"/>
              </a:p>
              <a:p>
                <a:pPr marL="0" indent="0">
                  <a:buNone/>
                </a:pPr>
                <a:endParaRPr lang="de-DE" sz="20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2000" b="0" i="1" smtClean="0">
                          <a:latin typeface="Cambria Math" panose="02040503050406030204" pitchFamily="18" charset="0"/>
                        </a:rPr>
                        <m:t>𝑉</m:t>
                      </m:r>
                      <m:r>
                        <a:rPr lang="de-DE" sz="2000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de-DE" sz="20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de-DE" sz="2000" i="1">
                              <a:latin typeface="Cambria Math" panose="02040503050406030204" pitchFamily="18" charset="0"/>
                            </a:rPr>
                            <m:t>𝑄</m:t>
                          </m:r>
                        </m:num>
                        <m:den>
                          <m:sSub>
                            <m:sSubPr>
                              <m:ctrlPr>
                                <a:rPr lang="de-DE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e-DE" sz="2000" i="1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de-DE" sz="20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den>
                      </m:f>
                      <m:r>
                        <a:rPr lang="de-DE" sz="2000" i="1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de-DE" sz="20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de-DE" sz="2000" i="1">
                              <a:latin typeface="Cambria Math" panose="02040503050406030204" pitchFamily="18" charset="0"/>
                            </a:rPr>
                            <m:t>𝑄</m:t>
                          </m:r>
                        </m:num>
                        <m:den>
                          <m:sSub>
                            <m:sSubPr>
                              <m:ctrlPr>
                                <a:rPr lang="de-DE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e-DE" sz="2000" i="1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de-DE" sz="20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den>
                      </m:f>
                      <m:r>
                        <a:rPr lang="de-DE" sz="2000" i="1">
                          <a:latin typeface="Cambria Math" panose="02040503050406030204" pitchFamily="18" charset="0"/>
                        </a:rPr>
                        <m:t>+⋯+</m:t>
                      </m:r>
                      <m:f>
                        <m:fPr>
                          <m:ctrlPr>
                            <a:rPr lang="de-DE" sz="20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de-DE" sz="2000" i="1">
                              <a:latin typeface="Cambria Math" panose="02040503050406030204" pitchFamily="18" charset="0"/>
                            </a:rPr>
                            <m:t>𝑄</m:t>
                          </m:r>
                        </m:num>
                        <m:den>
                          <m:sSub>
                            <m:sSubPr>
                              <m:ctrlPr>
                                <a:rPr lang="de-DE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e-DE" sz="2000" i="1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de-DE" sz="200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de-DE" sz="2000" dirty="0"/>
              </a:p>
            </p:txBody>
          </p:sp>
        </mc:Choice>
        <mc:Fallback xmlns="">
          <p:sp>
            <p:nvSpPr>
              <p:cNvPr id="11" name="Textfeld 10">
                <a:extLst>
                  <a:ext uri="{FF2B5EF4-FFF2-40B4-BE49-F238E27FC236}">
                    <a16:creationId xmlns:a16="http://schemas.microsoft.com/office/drawing/2014/main" id="{CC43AE49-5B9F-60E0-1E57-3A2C6D9D448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1506" y="2343170"/>
                <a:ext cx="2585545" cy="1337995"/>
              </a:xfrm>
              <a:prstGeom prst="rect">
                <a:avLst/>
              </a:prstGeom>
              <a:blipFill>
                <a:blip r:embed="rId5"/>
                <a:stretch>
                  <a:fillRect b="-943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feld 5">
                <a:extLst>
                  <a:ext uri="{FF2B5EF4-FFF2-40B4-BE49-F238E27FC236}">
                    <a16:creationId xmlns:a16="http://schemas.microsoft.com/office/drawing/2014/main" id="{1AC84391-C10A-C340-42A5-6A3053D4282A}"/>
                  </a:ext>
                </a:extLst>
              </p:cNvPr>
              <p:cNvSpPr txBox="1"/>
              <p:nvPr/>
            </p:nvSpPr>
            <p:spPr>
              <a:xfrm>
                <a:off x="520261" y="5829937"/>
                <a:ext cx="10957035" cy="61792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r>
                  <a:rPr lang="de-DE" sz="2600" dirty="0"/>
                  <a:t>for </a:t>
                </a:r>
                <a:r>
                  <a:rPr lang="de-DE" sz="2600" dirty="0" err="1"/>
                  <a:t>two</a:t>
                </a:r>
                <a:r>
                  <a:rPr lang="de-DE" sz="2600" dirty="0"/>
                  <a:t> </a:t>
                </a:r>
                <a:r>
                  <a:rPr lang="de-DE" sz="2600" dirty="0" err="1"/>
                  <a:t>capacitors</a:t>
                </a:r>
                <a:r>
                  <a:rPr lang="de-DE" sz="2600" dirty="0"/>
                  <a:t>:	</a:t>
                </a:r>
                <a14:m>
                  <m:oMath xmlns:m="http://schemas.openxmlformats.org/officeDocument/2006/math">
                    <m:r>
                      <a:rPr lang="de-DE" sz="2600" b="0" i="1" smtClean="0">
                        <a:latin typeface="Cambria Math" panose="02040503050406030204" pitchFamily="18" charset="0"/>
                      </a:rPr>
                      <m:t>𝐶</m:t>
                    </m:r>
                    <m:r>
                      <a:rPr lang="de-DE" sz="2600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de-DE" sz="26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de-DE" sz="26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de-DE" sz="2600" b="0" i="1" smtClean="0"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de-DE" sz="26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sSub>
                          <m:sSubPr>
                            <m:ctrlPr>
                              <a:rPr lang="de-DE" sz="26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de-DE" sz="2600" b="0" i="1" smtClean="0"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de-DE" sz="26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de-DE" sz="26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de-DE" sz="2600" b="0" i="1" smtClean="0"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de-DE" sz="26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de-DE" sz="2600" i="1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de-DE" sz="26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de-DE" sz="2600" b="0" i="1" smtClean="0"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de-DE" sz="26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den>
                    </m:f>
                    <m:r>
                      <a:rPr lang="de-DE" sz="2600" b="0" i="1" smtClean="0">
                        <a:latin typeface="Cambria Math" panose="02040503050406030204" pitchFamily="18" charset="0"/>
                      </a:rPr>
                      <m:t>;     </m:t>
                    </m:r>
                    <m:f>
                      <m:fPr>
                        <m:ctrlPr>
                          <a:rPr lang="de-DE" sz="26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de-DE" sz="26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de-DE" sz="2600" b="0" i="1" smtClean="0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de-DE" sz="26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de-DE" sz="26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de-DE" sz="2600" b="0" i="1" smtClean="0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de-DE" sz="26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den>
                    </m:f>
                    <m:r>
                      <a:rPr lang="de-DE" sz="2600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de-DE" sz="26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de-DE" sz="26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de-DE" sz="2600" i="1"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de-DE" sz="26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de-DE" sz="26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de-DE" sz="2600" i="1"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de-DE" sz="26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den>
                    </m:f>
                    <m:r>
                      <a:rPr lang="de-DE" sz="2600" i="1">
                        <a:latin typeface="Cambria Math" panose="02040503050406030204" pitchFamily="18" charset="0"/>
                      </a:rPr>
                      <m:t>;    </m:t>
                    </m:r>
                    <m:sSub>
                      <m:sSubPr>
                        <m:ctrlPr>
                          <a:rPr lang="de-DE" sz="2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sz="2600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de-DE" sz="26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de-DE" sz="26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de-DE" sz="2600" b="0" i="1" smtClean="0">
                        <a:latin typeface="Cambria Math" panose="02040503050406030204" pitchFamily="18" charset="0"/>
                      </a:rPr>
                      <m:t>𝑣</m:t>
                    </m:r>
                    <m:f>
                      <m:fPr>
                        <m:ctrlPr>
                          <a:rPr lang="de-DE" sz="26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de-DE" sz="26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de-DE" sz="2600" i="1"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de-DE" sz="26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de-DE" sz="26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de-DE" sz="2600" i="1"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de-DE" sz="26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de-DE" sz="2600" i="1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de-DE" sz="26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de-DE" sz="2600" i="1"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de-DE" sz="26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den>
                    </m:f>
                  </m:oMath>
                </a14:m>
                <a:r>
                  <a:rPr lang="de-DE" sz="2600" dirty="0"/>
                  <a:t>   (</a:t>
                </a:r>
                <a:r>
                  <a:rPr lang="de-DE" sz="2600" dirty="0" err="1"/>
                  <a:t>voltage</a:t>
                </a:r>
                <a:r>
                  <a:rPr lang="de-DE" sz="2600" dirty="0"/>
                  <a:t> divider rule)</a:t>
                </a:r>
              </a:p>
            </p:txBody>
          </p:sp>
        </mc:Choice>
        <mc:Fallback>
          <p:sp>
            <p:nvSpPr>
              <p:cNvPr id="6" name="Textfeld 5">
                <a:extLst>
                  <a:ext uri="{FF2B5EF4-FFF2-40B4-BE49-F238E27FC236}">
                    <a16:creationId xmlns:a16="http://schemas.microsoft.com/office/drawing/2014/main" id="{1AC84391-C10A-C340-42A5-6A3053D4282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0261" y="5829937"/>
                <a:ext cx="10957035" cy="617926"/>
              </a:xfrm>
              <a:prstGeom prst="rect">
                <a:avLst/>
              </a:prstGeom>
              <a:blipFill>
                <a:blip r:embed="rId6"/>
                <a:stretch>
                  <a:fillRect l="-1736" t="-2000" r="-926" b="-10000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4147624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61BC084-80B4-7326-8A1C-2B7BC15709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Capacitors</a:t>
            </a:r>
            <a:r>
              <a:rPr lang="de-DE" dirty="0"/>
              <a:t> in Parallel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C1D084E5-5714-B28F-F669-C6E21FC84F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03FC7C-1F2C-4946-B702-1A52A755583B}" type="slidenum">
              <a:rPr lang="de-DE" smtClean="0"/>
              <a:t>17</a:t>
            </a:fld>
            <a:endParaRPr lang="de-DE"/>
          </a:p>
        </p:txBody>
      </p:sp>
      <p:pic>
        <p:nvPicPr>
          <p:cNvPr id="5" name="Inhaltsplatzhalter 11">
            <a:extLst>
              <a:ext uri="{FF2B5EF4-FFF2-40B4-BE49-F238E27FC236}">
                <a16:creationId xmlns:a16="http://schemas.microsoft.com/office/drawing/2014/main" id="{7CD04EDB-1EC7-2175-CF97-48DA98554AED}"/>
              </a:ext>
            </a:extLst>
          </p:cNvPr>
          <p:cNvPicPr>
            <a:picLocks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36437" y="1643933"/>
            <a:ext cx="3719121" cy="2170605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feld 6">
                <a:extLst>
                  <a:ext uri="{FF2B5EF4-FFF2-40B4-BE49-F238E27FC236}">
                    <a16:creationId xmlns:a16="http://schemas.microsoft.com/office/drawing/2014/main" id="{02771D88-2728-D524-C413-13478D848702}"/>
                  </a:ext>
                </a:extLst>
              </p:cNvPr>
              <p:cNvSpPr txBox="1"/>
              <p:nvPr/>
            </p:nvSpPr>
            <p:spPr>
              <a:xfrm>
                <a:off x="8381999" y="2390906"/>
                <a:ext cx="3544614" cy="67666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2000" i="1"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de-DE" sz="2000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de-DE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sz="2000" i="1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de-DE" sz="200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f>
                        <m:fPr>
                          <m:ctrlPr>
                            <a:rPr lang="de-DE" sz="20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de-DE" sz="2000" i="1"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de-DE" sz="2000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num>
                        <m:den>
                          <m:r>
                            <a:rPr lang="de-DE" sz="2000" i="1"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  <m:r>
                        <a:rPr lang="de-DE" sz="200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de-DE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sz="2000" i="1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de-DE" sz="200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f>
                        <m:fPr>
                          <m:ctrlPr>
                            <a:rPr lang="de-DE" sz="20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de-DE" sz="2000" i="1"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de-DE" sz="2000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num>
                        <m:den>
                          <m:r>
                            <a:rPr lang="de-DE" sz="2000" i="1"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  <m:r>
                        <a:rPr lang="de-DE" sz="2000">
                          <a:latin typeface="Cambria Math" panose="02040503050406030204" pitchFamily="18" charset="0"/>
                        </a:rPr>
                        <m:t>+⋯+</m:t>
                      </m:r>
                      <m:sSub>
                        <m:sSubPr>
                          <m:ctrlPr>
                            <a:rPr lang="de-DE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sz="2000" i="1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de-DE" sz="2000" i="1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f>
                        <m:fPr>
                          <m:ctrlPr>
                            <a:rPr lang="de-DE" sz="20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de-DE" sz="2000" i="1"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de-DE" sz="2000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num>
                        <m:den>
                          <m:r>
                            <a:rPr lang="de-DE" sz="2000" i="1"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</m:oMath>
                  </m:oMathPara>
                </a14:m>
                <a:endParaRPr lang="de-DE" sz="2000" dirty="0"/>
              </a:p>
            </p:txBody>
          </p:sp>
        </mc:Choice>
        <mc:Fallback xmlns="">
          <p:sp>
            <p:nvSpPr>
              <p:cNvPr id="7" name="Textfeld 6">
                <a:extLst>
                  <a:ext uri="{FF2B5EF4-FFF2-40B4-BE49-F238E27FC236}">
                    <a16:creationId xmlns:a16="http://schemas.microsoft.com/office/drawing/2014/main" id="{02771D88-2728-D524-C413-13478D84870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1999" y="2390906"/>
                <a:ext cx="3544614" cy="676660"/>
              </a:xfrm>
              <a:prstGeom prst="rect">
                <a:avLst/>
              </a:prstGeom>
              <a:blipFill>
                <a:blip r:embed="rId3"/>
                <a:stretch>
                  <a:fillRect b="-5556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feld 8">
                <a:extLst>
                  <a:ext uri="{FF2B5EF4-FFF2-40B4-BE49-F238E27FC236}">
                    <a16:creationId xmlns:a16="http://schemas.microsoft.com/office/drawing/2014/main" id="{715FFCE7-1593-CA8A-2838-78488909CE76}"/>
                  </a:ext>
                </a:extLst>
              </p:cNvPr>
              <p:cNvSpPr txBox="1"/>
              <p:nvPr/>
            </p:nvSpPr>
            <p:spPr>
              <a:xfrm>
                <a:off x="3809996" y="3941224"/>
                <a:ext cx="4572001" cy="1184555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square">
                <a:spAutoFit/>
              </a:bodyPr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2600" b="0" i="1" smtClean="0">
                          <a:latin typeface="Cambria Math" panose="02040503050406030204" pitchFamily="18" charset="0"/>
                        </a:rPr>
                        <m:t>𝐶</m:t>
                      </m:r>
                      <m:r>
                        <a:rPr lang="de-DE" sz="2600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de-DE" sz="2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sz="2600" i="1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de-DE" sz="260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de-DE" sz="2600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de-DE" sz="2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sz="2600" i="1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de-DE" sz="2600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de-DE" sz="2600" i="1">
                          <a:latin typeface="Cambria Math" panose="02040503050406030204" pitchFamily="18" charset="0"/>
                        </a:rPr>
                        <m:t>+⋯+</m:t>
                      </m:r>
                      <m:sSub>
                        <m:sSubPr>
                          <m:ctrlPr>
                            <a:rPr lang="de-DE" sz="2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sz="2600" i="1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de-DE" sz="2600" i="1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de-DE" sz="2600" i="1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limLoc m:val="undOvr"/>
                          <m:ctrlPr>
                            <a:rPr lang="de-DE" sz="26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/>
                            </m:rPr>
                            <a:rPr lang="de-DE" sz="26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de-DE" sz="2600" i="1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de-DE" sz="2600" i="1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sSub>
                            <m:sSubPr>
                              <m:ctrlPr>
                                <a:rPr lang="de-DE" sz="2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e-DE" sz="2600" i="1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de-DE" sz="2600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de-DE" sz="2600" dirty="0"/>
              </a:p>
            </p:txBody>
          </p:sp>
        </mc:Choice>
        <mc:Fallback>
          <p:sp>
            <p:nvSpPr>
              <p:cNvPr id="9" name="Textfeld 8">
                <a:extLst>
                  <a:ext uri="{FF2B5EF4-FFF2-40B4-BE49-F238E27FC236}">
                    <a16:creationId xmlns:a16="http://schemas.microsoft.com/office/drawing/2014/main" id="{715FFCE7-1593-CA8A-2838-78488909CE7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09996" y="3941224"/>
                <a:ext cx="4572001" cy="1184555"/>
              </a:xfrm>
              <a:prstGeom prst="rect">
                <a:avLst/>
              </a:prstGeom>
              <a:blipFill>
                <a:blip r:embed="rId4"/>
                <a:stretch>
                  <a:fillRect l="-276" t="-107368" r="-7182" b="-163158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feld 10">
                <a:extLst>
                  <a:ext uri="{FF2B5EF4-FFF2-40B4-BE49-F238E27FC236}">
                    <a16:creationId xmlns:a16="http://schemas.microsoft.com/office/drawing/2014/main" id="{77030274-67CA-8925-7C5E-DF58E07F9201}"/>
                  </a:ext>
                </a:extLst>
              </p:cNvPr>
              <p:cNvSpPr txBox="1"/>
              <p:nvPr/>
            </p:nvSpPr>
            <p:spPr>
              <a:xfrm>
                <a:off x="265387" y="2221403"/>
                <a:ext cx="3111062" cy="101566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2000" i="1" smtClean="0">
                          <a:latin typeface="Cambria Math" panose="02040503050406030204" pitchFamily="18" charset="0"/>
                        </a:rPr>
                        <m:t>𝑄</m:t>
                      </m:r>
                      <m:r>
                        <a:rPr lang="de-DE" sz="200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de-DE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sz="2000" i="1"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de-DE" sz="200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de-DE" sz="2000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de-DE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sz="2000" i="1"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de-DE" sz="2000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de-DE" sz="2000" i="1">
                          <a:latin typeface="Cambria Math" panose="02040503050406030204" pitchFamily="18" charset="0"/>
                        </a:rPr>
                        <m:t>+⋯+</m:t>
                      </m:r>
                      <m:sSub>
                        <m:sSubPr>
                          <m:ctrlPr>
                            <a:rPr lang="de-DE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sz="2000" i="1"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de-DE" sz="2000" i="1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</m:oMath>
                  </m:oMathPara>
                </a14:m>
                <a:endParaRPr lang="de-DE" sz="2000" dirty="0"/>
              </a:p>
              <a:p>
                <a:pPr marL="0" indent="0">
                  <a:buNone/>
                </a:pPr>
                <a:endParaRPr lang="de-DE" sz="20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2000" i="1">
                          <a:latin typeface="Cambria Math" panose="02040503050406030204" pitchFamily="18" charset="0"/>
                        </a:rPr>
                        <m:t>𝑄</m:t>
                      </m:r>
                      <m:r>
                        <a:rPr lang="de-DE" sz="2000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de-DE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sz="2000" i="1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de-DE" sz="200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de-DE" sz="2000" b="0" i="1" smtClean="0">
                          <a:latin typeface="Cambria Math" panose="02040503050406030204" pitchFamily="18" charset="0"/>
                        </a:rPr>
                        <m:t>𝑉</m:t>
                      </m:r>
                      <m:r>
                        <a:rPr lang="de-DE" sz="2000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de-DE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sz="2000" i="1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de-DE" sz="2000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de-DE" sz="2000" b="0" i="1" smtClean="0">
                          <a:latin typeface="Cambria Math" panose="02040503050406030204" pitchFamily="18" charset="0"/>
                        </a:rPr>
                        <m:t>𝑉</m:t>
                      </m:r>
                      <m:r>
                        <a:rPr lang="de-DE" sz="2000" i="1">
                          <a:latin typeface="Cambria Math" panose="02040503050406030204" pitchFamily="18" charset="0"/>
                        </a:rPr>
                        <m:t>+⋯+</m:t>
                      </m:r>
                      <m:sSub>
                        <m:sSubPr>
                          <m:ctrlPr>
                            <a:rPr lang="de-DE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sz="2000" i="1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de-DE" sz="2000" i="1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de-DE" sz="2000" b="0" i="1" smtClean="0">
                          <a:latin typeface="Cambria Math" panose="02040503050406030204" pitchFamily="18" charset="0"/>
                        </a:rPr>
                        <m:t>𝑉</m:t>
                      </m:r>
                    </m:oMath>
                  </m:oMathPara>
                </a14:m>
                <a:endParaRPr lang="de-DE" sz="2000" dirty="0"/>
              </a:p>
            </p:txBody>
          </p:sp>
        </mc:Choice>
        <mc:Fallback xmlns="">
          <p:sp>
            <p:nvSpPr>
              <p:cNvPr id="11" name="Textfeld 10">
                <a:extLst>
                  <a:ext uri="{FF2B5EF4-FFF2-40B4-BE49-F238E27FC236}">
                    <a16:creationId xmlns:a16="http://schemas.microsoft.com/office/drawing/2014/main" id="{77030274-67CA-8925-7C5E-DF58E07F920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5387" y="2221403"/>
                <a:ext cx="3111062" cy="1015663"/>
              </a:xfrm>
              <a:prstGeom prst="rect">
                <a:avLst/>
              </a:prstGeom>
              <a:blipFill>
                <a:blip r:embed="rId5"/>
                <a:stretch>
                  <a:fillRect l="-408" b="-4938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2" name="Textfeld 11">
                <a:extLst>
                  <a:ext uri="{FF2B5EF4-FFF2-40B4-BE49-F238E27FC236}">
                    <a16:creationId xmlns:a16="http://schemas.microsoft.com/office/drawing/2014/main" id="{A32E2D7E-4A0E-2598-AB6D-91FE9141CCDF}"/>
                  </a:ext>
                </a:extLst>
              </p:cNvPr>
              <p:cNvSpPr txBox="1"/>
              <p:nvPr/>
            </p:nvSpPr>
            <p:spPr>
              <a:xfrm>
                <a:off x="838200" y="5487602"/>
                <a:ext cx="10197662" cy="129266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r>
                  <a:rPr lang="de-DE" sz="2800" dirty="0"/>
                  <a:t>current </a:t>
                </a:r>
                <a:r>
                  <a:rPr lang="de-DE" sz="2800" dirty="0" err="1"/>
                  <a:t>divider</a:t>
                </a:r>
                <a:r>
                  <a:rPr lang="de-DE" sz="2800" dirty="0"/>
                  <a:t> </a:t>
                </a:r>
                <a:r>
                  <a:rPr lang="de-DE" sz="2800" dirty="0" err="1"/>
                  <a:t>rule</a:t>
                </a:r>
                <a:r>
                  <a:rPr lang="de-DE" sz="2800" dirty="0"/>
                  <a:t>: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DE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sz="2800" i="1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  <m:sub>
                        <m:r>
                          <a:rPr lang="de-DE" sz="2800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de-DE" sz="28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de-DE" sz="2800" i="1">
                        <a:latin typeface="Cambria Math" panose="02040503050406030204" pitchFamily="18" charset="0"/>
                      </a:rPr>
                      <m:t>𝑖</m:t>
                    </m:r>
                    <m:f>
                      <m:fPr>
                        <m:ctrlPr>
                          <a:rPr lang="de-DE" sz="28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de-DE" sz="2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de-DE" sz="2800" i="1"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de-DE" sz="2800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num>
                      <m:den>
                        <m:r>
                          <a:rPr lang="de-DE" sz="2800" i="1">
                            <a:latin typeface="Cambria Math" panose="02040503050406030204" pitchFamily="18" charset="0"/>
                          </a:rPr>
                          <m:t>𝐶</m:t>
                        </m:r>
                      </m:den>
                    </m:f>
                  </m:oMath>
                </a14:m>
                <a:endParaRPr lang="de-DE" sz="2800" dirty="0"/>
              </a:p>
              <a:p>
                <a:r>
                  <a:rPr lang="de-DE" sz="2800" dirty="0" err="1"/>
                  <a:t>for</a:t>
                </a:r>
                <a:r>
                  <a:rPr lang="de-DE" sz="2800" dirty="0"/>
                  <a:t> </a:t>
                </a:r>
                <a:r>
                  <a:rPr lang="de-DE" sz="2800" dirty="0" err="1"/>
                  <a:t>two</a:t>
                </a:r>
                <a:r>
                  <a:rPr lang="de-DE" sz="2800" dirty="0"/>
                  <a:t> </a:t>
                </a:r>
                <a:r>
                  <a:rPr lang="de-DE" sz="2800" dirty="0" err="1"/>
                  <a:t>capacitors</a:t>
                </a:r>
                <a:r>
                  <a:rPr lang="de-DE" sz="2800" dirty="0"/>
                  <a:t>:	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de-DE" sz="28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de-DE" sz="2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de-DE" sz="28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e>
                          <m:sub>
                            <m:r>
                              <a:rPr lang="de-DE" sz="28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de-DE" sz="2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de-DE" sz="28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e>
                          <m:sub>
                            <m:r>
                              <a:rPr lang="de-DE" sz="28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den>
                    </m:f>
                    <m:r>
                      <a:rPr lang="de-DE" sz="2800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de-DE" sz="28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de-DE" sz="2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de-DE" sz="2800" i="1"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de-DE" sz="28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de-DE" sz="2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de-DE" sz="2800" i="1"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de-DE" sz="28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den>
                    </m:f>
                  </m:oMath>
                </a14:m>
                <a:endParaRPr lang="de-DE" sz="2800" dirty="0"/>
              </a:p>
            </p:txBody>
          </p:sp>
        </mc:Choice>
        <mc:Fallback>
          <p:sp>
            <p:nvSpPr>
              <p:cNvPr id="12" name="Textfeld 11">
                <a:extLst>
                  <a:ext uri="{FF2B5EF4-FFF2-40B4-BE49-F238E27FC236}">
                    <a16:creationId xmlns:a16="http://schemas.microsoft.com/office/drawing/2014/main" id="{A32E2D7E-4A0E-2598-AB6D-91FE9141CCD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5487602"/>
                <a:ext cx="10197662" cy="1292662"/>
              </a:xfrm>
              <a:prstGeom prst="rect">
                <a:avLst/>
              </a:prstGeom>
              <a:blipFill>
                <a:blip r:embed="rId6"/>
                <a:stretch>
                  <a:fillRect l="-2242" t="-980" b="-6863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7015290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2">
            <a:extLst>
              <a:ext uri="{FF2B5EF4-FFF2-40B4-BE49-F238E27FC236}">
                <a16:creationId xmlns:a16="http://schemas.microsoft.com/office/drawing/2014/main" id="{DEF8C204-6CA2-4D07-0E02-8530963B115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2520474"/>
            <a:ext cx="6579475" cy="32743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5" name="Rechteck 14">
            <a:extLst>
              <a:ext uri="{FF2B5EF4-FFF2-40B4-BE49-F238E27FC236}">
                <a16:creationId xmlns:a16="http://schemas.microsoft.com/office/drawing/2014/main" id="{155E81BA-DD5E-D70D-7D14-87DEA433314B}"/>
              </a:ext>
            </a:extLst>
          </p:cNvPr>
          <p:cNvSpPr/>
          <p:nvPr/>
        </p:nvSpPr>
        <p:spPr>
          <a:xfrm>
            <a:off x="4845269" y="2638097"/>
            <a:ext cx="2680138" cy="245942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solidFill>
                <a:schemeClr val="bg1"/>
              </a:solidFill>
            </a:endParaRPr>
          </a:p>
        </p:txBody>
      </p:sp>
      <p:sp>
        <p:nvSpPr>
          <p:cNvPr id="5" name="Titel 4">
            <a:extLst>
              <a:ext uri="{FF2B5EF4-FFF2-40B4-BE49-F238E27FC236}">
                <a16:creationId xmlns:a16="http://schemas.microsoft.com/office/drawing/2014/main" id="{F80DB449-FC39-484D-4784-FC4F55BCC2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Common </a:t>
            </a:r>
            <a:r>
              <a:rPr lang="de-DE" dirty="0" err="1"/>
              <a:t>Implementations</a:t>
            </a:r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D3FCB56C-0937-D67D-169E-424C6A081A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03FC7C-1F2C-4946-B702-1A52A755583B}" type="slidenum">
              <a:rPr lang="de-DE" smtClean="0"/>
              <a:t>18</a:t>
            </a:fld>
            <a:endParaRPr lang="de-DE"/>
          </a:p>
        </p:txBody>
      </p:sp>
      <p:pic>
        <p:nvPicPr>
          <p:cNvPr id="7" name="Picture 2">
            <a:extLst>
              <a:ext uri="{FF2B5EF4-FFF2-40B4-BE49-F238E27FC236}">
                <a16:creationId xmlns:a16="http://schemas.microsoft.com/office/drawing/2014/main" id="{0A7984BE-13A3-12D8-9FE4-E768AEDDBDC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96394" y="2865114"/>
            <a:ext cx="5951111" cy="302433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9" name="Textfeld 8">
            <a:extLst>
              <a:ext uri="{FF2B5EF4-FFF2-40B4-BE49-F238E27FC236}">
                <a16:creationId xmlns:a16="http://schemas.microsoft.com/office/drawing/2014/main" id="{2D533BDA-BD90-84E9-BEF6-A2B3C2E572E7}"/>
              </a:ext>
            </a:extLst>
          </p:cNvPr>
          <p:cNvSpPr txBox="1"/>
          <p:nvPr/>
        </p:nvSpPr>
        <p:spPr>
          <a:xfrm>
            <a:off x="6195608" y="5381351"/>
            <a:ext cx="5751897" cy="492443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de-DE" sz="2600" dirty="0" err="1"/>
              <a:t>wound</a:t>
            </a:r>
            <a:r>
              <a:rPr lang="de-DE" sz="2600" dirty="0"/>
              <a:t> </a:t>
            </a:r>
            <a:r>
              <a:rPr lang="de-DE" sz="2600" dirty="0" err="1"/>
              <a:t>capacitors</a:t>
            </a:r>
            <a:r>
              <a:rPr lang="de-DE" sz="2600" dirty="0"/>
              <a:t> (film </a:t>
            </a:r>
            <a:r>
              <a:rPr lang="de-DE" sz="2600" dirty="0" err="1"/>
              <a:t>or</a:t>
            </a:r>
            <a:r>
              <a:rPr lang="de-DE" sz="2600" dirty="0"/>
              <a:t> </a:t>
            </a:r>
            <a:r>
              <a:rPr lang="de-DE" sz="2600" dirty="0" err="1"/>
              <a:t>electrolytic</a:t>
            </a:r>
            <a:r>
              <a:rPr lang="de-DE" sz="2600" dirty="0"/>
              <a:t>)</a:t>
            </a:r>
          </a:p>
        </p:txBody>
      </p:sp>
      <p:sp>
        <p:nvSpPr>
          <p:cNvPr id="16" name="Rechteck 15">
            <a:extLst>
              <a:ext uri="{FF2B5EF4-FFF2-40B4-BE49-F238E27FC236}">
                <a16:creationId xmlns:a16="http://schemas.microsoft.com/office/drawing/2014/main" id="{541F7B96-13D3-764D-C058-9E47DF06640D}"/>
              </a:ext>
            </a:extLst>
          </p:cNvPr>
          <p:cNvSpPr/>
          <p:nvPr/>
        </p:nvSpPr>
        <p:spPr>
          <a:xfrm>
            <a:off x="2521168" y="5018043"/>
            <a:ext cx="3566708" cy="77679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solidFill>
                <a:schemeClr val="bg1"/>
              </a:solidFill>
            </a:endParaRPr>
          </a:p>
        </p:txBody>
      </p:sp>
      <p:sp>
        <p:nvSpPr>
          <p:cNvPr id="17" name="Rechteck 16">
            <a:extLst>
              <a:ext uri="{FF2B5EF4-FFF2-40B4-BE49-F238E27FC236}">
                <a16:creationId xmlns:a16="http://schemas.microsoft.com/office/drawing/2014/main" id="{401F80DA-78D2-85FE-2EA5-195FAFDE4CDC}"/>
              </a:ext>
            </a:extLst>
          </p:cNvPr>
          <p:cNvSpPr/>
          <p:nvPr/>
        </p:nvSpPr>
        <p:spPr>
          <a:xfrm>
            <a:off x="1854124" y="5391807"/>
            <a:ext cx="667044" cy="40303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solidFill>
                <a:schemeClr val="bg1"/>
              </a:solidFill>
            </a:endParaRPr>
          </a:p>
        </p:txBody>
      </p:sp>
      <p:sp>
        <p:nvSpPr>
          <p:cNvPr id="12" name="Textfeld 11">
            <a:extLst>
              <a:ext uri="{FF2B5EF4-FFF2-40B4-BE49-F238E27FC236}">
                <a16:creationId xmlns:a16="http://schemas.microsoft.com/office/drawing/2014/main" id="{6FC7E65B-658F-D305-4FDD-9E27655AE929}"/>
              </a:ext>
            </a:extLst>
          </p:cNvPr>
          <p:cNvSpPr txBox="1"/>
          <p:nvPr/>
        </p:nvSpPr>
        <p:spPr>
          <a:xfrm>
            <a:off x="576345" y="5397007"/>
            <a:ext cx="5420049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600" dirty="0" err="1"/>
              <a:t>multilayer</a:t>
            </a:r>
            <a:r>
              <a:rPr lang="de-DE" sz="2600" dirty="0"/>
              <a:t> </a:t>
            </a:r>
            <a:r>
              <a:rPr lang="de-DE" sz="2600" dirty="0" err="1"/>
              <a:t>ceramic</a:t>
            </a:r>
            <a:r>
              <a:rPr lang="de-DE" sz="2600" dirty="0"/>
              <a:t> </a:t>
            </a:r>
            <a:r>
              <a:rPr lang="de-DE" sz="2600" dirty="0" err="1"/>
              <a:t>capacitor</a:t>
            </a:r>
            <a:r>
              <a:rPr lang="de-DE" sz="2600" dirty="0"/>
              <a:t> (MLCC)</a:t>
            </a:r>
          </a:p>
        </p:txBody>
      </p:sp>
      <p:sp>
        <p:nvSpPr>
          <p:cNvPr id="18" name="Rechteck 17">
            <a:extLst>
              <a:ext uri="{FF2B5EF4-FFF2-40B4-BE49-F238E27FC236}">
                <a16:creationId xmlns:a16="http://schemas.microsoft.com/office/drawing/2014/main" id="{F7E8C5B7-301A-D180-0446-E0DA227850C8}"/>
              </a:ext>
            </a:extLst>
          </p:cNvPr>
          <p:cNvSpPr/>
          <p:nvPr/>
        </p:nvSpPr>
        <p:spPr>
          <a:xfrm>
            <a:off x="2593224" y="2436373"/>
            <a:ext cx="1386052" cy="38773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 err="1">
                <a:solidFill>
                  <a:schemeClr val="tx1"/>
                </a:solidFill>
              </a:rPr>
              <a:t>terminals</a:t>
            </a:r>
            <a:endParaRPr lang="de-DE" dirty="0">
              <a:solidFill>
                <a:schemeClr val="tx1"/>
              </a:solidFill>
            </a:endParaRPr>
          </a:p>
        </p:txBody>
      </p:sp>
      <p:sp>
        <p:nvSpPr>
          <p:cNvPr id="19" name="Textfeld 18">
            <a:extLst>
              <a:ext uri="{FF2B5EF4-FFF2-40B4-BE49-F238E27FC236}">
                <a16:creationId xmlns:a16="http://schemas.microsoft.com/office/drawing/2014/main" id="{00361B8A-32CA-BD0F-CBC1-843A429791F6}"/>
              </a:ext>
            </a:extLst>
          </p:cNvPr>
          <p:cNvSpPr txBox="1"/>
          <p:nvPr/>
        </p:nvSpPr>
        <p:spPr>
          <a:xfrm>
            <a:off x="2559159" y="4912851"/>
            <a:ext cx="21074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metallic </a:t>
            </a:r>
            <a:r>
              <a:rPr lang="de-DE" dirty="0" err="1"/>
              <a:t>electrodes</a:t>
            </a:r>
            <a:endParaRPr lang="de-DE" dirty="0"/>
          </a:p>
        </p:txBody>
      </p:sp>
      <p:sp>
        <p:nvSpPr>
          <p:cNvPr id="20" name="Textfeld 19">
            <a:extLst>
              <a:ext uri="{FF2B5EF4-FFF2-40B4-BE49-F238E27FC236}">
                <a16:creationId xmlns:a16="http://schemas.microsoft.com/office/drawing/2014/main" id="{078D4B4D-DC48-CD5F-1D4E-CA57188BAA4F}"/>
              </a:ext>
            </a:extLst>
          </p:cNvPr>
          <p:cNvSpPr txBox="1"/>
          <p:nvPr/>
        </p:nvSpPr>
        <p:spPr>
          <a:xfrm>
            <a:off x="4666595" y="2943824"/>
            <a:ext cx="11224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 err="1"/>
              <a:t>dielectric</a:t>
            </a:r>
            <a:endParaRPr lang="de-DE" dirty="0"/>
          </a:p>
        </p:txBody>
      </p:sp>
      <p:cxnSp>
        <p:nvCxnSpPr>
          <p:cNvPr id="22" name="Gerade Verbindung 21">
            <a:extLst>
              <a:ext uri="{FF2B5EF4-FFF2-40B4-BE49-F238E27FC236}">
                <a16:creationId xmlns:a16="http://schemas.microsoft.com/office/drawing/2014/main" id="{95DD1D98-C3A8-CC92-97B1-01EA7D9B594B}"/>
              </a:ext>
            </a:extLst>
          </p:cNvPr>
          <p:cNvCxnSpPr/>
          <p:nvPr/>
        </p:nvCxnSpPr>
        <p:spPr>
          <a:xfrm flipH="1">
            <a:off x="3689131" y="3268717"/>
            <a:ext cx="1156138" cy="346842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feld 25">
            <a:extLst>
              <a:ext uri="{FF2B5EF4-FFF2-40B4-BE49-F238E27FC236}">
                <a16:creationId xmlns:a16="http://schemas.microsoft.com/office/drawing/2014/main" id="{F18E0D0A-EB00-4CBB-813B-A8AEED7C80D3}"/>
              </a:ext>
            </a:extLst>
          </p:cNvPr>
          <p:cNvSpPr txBox="1"/>
          <p:nvPr/>
        </p:nvSpPr>
        <p:spPr>
          <a:xfrm>
            <a:off x="775558" y="1887863"/>
            <a:ext cx="542005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de-DE" sz="2200" dirty="0" err="1"/>
              <a:t>connected</a:t>
            </a:r>
            <a:r>
              <a:rPr lang="de-DE" sz="2200" dirty="0"/>
              <a:t> in parallel </a:t>
            </a:r>
            <a:r>
              <a:rPr lang="de-DE" sz="2200" dirty="0">
                <a:sym typeface="Wingdings" pitchFamily="2" charset="2"/>
              </a:rPr>
              <a:t> </a:t>
            </a:r>
            <a:r>
              <a:rPr lang="de-DE" sz="2200" dirty="0" err="1">
                <a:sym typeface="Wingdings" pitchFamily="2" charset="2"/>
              </a:rPr>
              <a:t>higher</a:t>
            </a:r>
            <a:r>
              <a:rPr lang="de-DE" sz="2200" dirty="0">
                <a:sym typeface="Wingdings" pitchFamily="2" charset="2"/>
              </a:rPr>
              <a:t> </a:t>
            </a:r>
            <a:r>
              <a:rPr lang="de-DE" sz="2200" dirty="0" err="1">
                <a:sym typeface="Wingdings" pitchFamily="2" charset="2"/>
              </a:rPr>
              <a:t>capacitance</a:t>
            </a:r>
            <a:endParaRPr lang="de-DE" sz="2200" dirty="0"/>
          </a:p>
        </p:txBody>
      </p:sp>
      <p:sp>
        <p:nvSpPr>
          <p:cNvPr id="27" name="Textfeld 26">
            <a:extLst>
              <a:ext uri="{FF2B5EF4-FFF2-40B4-BE49-F238E27FC236}">
                <a16:creationId xmlns:a16="http://schemas.microsoft.com/office/drawing/2014/main" id="{7DEAD047-684B-D160-CA1F-BB62E0501103}"/>
              </a:ext>
            </a:extLst>
          </p:cNvPr>
          <p:cNvSpPr txBox="1"/>
          <p:nvPr/>
        </p:nvSpPr>
        <p:spPr>
          <a:xfrm>
            <a:off x="6096000" y="1893332"/>
            <a:ext cx="5357408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lang="de-DE" sz="2200" dirty="0"/>
              <a:t>larger </a:t>
            </a:r>
            <a:r>
              <a:rPr lang="de-DE" sz="2200" dirty="0" err="1"/>
              <a:t>area</a:t>
            </a:r>
            <a:r>
              <a:rPr lang="de-DE" sz="2200" dirty="0"/>
              <a:t> </a:t>
            </a:r>
            <a:r>
              <a:rPr lang="de-DE" sz="2200" dirty="0">
                <a:sym typeface="Wingdings" pitchFamily="2" charset="2"/>
              </a:rPr>
              <a:t> </a:t>
            </a:r>
            <a:r>
              <a:rPr lang="de-DE" sz="2200" dirty="0" err="1">
                <a:sym typeface="Wingdings" pitchFamily="2" charset="2"/>
              </a:rPr>
              <a:t>higher</a:t>
            </a:r>
            <a:r>
              <a:rPr lang="de-DE" sz="2200" dirty="0">
                <a:sym typeface="Wingdings" pitchFamily="2" charset="2"/>
              </a:rPr>
              <a:t> </a:t>
            </a:r>
            <a:r>
              <a:rPr lang="de-DE" sz="2200" dirty="0" err="1">
                <a:sym typeface="Wingdings" pitchFamily="2" charset="2"/>
              </a:rPr>
              <a:t>capacitance</a:t>
            </a:r>
            <a:endParaRPr lang="de-DE" sz="2200" dirty="0"/>
          </a:p>
        </p:txBody>
      </p:sp>
    </p:spTree>
    <p:extLst>
      <p:ext uri="{BB962C8B-B14F-4D97-AF65-F5344CB8AC3E}">
        <p14:creationId xmlns:p14="http://schemas.microsoft.com/office/powerpoint/2010/main" val="314223396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7F6FDB6-CDF4-CD73-A347-5A39A5E73A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Magnetic</a:t>
            </a:r>
            <a:r>
              <a:rPr lang="de-DE" dirty="0"/>
              <a:t> Force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Inhaltsplatzhalter 6">
                <a:extLst>
                  <a:ext uri="{FF2B5EF4-FFF2-40B4-BE49-F238E27FC236}">
                    <a16:creationId xmlns:a16="http://schemas.microsoft.com/office/drawing/2014/main" id="{38A1FB15-1730-0697-298D-26142AA2418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096000" y="2396359"/>
                <a:ext cx="5257800" cy="1776248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de-DE" dirty="0"/>
                  <a:t>a </a:t>
                </a:r>
                <a:r>
                  <a:rPr lang="de-DE" dirty="0" err="1"/>
                  <a:t>magnet</a:t>
                </a:r>
                <a:r>
                  <a:rPr lang="de-DE" dirty="0"/>
                  <a:t> </a:t>
                </a:r>
                <a:r>
                  <a:rPr lang="de-DE" dirty="0" err="1"/>
                  <a:t>exerts</a:t>
                </a:r>
                <a:r>
                  <a:rPr lang="de-DE" dirty="0"/>
                  <a:t> a </a:t>
                </a:r>
                <a:r>
                  <a:rPr lang="de-DE" dirty="0" err="1"/>
                  <a:t>force</a:t>
                </a:r>
                <a:r>
                  <a:rPr lang="de-DE" dirty="0"/>
                  <a:t> on a </a:t>
                </a:r>
                <a:r>
                  <a:rPr lang="de-DE" dirty="0" err="1"/>
                  <a:t>current-carrying</a:t>
                </a:r>
                <a:r>
                  <a:rPr lang="de-DE" dirty="0"/>
                  <a:t> </a:t>
                </a:r>
                <a:r>
                  <a:rPr lang="de-DE" dirty="0" err="1"/>
                  <a:t>conductor</a:t>
                </a:r>
                <a:r>
                  <a:rPr lang="de-DE" dirty="0"/>
                  <a:t>:</a:t>
                </a:r>
              </a:p>
              <a:p>
                <a:pPr marL="0" indent="0">
                  <a:buNone/>
                </a:pPr>
                <a:endParaRPr lang="de-DE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i="1">
                          <a:latin typeface="Cambria Math" panose="02040503050406030204" pitchFamily="18" charset="0"/>
                        </a:rPr>
                        <m:t>𝐹</m:t>
                      </m:r>
                      <m:r>
                        <a:rPr lang="de-DE">
                          <a:latin typeface="Cambria Math" panose="02040503050406030204" pitchFamily="18" charset="0"/>
                        </a:rPr>
                        <m:t>~</m:t>
                      </m:r>
                      <m:r>
                        <a:rPr lang="de-DE" i="1">
                          <a:latin typeface="Cambria Math" panose="02040503050406030204" pitchFamily="18" charset="0"/>
                        </a:rPr>
                        <m:t>𝐼</m:t>
                      </m:r>
                      <m:r>
                        <a:rPr lang="de-DE">
                          <a:latin typeface="Cambria Math" panose="02040503050406030204" pitchFamily="18" charset="0"/>
                        </a:rPr>
                        <m:t>∙</m:t>
                      </m:r>
                      <m:r>
                        <a:rPr lang="de-DE" i="1">
                          <a:latin typeface="Cambria Math" panose="02040503050406030204" pitchFamily="18" charset="0"/>
                        </a:rPr>
                        <m:t>𝑠</m:t>
                      </m:r>
                      <m:r>
                        <a:rPr lang="de-DE">
                          <a:latin typeface="Cambria Math" panose="02040503050406030204" pitchFamily="18" charset="0"/>
                        </a:rPr>
                        <m:t>  →  </m:t>
                      </m:r>
                      <m:r>
                        <a:rPr lang="de-DE" i="1">
                          <a:latin typeface="Cambria Math" panose="02040503050406030204" pitchFamily="18" charset="0"/>
                        </a:rPr>
                        <m:t>𝐹</m:t>
                      </m:r>
                      <m:r>
                        <a:rPr lang="de-DE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de-DE" i="1"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de-DE">
                          <a:latin typeface="Cambria Math" panose="02040503050406030204" pitchFamily="18" charset="0"/>
                        </a:rPr>
                        <m:t>∙</m:t>
                      </m:r>
                      <m:r>
                        <a:rPr lang="de-DE" i="1">
                          <a:latin typeface="Cambria Math" panose="02040503050406030204" pitchFamily="18" charset="0"/>
                        </a:rPr>
                        <m:t>𝐼</m:t>
                      </m:r>
                      <m:r>
                        <a:rPr lang="de-DE">
                          <a:latin typeface="Cambria Math" panose="02040503050406030204" pitchFamily="18" charset="0"/>
                        </a:rPr>
                        <m:t>∙</m:t>
                      </m:r>
                      <m:r>
                        <a:rPr lang="de-DE" i="1">
                          <a:latin typeface="Cambria Math" panose="02040503050406030204" pitchFamily="18" charset="0"/>
                        </a:rPr>
                        <m:t>𝑠</m:t>
                      </m:r>
                    </m:oMath>
                  </m:oMathPara>
                </a14:m>
                <a:endParaRPr lang="de-DE" dirty="0"/>
              </a:p>
            </p:txBody>
          </p:sp>
        </mc:Choice>
        <mc:Fallback xmlns="">
          <p:sp>
            <p:nvSpPr>
              <p:cNvPr id="7" name="Inhaltsplatzhalter 6">
                <a:extLst>
                  <a:ext uri="{FF2B5EF4-FFF2-40B4-BE49-F238E27FC236}">
                    <a16:creationId xmlns:a16="http://schemas.microsoft.com/office/drawing/2014/main" id="{38A1FB15-1730-0697-298D-26142AA2418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096000" y="2396359"/>
                <a:ext cx="5257800" cy="1776248"/>
              </a:xfrm>
              <a:blipFill>
                <a:blip r:embed="rId2"/>
                <a:stretch>
                  <a:fillRect l="-2651" t="-5674" b="-4965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50CEE1B0-0968-C580-DE9A-ED43762B20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03FC7C-1F2C-4946-B702-1A52A755583B}" type="slidenum">
              <a:rPr lang="de-DE" smtClean="0"/>
              <a:t>19</a:t>
            </a:fld>
            <a:endParaRPr lang="de-DE"/>
          </a:p>
        </p:txBody>
      </p:sp>
      <p:pic>
        <p:nvPicPr>
          <p:cNvPr id="4" name="Bild 68">
            <a:extLst>
              <a:ext uri="{FF2B5EF4-FFF2-40B4-BE49-F238E27FC236}">
                <a16:creationId xmlns:a16="http://schemas.microsoft.com/office/drawing/2014/main" id="{83CA8B5B-AA83-EC15-CBDD-9A8672F6D0AE}"/>
              </a:ext>
            </a:extLst>
          </p:cNvPr>
          <p:cNvPicPr>
            <a:picLocks/>
          </p:cNvPicPr>
          <p:nvPr/>
        </p:nvPicPr>
        <p:blipFill rotWithShape="1">
          <a:blip r:embed="rId3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1927"/>
          <a:stretch/>
        </p:blipFill>
        <p:spPr bwMode="auto">
          <a:xfrm>
            <a:off x="1749819" y="1593850"/>
            <a:ext cx="3663163" cy="4762500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wpc="http://schemas.microsoft.com/office/word/2010/wordprocessingCanvas" xmlns:cx="http://schemas.microsoft.com/office/drawing/2014/chartex" xmlns:mc="http://schemas.openxmlformats.org/markup-compatibility/2006" xmlns:m="http://schemas.openxmlformats.org/officeDocument/2006/math" xmlns:wp14="http://schemas.microsoft.com/office/word/2010/wordprocessingDrawing" xmlns:wp="http://schemas.openxmlformats.org/drawingml/2006/wordprocessingDrawing" xmlns:w14="http://schemas.microsoft.com/office/word/2010/wordml" xmlns:w15="http://schemas.microsoft.com/office/word/2012/wordml" xmlns:w16se="http://schemas.microsoft.com/office/word/2015/wordml/symex" xmlns:wpg="http://schemas.microsoft.com/office/word/2010/wordprocessingGroup" xmlns:wpi="http://schemas.microsoft.com/office/word/2010/wordprocessingInk" xmlns:wne="http://schemas.microsoft.com/office/word/2006/wordml" xmlns:wps="http://schemas.microsoft.com/office/word/2010/wordprocessingShape" xmlns:pic="http://schemas.openxmlformats.org/drawingml/2006/picture" xmlns:a14="http://schemas.microsoft.com/office/drawing/2010/main" xmlns:w="http://schemas.openxmlformats.org/wordprocessingml/2006/main" xmlns:w10="urn:schemas-microsoft-com:office:word" xmlns:v="urn:schemas-microsoft-com:vml" xmlns:o="urn:schemas-microsoft-com:office:office" xmlns="" xmlns:mv="urn:schemas-microsoft-com:mac:vml" xmlns:mo="http://schemas.microsoft.com/office/mac/office/2008/main" xmlns:lc="http://schemas.openxmlformats.org/drawingml/2006/lockedCanvas"/>
            </a:ext>
          </a:extLst>
        </p:spPr>
      </p:pic>
      <p:sp>
        <p:nvSpPr>
          <p:cNvPr id="8" name="Textfeld 7">
            <a:extLst>
              <a:ext uri="{FF2B5EF4-FFF2-40B4-BE49-F238E27FC236}">
                <a16:creationId xmlns:a16="http://schemas.microsoft.com/office/drawing/2014/main" id="{80A62984-AD00-A2BE-2542-A9A6E8F07B38}"/>
              </a:ext>
            </a:extLst>
          </p:cNvPr>
          <p:cNvSpPr txBox="1"/>
          <p:nvPr/>
        </p:nvSpPr>
        <p:spPr>
          <a:xfrm>
            <a:off x="7533708" y="5150069"/>
            <a:ext cx="238238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2800" dirty="0" err="1"/>
              <a:t>magnetic</a:t>
            </a:r>
            <a:r>
              <a:rPr lang="de-DE" sz="2800" dirty="0"/>
              <a:t> </a:t>
            </a:r>
            <a:r>
              <a:rPr lang="de-DE" sz="2800" dirty="0" err="1"/>
              <a:t>field</a:t>
            </a:r>
            <a:endParaRPr lang="de-DE" sz="2800" dirty="0"/>
          </a:p>
        </p:txBody>
      </p:sp>
      <p:cxnSp>
        <p:nvCxnSpPr>
          <p:cNvPr id="10" name="Gerade Verbindung mit Pfeil 9">
            <a:extLst>
              <a:ext uri="{FF2B5EF4-FFF2-40B4-BE49-F238E27FC236}">
                <a16:creationId xmlns:a16="http://schemas.microsoft.com/office/drawing/2014/main" id="{1A83321C-0B11-1325-E01F-0DFA89843DE5}"/>
              </a:ext>
            </a:extLst>
          </p:cNvPr>
          <p:cNvCxnSpPr>
            <a:stCxn id="8" idx="0"/>
          </p:cNvCxnSpPr>
          <p:nvPr/>
        </p:nvCxnSpPr>
        <p:spPr>
          <a:xfrm flipV="1">
            <a:off x="8724900" y="4078014"/>
            <a:ext cx="723900" cy="107205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6766010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0278031-2CB7-EB10-D62B-020397E004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Magnetic</a:t>
            </a:r>
            <a:r>
              <a:rPr lang="de-DE" dirty="0"/>
              <a:t> Flux Density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Inhaltsplatzhalter 2">
                <a:extLst>
                  <a:ext uri="{FF2B5EF4-FFF2-40B4-BE49-F238E27FC236}">
                    <a16:creationId xmlns:a16="http://schemas.microsoft.com/office/drawing/2014/main" id="{A363869A-7B22-F87E-52FD-0C6B45636D9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 lnSpcReduction="20000"/>
              </a:bodyPr>
              <a:lstStyle/>
              <a:p>
                <a:pPr marL="0" indent="0" algn="ctr">
                  <a:buNone/>
                </a:pP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de-DE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de-DE" i="1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</m:d>
                    <m:r>
                      <a:rPr lang="de-DE" i="1">
                        <a:latin typeface="Cambria Math" panose="02040503050406030204" pitchFamily="18" charset="0"/>
                      </a:rPr>
                      <m:t>=1 </m:t>
                    </m:r>
                    <m:f>
                      <m:fPr>
                        <m:ctrlPr>
                          <a:rPr lang="de-DE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de-DE">
                            <a:latin typeface="Cambria Math" panose="02040503050406030204" pitchFamily="18" charset="0"/>
                          </a:rPr>
                          <m:t>N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de-DE">
                            <a:latin typeface="Cambria Math" panose="02040503050406030204" pitchFamily="18" charset="0"/>
                          </a:rPr>
                          <m:t>Am</m:t>
                        </m:r>
                      </m:den>
                    </m:f>
                    <m:r>
                      <a:rPr lang="de-DE">
                        <a:latin typeface="Cambria Math" panose="02040503050406030204" pitchFamily="18" charset="0"/>
                      </a:rPr>
                      <m:t>=1 </m:t>
                    </m:r>
                    <m:f>
                      <m:fPr>
                        <m:ctrlPr>
                          <a:rPr lang="de-DE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de-DE">
                            <a:latin typeface="Cambria Math" panose="02040503050406030204" pitchFamily="18" charset="0"/>
                          </a:rPr>
                          <m:t>Vs</m:t>
                        </m:r>
                      </m:num>
                      <m:den>
                        <m:sSup>
                          <m:sSupPr>
                            <m:ctrlPr>
                              <a:rPr lang="de-DE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lang="de-DE">
                                <a:latin typeface="Cambria Math" panose="02040503050406030204" pitchFamily="18" charset="0"/>
                              </a:rPr>
                              <m:t>m</m:t>
                            </m:r>
                          </m:e>
                          <m:sup>
                            <m:r>
                              <a:rPr lang="de-DE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a:rPr lang="de-DE">
                        <a:latin typeface="Cambria Math" panose="02040503050406030204" pitchFamily="18" charset="0"/>
                      </a:rPr>
                      <m:t>=1 </m:t>
                    </m:r>
                    <m:r>
                      <m:rPr>
                        <m:sty m:val="p"/>
                      </m:rPr>
                      <a:rPr lang="de-DE">
                        <a:latin typeface="Cambria Math" panose="02040503050406030204" pitchFamily="18" charset="0"/>
                      </a:rPr>
                      <m:t>T</m:t>
                    </m:r>
                  </m:oMath>
                </a14:m>
                <a:r>
                  <a:rPr lang="de-DE" dirty="0"/>
                  <a:t>	(</a:t>
                </a:r>
                <a:r>
                  <a:rPr lang="de-DE" dirty="0" err="1"/>
                  <a:t>tesla</a:t>
                </a:r>
                <a:r>
                  <a:rPr lang="de-DE" dirty="0"/>
                  <a:t>)</a:t>
                </a:r>
              </a:p>
              <a:p>
                <a:pPr marL="0" indent="0">
                  <a:buNone/>
                </a:pPr>
                <a:endParaRPr lang="de-DE" dirty="0"/>
              </a:p>
              <a:p>
                <a:pPr marL="0" indent="0" algn="ctr">
                  <a:buNone/>
                </a:pPr>
                <a:r>
                  <a:rPr lang="de-DE" dirty="0"/>
                  <a:t>also:	</a:t>
                </a:r>
                <a14:m>
                  <m:oMath xmlns:m="http://schemas.openxmlformats.org/officeDocument/2006/math">
                    <m:r>
                      <a:rPr lang="de-DE">
                        <a:latin typeface="Cambria Math" panose="02040503050406030204" pitchFamily="18" charset="0"/>
                      </a:rPr>
                      <m:t>1 </m:t>
                    </m:r>
                    <m:r>
                      <m:rPr>
                        <m:sty m:val="p"/>
                      </m:rPr>
                      <a:rPr lang="de-DE">
                        <a:latin typeface="Cambria Math" panose="02040503050406030204" pitchFamily="18" charset="0"/>
                      </a:rPr>
                      <m:t>T</m:t>
                    </m:r>
                    <m:r>
                      <a:rPr lang="de-DE" b="0" i="0" smtClean="0">
                        <a:latin typeface="Cambria Math" panose="02040503050406030204" pitchFamily="18" charset="0"/>
                      </a:rPr>
                      <m:t>=10,000 </m:t>
                    </m:r>
                    <m:r>
                      <m:rPr>
                        <m:sty m:val="p"/>
                      </m:rPr>
                      <a:rPr lang="de-DE" b="0" i="0" smtClean="0">
                        <a:latin typeface="Cambria Math" panose="02040503050406030204" pitchFamily="18" charset="0"/>
                      </a:rPr>
                      <m:t>G</m:t>
                    </m:r>
                  </m:oMath>
                </a14:m>
                <a:r>
                  <a:rPr lang="de-DE" dirty="0"/>
                  <a:t>	(</a:t>
                </a:r>
                <a:r>
                  <a:rPr lang="de-DE" dirty="0" err="1"/>
                  <a:t>gauss</a:t>
                </a:r>
                <a:r>
                  <a:rPr lang="de-DE" dirty="0"/>
                  <a:t>)</a:t>
                </a:r>
              </a:p>
              <a:p>
                <a:pPr marL="0" indent="0" algn="ctr">
                  <a:buNone/>
                </a:pPr>
                <a:endParaRPr lang="de-DE" dirty="0"/>
              </a:p>
              <a:p>
                <a:pPr marL="0" indent="0">
                  <a:buNone/>
                </a:pPr>
                <a:r>
                  <a:rPr lang="de-DE" dirty="0" err="1"/>
                  <a:t>direction</a:t>
                </a:r>
                <a:r>
                  <a:rPr lang="de-DE" dirty="0"/>
                  <a:t> </a:t>
                </a:r>
                <a:r>
                  <a:rPr lang="de-DE" dirty="0" err="1"/>
                  <a:t>of</a:t>
                </a:r>
                <a:r>
                  <a:rPr lang="de-DE" dirty="0"/>
                  <a:t> </a:t>
                </a:r>
                <a:r>
                  <a:rPr lang="de-DE" dirty="0" err="1"/>
                  <a:t>magnetic</a:t>
                </a:r>
                <a:r>
                  <a:rPr lang="de-DE" dirty="0"/>
                  <a:t> </a:t>
                </a:r>
                <a:r>
                  <a:rPr lang="de-DE" dirty="0" err="1"/>
                  <a:t>force</a:t>
                </a:r>
                <a:r>
                  <a:rPr lang="de-DE" dirty="0"/>
                  <a:t> </a:t>
                </a:r>
                <a:r>
                  <a:rPr lang="de-DE" dirty="0" err="1"/>
                  <a:t>is</a:t>
                </a:r>
                <a:r>
                  <a:rPr lang="de-DE" dirty="0"/>
                  <a:t> orthogonal </a:t>
                </a:r>
                <a:r>
                  <a:rPr lang="de-DE" dirty="0" err="1"/>
                  <a:t>to</a:t>
                </a:r>
                <a:r>
                  <a:rPr lang="de-DE" dirty="0"/>
                  <a:t> plane </a:t>
                </a:r>
                <a:r>
                  <a:rPr lang="de-DE" dirty="0" err="1"/>
                  <a:t>of</a:t>
                </a:r>
                <a:r>
                  <a:rPr lang="de-DE" dirty="0"/>
                  <a:t> </a:t>
                </a:r>
                <a:r>
                  <a:rPr lang="de-DE" dirty="0" err="1"/>
                  <a:t>conductor</a:t>
                </a:r>
                <a:r>
                  <a:rPr lang="de-DE" dirty="0"/>
                  <a:t> and </a:t>
                </a:r>
                <a:r>
                  <a:rPr lang="de-DE" dirty="0" err="1"/>
                  <a:t>field</a:t>
                </a:r>
                <a:r>
                  <a:rPr lang="de-DE" dirty="0"/>
                  <a:t>, </a:t>
                </a:r>
                <a:r>
                  <a:rPr lang="de-DE" dirty="0" err="1"/>
                  <a:t>strength</a:t>
                </a:r>
                <a:r>
                  <a:rPr lang="de-DE" dirty="0"/>
                  <a:t> </a:t>
                </a:r>
                <a:r>
                  <a:rPr lang="de-DE" dirty="0" err="1"/>
                  <a:t>depends</a:t>
                </a:r>
                <a:r>
                  <a:rPr lang="de-DE" dirty="0"/>
                  <a:t> on angle </a:t>
                </a:r>
                <a:r>
                  <a:rPr lang="de-DE" dirty="0" err="1"/>
                  <a:t>between</a:t>
                </a:r>
                <a:r>
                  <a:rPr lang="de-DE" dirty="0"/>
                  <a:t> </a:t>
                </a:r>
                <a:r>
                  <a:rPr lang="de-DE" dirty="0" err="1"/>
                  <a:t>conductor</a:t>
                </a:r>
                <a:r>
                  <a:rPr lang="de-DE" dirty="0"/>
                  <a:t> and </a:t>
                </a:r>
                <a:r>
                  <a:rPr lang="de-DE" dirty="0" err="1"/>
                  <a:t>field</a:t>
                </a:r>
                <a:r>
                  <a:rPr lang="de-DE" dirty="0"/>
                  <a:t>:</a:t>
                </a:r>
              </a:p>
              <a:p>
                <a:pPr marL="0" indent="0">
                  <a:buNone/>
                </a:pPr>
                <a:endParaRPr lang="de-DE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de-DE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</m:acc>
                      <m:r>
                        <a:rPr lang="de-DE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de-DE" i="1">
                          <a:latin typeface="Cambria Math" panose="02040503050406030204" pitchFamily="18" charset="0"/>
                        </a:rPr>
                        <m:t>𝐼</m:t>
                      </m:r>
                      <m:r>
                        <a:rPr lang="de-DE">
                          <a:latin typeface="Cambria Math" panose="02040503050406030204" pitchFamily="18" charset="0"/>
                        </a:rPr>
                        <m:t>∙</m:t>
                      </m:r>
                      <m:acc>
                        <m:accPr>
                          <m:chr m:val="⃗"/>
                          <m:ctrlPr>
                            <a:rPr lang="de-DE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𝑙</m:t>
                          </m:r>
                        </m:e>
                      </m:acc>
                      <m:r>
                        <a:rPr lang="de-DE">
                          <a:latin typeface="Cambria Math" panose="02040503050406030204" pitchFamily="18" charset="0"/>
                        </a:rPr>
                        <m:t>×</m:t>
                      </m:r>
                      <m:acc>
                        <m:accPr>
                          <m:chr m:val="⃗"/>
                          <m:ctrlPr>
                            <a:rPr lang="de-DE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</m:acc>
                    </m:oMath>
                  </m:oMathPara>
                </a14:m>
                <a:endParaRPr lang="de-DE" dirty="0"/>
              </a:p>
              <a:p>
                <a:pPr marL="0" indent="0">
                  <a:buNone/>
                </a:pPr>
                <a:endParaRPr lang="de-DE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i="1">
                          <a:latin typeface="Cambria Math" panose="02040503050406030204" pitchFamily="18" charset="0"/>
                        </a:rPr>
                        <m:t>𝐹</m:t>
                      </m:r>
                      <m:r>
                        <a:rPr lang="de-DE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|"/>
                          <m:endChr m:val="|"/>
                          <m:ctrlPr>
                            <a:rPr lang="de-DE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⃗"/>
                              <m:ctrlPr>
                                <a:rPr lang="de-DE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de-DE" i="1">
                                  <a:latin typeface="Cambria Math" panose="02040503050406030204" pitchFamily="18" charset="0"/>
                                </a:rPr>
                                <m:t>𝐹</m:t>
                              </m:r>
                            </m:e>
                          </m:acc>
                        </m:e>
                      </m:d>
                      <m:r>
                        <a:rPr lang="de-DE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de-DE" i="1"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de-DE">
                          <a:latin typeface="Cambria Math" panose="02040503050406030204" pitchFamily="18" charset="0"/>
                        </a:rPr>
                        <m:t>∙</m:t>
                      </m:r>
                      <m:r>
                        <a:rPr lang="de-DE" i="1">
                          <a:latin typeface="Cambria Math" panose="02040503050406030204" pitchFamily="18" charset="0"/>
                        </a:rPr>
                        <m:t>𝐼</m:t>
                      </m:r>
                      <m:r>
                        <a:rPr lang="de-DE">
                          <a:latin typeface="Cambria Math" panose="02040503050406030204" pitchFamily="18" charset="0"/>
                        </a:rPr>
                        <m:t>∙</m:t>
                      </m:r>
                      <m:r>
                        <a:rPr lang="de-DE" b="0" i="1" smtClean="0">
                          <a:latin typeface="Cambria Math" panose="02040503050406030204" pitchFamily="18" charset="0"/>
                        </a:rPr>
                        <m:t>𝑙</m:t>
                      </m:r>
                      <m:r>
                        <a:rPr lang="de-DE">
                          <a:latin typeface="Cambria Math" panose="02040503050406030204" pitchFamily="18" charset="0"/>
                        </a:rPr>
                        <m:t>∙</m:t>
                      </m:r>
                      <m:func>
                        <m:funcPr>
                          <m:ctrlPr>
                            <a:rPr lang="de-DE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de-DE">
                              <a:latin typeface="Cambria Math" panose="02040503050406030204" pitchFamily="18" charset="0"/>
                            </a:rPr>
                            <m:t>sin</m:t>
                          </m:r>
                        </m:fName>
                        <m:e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𝛼</m:t>
                          </m:r>
                        </m:e>
                      </m:func>
                    </m:oMath>
                  </m:oMathPara>
                </a14:m>
                <a:endParaRPr lang="de-DE" dirty="0"/>
              </a:p>
            </p:txBody>
          </p:sp>
        </mc:Choice>
        <mc:Fallback xmlns="">
          <p:sp>
            <p:nvSpPr>
              <p:cNvPr id="3" name="Inhaltsplatzhalter 2">
                <a:extLst>
                  <a:ext uri="{FF2B5EF4-FFF2-40B4-BE49-F238E27FC236}">
                    <a16:creationId xmlns:a16="http://schemas.microsoft.com/office/drawing/2014/main" id="{A363869A-7B22-F87E-52FD-0C6B45636D9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86" t="-1744" r="-844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7EC5F7DB-9E53-9485-99E3-6F9D9BAE0A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03FC7C-1F2C-4946-B702-1A52A755583B}" type="slidenum">
              <a:rPr lang="de-DE" smtClean="0"/>
              <a:t>20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85480532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9CED7CA-D5DA-3D9A-C876-1EFE2736F1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Lorentz Force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Inhaltsplatzhalter 2">
                <a:extLst>
                  <a:ext uri="{FF2B5EF4-FFF2-40B4-BE49-F238E27FC236}">
                    <a16:creationId xmlns:a16="http://schemas.microsoft.com/office/drawing/2014/main" id="{AC625A9E-C40A-ADA9-B089-D1DCD1F9D36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690689"/>
                <a:ext cx="10515600" cy="2170428"/>
              </a:xfrm>
            </p:spPr>
            <p:txBody>
              <a:bodyPr>
                <a:normAutofit fontScale="92500" lnSpcReduction="20000"/>
              </a:bodyPr>
              <a:lstStyle/>
              <a:p>
                <a:pPr marL="0" indent="0">
                  <a:buNone/>
                </a:pPr>
                <a:r>
                  <a:rPr lang="de-DE" dirty="0"/>
                  <a:t>same </a:t>
                </a:r>
                <a:r>
                  <a:rPr lang="de-DE" dirty="0" err="1"/>
                  <a:t>kind</a:t>
                </a:r>
                <a:r>
                  <a:rPr lang="de-DE" dirty="0"/>
                  <a:t> </a:t>
                </a:r>
                <a:r>
                  <a:rPr lang="de-DE" dirty="0" err="1"/>
                  <a:t>of</a:t>
                </a:r>
                <a:r>
                  <a:rPr lang="de-DE" dirty="0"/>
                  <a:t> </a:t>
                </a:r>
                <a:r>
                  <a:rPr lang="de-DE" dirty="0" err="1"/>
                  <a:t>magnetic</a:t>
                </a:r>
                <a:r>
                  <a:rPr lang="de-DE" dirty="0"/>
                  <a:t> </a:t>
                </a:r>
                <a:r>
                  <a:rPr lang="de-DE" dirty="0" err="1"/>
                  <a:t>force</a:t>
                </a:r>
                <a:r>
                  <a:rPr lang="de-DE" dirty="0"/>
                  <a:t> on </a:t>
                </a:r>
                <a:r>
                  <a:rPr lang="de-DE" dirty="0" err="1"/>
                  <a:t>charged</a:t>
                </a:r>
                <a:r>
                  <a:rPr lang="de-DE" dirty="0"/>
                  <a:t> </a:t>
                </a:r>
                <a:r>
                  <a:rPr lang="de-DE" dirty="0" err="1"/>
                  <a:t>particles</a:t>
                </a:r>
                <a:r>
                  <a:rPr lang="de-DE" dirty="0"/>
                  <a:t>:</a:t>
                </a:r>
              </a:p>
              <a:p>
                <a:pPr marL="0" indent="0">
                  <a:buNone/>
                </a:pPr>
                <a:endParaRPr lang="de-DE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de-DE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</m:acc>
                      <m:r>
                        <a:rPr lang="de-DE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de-DE" i="1">
                          <a:latin typeface="Cambria Math" panose="02040503050406030204" pitchFamily="18" charset="0"/>
                        </a:rPr>
                        <m:t>𝐼</m:t>
                      </m:r>
                      <m:r>
                        <a:rPr lang="de-DE">
                          <a:latin typeface="Cambria Math" panose="02040503050406030204" pitchFamily="18" charset="0"/>
                        </a:rPr>
                        <m:t>∙</m:t>
                      </m:r>
                      <m:acc>
                        <m:accPr>
                          <m:chr m:val="⃗"/>
                          <m:ctrlPr>
                            <a:rPr lang="de-DE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𝑙</m:t>
                          </m:r>
                        </m:e>
                      </m:acc>
                      <m:r>
                        <a:rPr lang="de-DE">
                          <a:latin typeface="Cambria Math" panose="02040503050406030204" pitchFamily="18" charset="0"/>
                        </a:rPr>
                        <m:t>×</m:t>
                      </m:r>
                      <m:acc>
                        <m:accPr>
                          <m:chr m:val="⃗"/>
                          <m:ctrlPr>
                            <a:rPr lang="de-DE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</m:acc>
                      <m:r>
                        <a:rPr lang="de-DE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de-DE" i="1">
                          <a:latin typeface="Cambria Math" panose="02040503050406030204" pitchFamily="18" charset="0"/>
                        </a:rPr>
                        <m:t>𝑄</m:t>
                      </m:r>
                      <m:r>
                        <a:rPr lang="de-DE">
                          <a:latin typeface="Cambria Math" panose="02040503050406030204" pitchFamily="18" charset="0"/>
                        </a:rPr>
                        <m:t>∙</m:t>
                      </m:r>
                      <m:acc>
                        <m:accPr>
                          <m:chr m:val="⃗"/>
                          <m:ctrlPr>
                            <a:rPr lang="de-DE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</m:acc>
                      <m:r>
                        <a:rPr lang="de-DE">
                          <a:latin typeface="Cambria Math" panose="02040503050406030204" pitchFamily="18" charset="0"/>
                        </a:rPr>
                        <m:t>×</m:t>
                      </m:r>
                      <m:acc>
                        <m:accPr>
                          <m:chr m:val="⃗"/>
                          <m:ctrlPr>
                            <a:rPr lang="de-DE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</m:acc>
                    </m:oMath>
                  </m:oMathPara>
                </a14:m>
                <a:endParaRPr lang="de-DE" dirty="0"/>
              </a:p>
              <a:p>
                <a:pPr marL="0" indent="0">
                  <a:buNone/>
                </a:pPr>
                <a:endParaRPr lang="de-DE" dirty="0"/>
              </a:p>
              <a:p>
                <a:pPr marL="0" indent="0" algn="ctr">
                  <a:buNone/>
                </a:pPr>
                <a:r>
                  <a:rPr lang="de-DE" dirty="0" err="1"/>
                  <a:t>including</a:t>
                </a:r>
                <a:r>
                  <a:rPr lang="de-DE" dirty="0"/>
                  <a:t> </a:t>
                </a:r>
                <a:r>
                  <a:rPr lang="de-DE" dirty="0" err="1"/>
                  <a:t>electric</a:t>
                </a:r>
                <a:r>
                  <a:rPr lang="de-DE" dirty="0"/>
                  <a:t> </a:t>
                </a:r>
                <a:r>
                  <a:rPr lang="de-DE" dirty="0" err="1"/>
                  <a:t>field</a:t>
                </a:r>
                <a:r>
                  <a:rPr lang="de-DE" dirty="0"/>
                  <a:t>:	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de-DE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de-DE" i="1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</m:acc>
                    <m:r>
                      <a:rPr lang="de-DE">
                        <a:latin typeface="Cambria Math" panose="02040503050406030204" pitchFamily="18" charset="0"/>
                      </a:rPr>
                      <m:t>=</m:t>
                    </m:r>
                    <m:r>
                      <a:rPr lang="de-DE" i="1">
                        <a:latin typeface="Cambria Math" panose="02040503050406030204" pitchFamily="18" charset="0"/>
                      </a:rPr>
                      <m:t>𝑄</m:t>
                    </m:r>
                    <m:r>
                      <a:rPr lang="de-DE">
                        <a:latin typeface="Cambria Math" panose="02040503050406030204" pitchFamily="18" charset="0"/>
                      </a:rPr>
                      <m:t>∙</m:t>
                    </m:r>
                    <m:d>
                      <m:dPr>
                        <m:ctrlPr>
                          <a:rPr lang="de-DE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⃗"/>
                            <m:ctrlPr>
                              <a:rPr lang="de-DE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de-DE" b="0" i="1" smtClean="0">
                                <a:latin typeface="Cambria Math" panose="02040503050406030204" pitchFamily="18" charset="0"/>
                              </a:rPr>
                              <m:t>𝐸</m:t>
                            </m:r>
                          </m:e>
                        </m:acc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acc>
                          <m:accPr>
                            <m:chr m:val="⃗"/>
                            <m:ctrlPr>
                              <a:rPr lang="de-DE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de-DE" i="1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</m:acc>
                        <m:r>
                          <a:rPr lang="de-DE">
                            <a:latin typeface="Cambria Math" panose="02040503050406030204" pitchFamily="18" charset="0"/>
                          </a:rPr>
                          <m:t>×</m:t>
                        </m:r>
                        <m:acc>
                          <m:accPr>
                            <m:chr m:val="⃗"/>
                            <m:ctrlPr>
                              <a:rPr lang="de-DE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de-DE" i="1">
                                <a:latin typeface="Cambria Math" panose="02040503050406030204" pitchFamily="18" charset="0"/>
                              </a:rPr>
                              <m:t>𝐵</m:t>
                            </m:r>
                          </m:e>
                        </m:acc>
                      </m:e>
                    </m:d>
                  </m:oMath>
                </a14:m>
                <a:endParaRPr lang="de-DE" dirty="0"/>
              </a:p>
              <a:p>
                <a:pPr marL="0" indent="0">
                  <a:buNone/>
                </a:pPr>
                <a:endParaRPr lang="de-DE" dirty="0"/>
              </a:p>
            </p:txBody>
          </p:sp>
        </mc:Choice>
        <mc:Fallback xmlns="">
          <p:sp>
            <p:nvSpPr>
              <p:cNvPr id="3" name="Inhaltsplatzhalter 2">
                <a:extLst>
                  <a:ext uri="{FF2B5EF4-FFF2-40B4-BE49-F238E27FC236}">
                    <a16:creationId xmlns:a16="http://schemas.microsoft.com/office/drawing/2014/main" id="{AC625A9E-C40A-ADA9-B089-D1DCD1F9D36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690689"/>
                <a:ext cx="10515600" cy="2170428"/>
              </a:xfrm>
              <a:blipFill>
                <a:blip r:embed="rId2"/>
                <a:stretch>
                  <a:fillRect l="-1086" t="-6977" b="-1744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2AF6C11B-6D97-ACE0-379F-5624455781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03FC7C-1F2C-4946-B702-1A52A755583B}" type="slidenum">
              <a:rPr lang="de-DE" smtClean="0"/>
              <a:t>21</a:t>
            </a:fld>
            <a:endParaRPr lang="de-DE"/>
          </a:p>
        </p:txBody>
      </p:sp>
      <p:pic>
        <p:nvPicPr>
          <p:cNvPr id="5" name="Bild 2">
            <a:extLst>
              <a:ext uri="{FF2B5EF4-FFF2-40B4-BE49-F238E27FC236}">
                <a16:creationId xmlns:a16="http://schemas.microsoft.com/office/drawing/2014/main" id="{748E406F-3BAD-2E81-153E-32344A32417A}"/>
              </a:ext>
            </a:extLst>
          </p:cNvPr>
          <p:cNvPicPr>
            <a:picLocks/>
          </p:cNvPicPr>
          <p:nvPr/>
        </p:nvPicPr>
        <p:blipFill>
          <a:blip r:embed="rId3" cstate="print">
            <a:grayscl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697662" y="3861117"/>
            <a:ext cx="4796675" cy="29968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089456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6D50216-DFD7-1CF4-DC7A-2B2402D12B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Generation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Magnetic</a:t>
            </a:r>
            <a:r>
              <a:rPr lang="de-DE" dirty="0"/>
              <a:t> Fields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Inhaltsplatzhalter 2">
                <a:extLst>
                  <a:ext uri="{FF2B5EF4-FFF2-40B4-BE49-F238E27FC236}">
                    <a16:creationId xmlns:a16="http://schemas.microsoft.com/office/drawing/2014/main" id="{98A7C709-C498-9EA9-73FB-FBF8CA344C9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Autofit/>
              </a:bodyPr>
              <a:lstStyle/>
              <a:p>
                <a:r>
                  <a:rPr lang="de-DE" sz="2600" dirty="0"/>
                  <a:t>m</a:t>
                </a:r>
                <a:r>
                  <a:rPr lang="de-DE" sz="2600" dirty="0" err="1"/>
                  <a:t>agnetic</a:t>
                </a:r>
                <a:r>
                  <a:rPr lang="de-DE" sz="2600" dirty="0"/>
                  <a:t> </a:t>
                </a:r>
                <a:r>
                  <a:rPr lang="de-DE" sz="2600" dirty="0" err="1"/>
                  <a:t>field</a:t>
                </a:r>
                <a:r>
                  <a:rPr lang="de-DE" sz="2600" dirty="0"/>
                  <a:t> </a:t>
                </a:r>
                <a:r>
                  <a:rPr lang="de-DE" sz="2600" dirty="0" err="1"/>
                  <a:t>exerts</a:t>
                </a:r>
                <a:r>
                  <a:rPr lang="de-DE" sz="2600" dirty="0"/>
                  <a:t> </a:t>
                </a:r>
                <a:r>
                  <a:rPr lang="de-DE" sz="2600" dirty="0" err="1"/>
                  <a:t>force</a:t>
                </a:r>
                <a:r>
                  <a:rPr lang="de-DE" sz="2600" dirty="0"/>
                  <a:t> on </a:t>
                </a:r>
                <a:r>
                  <a:rPr lang="de-DE" sz="2600" dirty="0" err="1"/>
                  <a:t>moving</a:t>
                </a:r>
                <a:r>
                  <a:rPr lang="de-DE" sz="2600" dirty="0"/>
                  <a:t> </a:t>
                </a:r>
                <a:r>
                  <a:rPr lang="de-DE" sz="2600" dirty="0" err="1"/>
                  <a:t>electric</a:t>
                </a:r>
                <a:r>
                  <a:rPr lang="de-DE" sz="2600" dirty="0"/>
                  <a:t> </a:t>
                </a:r>
                <a:r>
                  <a:rPr lang="de-DE" sz="2600" dirty="0" err="1"/>
                  <a:t>charges</a:t>
                </a:r>
                <a:endParaRPr lang="de-DE" sz="2600" dirty="0"/>
              </a:p>
              <a:p>
                <a:r>
                  <a:rPr lang="de-DE" sz="2600" dirty="0"/>
                  <a:t>in turn, </a:t>
                </a:r>
                <a:r>
                  <a:rPr lang="de-DE" sz="2600" dirty="0" err="1"/>
                  <a:t>moving</a:t>
                </a:r>
                <a:r>
                  <a:rPr lang="de-DE" sz="2600" dirty="0"/>
                  <a:t> </a:t>
                </a:r>
                <a:r>
                  <a:rPr lang="de-DE" sz="2600" dirty="0" err="1"/>
                  <a:t>electric</a:t>
                </a:r>
                <a:r>
                  <a:rPr lang="de-DE" sz="2600" dirty="0"/>
                  <a:t> </a:t>
                </a:r>
                <a:r>
                  <a:rPr lang="de-DE" sz="2600" dirty="0" err="1"/>
                  <a:t>charges</a:t>
                </a:r>
                <a:r>
                  <a:rPr lang="de-DE" sz="2600" dirty="0"/>
                  <a:t> </a:t>
                </a:r>
                <a:r>
                  <a:rPr lang="de-DE" sz="2600" dirty="0" err="1"/>
                  <a:t>generate</a:t>
                </a:r>
                <a:r>
                  <a:rPr lang="de-DE" sz="2600" dirty="0"/>
                  <a:t> </a:t>
                </a:r>
                <a:r>
                  <a:rPr lang="de-DE" sz="2600" dirty="0" err="1"/>
                  <a:t>magnetic</a:t>
                </a:r>
                <a:r>
                  <a:rPr lang="de-DE" sz="2600" dirty="0"/>
                  <a:t> </a:t>
                </a:r>
                <a:r>
                  <a:rPr lang="de-DE" sz="2600" dirty="0" err="1"/>
                  <a:t>fields</a:t>
                </a:r>
                <a:r>
                  <a:rPr lang="de-DE" sz="2600" dirty="0"/>
                  <a:t> (in permanent </a:t>
                </a:r>
                <a:r>
                  <a:rPr lang="de-DE" sz="2600" dirty="0" err="1"/>
                  <a:t>magnets</a:t>
                </a:r>
                <a:r>
                  <a:rPr lang="de-DE" sz="2600" dirty="0"/>
                  <a:t>: orbital and </a:t>
                </a:r>
                <a:r>
                  <a:rPr lang="de-DE" sz="2600" dirty="0" err="1"/>
                  <a:t>spin</a:t>
                </a:r>
                <a:r>
                  <a:rPr lang="de-DE" sz="2600" dirty="0"/>
                  <a:t> </a:t>
                </a:r>
                <a:r>
                  <a:rPr lang="de-DE" sz="2600" dirty="0" err="1"/>
                  <a:t>motion</a:t>
                </a:r>
                <a:r>
                  <a:rPr lang="de-DE" sz="2600" dirty="0"/>
                  <a:t> </a:t>
                </a:r>
                <a:r>
                  <a:rPr lang="de-DE" sz="2600" dirty="0" err="1"/>
                  <a:t>of</a:t>
                </a:r>
                <a:r>
                  <a:rPr lang="de-DE" sz="2600" dirty="0"/>
                  <a:t> </a:t>
                </a:r>
                <a:r>
                  <a:rPr lang="de-DE" sz="2600" dirty="0" err="1"/>
                  <a:t>electrons</a:t>
                </a:r>
                <a:r>
                  <a:rPr lang="de-DE" sz="2600" dirty="0"/>
                  <a:t> </a:t>
                </a:r>
                <a:r>
                  <a:rPr lang="de-DE" sz="2600" dirty="0" err="1"/>
                  <a:t>within</a:t>
                </a:r>
                <a:r>
                  <a:rPr lang="de-DE" sz="2600" dirty="0"/>
                  <a:t> </a:t>
                </a:r>
                <a:r>
                  <a:rPr lang="de-DE" sz="2600" dirty="0" err="1"/>
                  <a:t>atoms</a:t>
                </a:r>
                <a:r>
                  <a:rPr lang="de-DE" sz="2600" dirty="0"/>
                  <a:t>)</a:t>
                </a:r>
              </a:p>
              <a:p>
                <a:pPr marL="0" indent="0">
                  <a:buNone/>
                </a:pPr>
                <a:endParaRPr lang="de-DE" sz="2600" dirty="0"/>
              </a:p>
              <a:p>
                <a:pPr marL="0" indent="0">
                  <a:buNone/>
                </a:pPr>
                <a:r>
                  <a:rPr lang="de-DE" sz="2600" dirty="0"/>
                  <a:t>		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DE" sz="2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sz="2600" i="1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de-DE" sz="260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de-DE" sz="260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de-DE" sz="2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sz="2600" i="1"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de-DE" sz="260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de-DE" sz="2600">
                        <a:latin typeface="Cambria Math" panose="02040503050406030204" pitchFamily="18" charset="0"/>
                      </a:rPr>
                      <m:t>∙</m:t>
                    </m:r>
                    <m:sSub>
                      <m:sSubPr>
                        <m:ctrlPr>
                          <a:rPr lang="de-DE" sz="2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sz="2600" i="1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b>
                        <m:r>
                          <a:rPr lang="de-DE" sz="260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de-DE" sz="2600">
                        <a:latin typeface="Cambria Math" panose="02040503050406030204" pitchFamily="18" charset="0"/>
                      </a:rPr>
                      <m:t>∙</m:t>
                    </m:r>
                    <m:r>
                      <a:rPr lang="de-DE" sz="2600" i="1"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endParaRPr lang="de-DE" sz="2600" dirty="0"/>
              </a:p>
              <a:p>
                <a:pPr marL="0" indent="0">
                  <a:buNone/>
                </a:pPr>
                <a:r>
                  <a:rPr lang="de-DE" sz="2600" dirty="0"/>
                  <a:t>		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DE" sz="2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sz="2600" i="1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b>
                        <m:r>
                          <a:rPr lang="de-DE" sz="260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de-DE" sz="260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de-DE" sz="26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de-DE" sz="26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de-DE" sz="2600" i="1">
                                <a:latin typeface="Cambria Math" panose="02040503050406030204" pitchFamily="18" charset="0"/>
                              </a:rPr>
                              <m:t>𝜇</m:t>
                            </m:r>
                          </m:e>
                          <m:sub>
                            <m:r>
                              <a:rPr lang="de-DE" sz="260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sSub>
                          <m:sSubPr>
                            <m:ctrlPr>
                              <a:rPr lang="de-DE" sz="26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de-DE" sz="2600" i="1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de-DE" sz="260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num>
                      <m:den>
                        <m:r>
                          <a:rPr lang="de-DE" sz="260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de-DE" sz="2600" i="1">
                            <a:latin typeface="Cambria Math" panose="02040503050406030204" pitchFamily="18" charset="0"/>
                          </a:rPr>
                          <m:t>𝜋</m:t>
                        </m:r>
                        <m:r>
                          <a:rPr lang="de-DE" sz="2600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den>
                    </m:f>
                  </m:oMath>
                </a14:m>
                <a:endParaRPr lang="de-DE" sz="2600" dirty="0"/>
              </a:p>
              <a:p>
                <a:pPr marL="0" indent="0">
                  <a:buNone/>
                </a:pPr>
                <a:endParaRPr lang="de-DE" sz="2600" dirty="0"/>
              </a:p>
              <a:p>
                <a:pPr marL="0" indent="0">
                  <a:buNone/>
                </a:pPr>
                <a:r>
                  <a:rPr lang="de-DE" sz="2600" dirty="0"/>
                  <a:t>		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DE" sz="2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sz="2600" i="1">
                            <a:latin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de-DE" sz="2600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de-DE" sz="2600" i="1">
                        <a:latin typeface="Cambria Math" panose="02040503050406030204" pitchFamily="18" charset="0"/>
                      </a:rPr>
                      <m:t>=4</m:t>
                    </m:r>
                    <m:r>
                      <a:rPr lang="de-DE" sz="2600" i="1">
                        <a:latin typeface="Cambria Math" panose="02040503050406030204" pitchFamily="18" charset="0"/>
                      </a:rPr>
                      <m:t>𝜋</m:t>
                    </m:r>
                    <m:r>
                      <a:rPr lang="de-DE" sz="2600" i="1">
                        <a:latin typeface="Cambria Math" panose="02040503050406030204" pitchFamily="18" charset="0"/>
                      </a:rPr>
                      <m:t>∙</m:t>
                    </m:r>
                    <m:sSup>
                      <m:sSupPr>
                        <m:ctrlPr>
                          <a:rPr lang="de-DE" sz="26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de-DE" sz="2600" i="1">
                            <a:latin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de-DE" sz="2600" i="1">
                            <a:latin typeface="Cambria Math" panose="02040503050406030204" pitchFamily="18" charset="0"/>
                          </a:rPr>
                          <m:t>−7</m:t>
                        </m:r>
                      </m:sup>
                    </m:sSup>
                    <m:r>
                      <a:rPr lang="de-DE" sz="2600" i="1">
                        <a:latin typeface="Cambria Math" panose="02040503050406030204" pitchFamily="18" charset="0"/>
                      </a:rPr>
                      <m:t> </m:t>
                    </m:r>
                    <m:f>
                      <m:fPr>
                        <m:ctrlPr>
                          <a:rPr lang="de-DE" sz="26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de-DE" sz="2600">
                            <a:latin typeface="Cambria Math" panose="02040503050406030204" pitchFamily="18" charset="0"/>
                          </a:rPr>
                          <m:t>Vs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de-DE" sz="2600">
                            <a:latin typeface="Cambria Math" panose="02040503050406030204" pitchFamily="18" charset="0"/>
                          </a:rPr>
                          <m:t>Am</m:t>
                        </m:r>
                      </m:den>
                    </m:f>
                  </m:oMath>
                </a14:m>
                <a:endParaRPr lang="de-DE" sz="2600" dirty="0"/>
              </a:p>
            </p:txBody>
          </p:sp>
        </mc:Choice>
        <mc:Fallback xmlns="">
          <p:sp>
            <p:nvSpPr>
              <p:cNvPr id="3" name="Inhaltsplatzhalter 2">
                <a:extLst>
                  <a:ext uri="{FF2B5EF4-FFF2-40B4-BE49-F238E27FC236}">
                    <a16:creationId xmlns:a16="http://schemas.microsoft.com/office/drawing/2014/main" id="{98A7C709-C498-9EA9-73FB-FBF8CA344C9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65" t="-2035" r="-1327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DED8AA70-C1FD-2841-3F8D-9492726492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03FC7C-1F2C-4946-B702-1A52A755583B}" type="slidenum">
              <a:rPr lang="de-DE" smtClean="0"/>
              <a:t>22</a:t>
            </a:fld>
            <a:endParaRPr lang="de-DE"/>
          </a:p>
        </p:txBody>
      </p:sp>
      <p:pic>
        <p:nvPicPr>
          <p:cNvPr id="6" name="Bild 125">
            <a:extLst>
              <a:ext uri="{FF2B5EF4-FFF2-40B4-BE49-F238E27FC236}">
                <a16:creationId xmlns:a16="http://schemas.microsoft.com/office/drawing/2014/main" id="{5788853B-4EA8-32EB-4998-A1FE3ADF3912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553" y="3844401"/>
            <a:ext cx="3096512" cy="2877074"/>
          </a:xfrm>
          <a:prstGeom prst="rect">
            <a:avLst/>
          </a:prstGeom>
        </p:spPr>
      </p:pic>
      <p:sp>
        <p:nvSpPr>
          <p:cNvPr id="9" name="Textfeld 8">
            <a:extLst>
              <a:ext uri="{FF2B5EF4-FFF2-40B4-BE49-F238E27FC236}">
                <a16:creationId xmlns:a16="http://schemas.microsoft.com/office/drawing/2014/main" id="{EC4EB8AC-9128-A32A-91CE-4A318DA288B2}"/>
              </a:ext>
            </a:extLst>
          </p:cNvPr>
          <p:cNvSpPr txBox="1"/>
          <p:nvPr/>
        </p:nvSpPr>
        <p:spPr>
          <a:xfrm>
            <a:off x="3198065" y="6088559"/>
            <a:ext cx="3947556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2200" dirty="0" err="1"/>
              <a:t>vacuum</a:t>
            </a:r>
            <a:r>
              <a:rPr lang="de-DE" sz="2200" dirty="0"/>
              <a:t> </a:t>
            </a:r>
            <a:r>
              <a:rPr lang="de-DE" sz="2200" dirty="0" err="1"/>
              <a:t>magnetic</a:t>
            </a:r>
            <a:r>
              <a:rPr lang="de-DE" sz="2200" dirty="0"/>
              <a:t> </a:t>
            </a:r>
            <a:r>
              <a:rPr lang="de-DE" sz="2200" dirty="0" err="1"/>
              <a:t>permeability</a:t>
            </a:r>
            <a:endParaRPr lang="de-DE" sz="2200" dirty="0"/>
          </a:p>
          <a:p>
            <a:r>
              <a:rPr lang="de-DE" sz="2200" dirty="0"/>
              <a:t>(</a:t>
            </a:r>
            <a:r>
              <a:rPr lang="de-DE" sz="2200" dirty="0" err="1"/>
              <a:t>physical</a:t>
            </a:r>
            <a:r>
              <a:rPr lang="de-DE" sz="2200" dirty="0"/>
              <a:t> </a:t>
            </a:r>
            <a:r>
              <a:rPr lang="de-DE" sz="2200" dirty="0" err="1"/>
              <a:t>constant</a:t>
            </a:r>
            <a:r>
              <a:rPr lang="de-DE" sz="2200" dirty="0"/>
              <a:t>)</a:t>
            </a:r>
          </a:p>
        </p:txBody>
      </p:sp>
      <p:cxnSp>
        <p:nvCxnSpPr>
          <p:cNvPr id="11" name="Gerade Verbindung mit Pfeil 10">
            <a:extLst>
              <a:ext uri="{FF2B5EF4-FFF2-40B4-BE49-F238E27FC236}">
                <a16:creationId xmlns:a16="http://schemas.microsoft.com/office/drawing/2014/main" id="{1D2910F3-F61A-B5DF-0DBA-2D1A37CC48D2}"/>
              </a:ext>
            </a:extLst>
          </p:cNvPr>
          <p:cNvCxnSpPr/>
          <p:nvPr/>
        </p:nvCxnSpPr>
        <p:spPr>
          <a:xfrm flipV="1">
            <a:off x="3783722" y="5738648"/>
            <a:ext cx="0" cy="43831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feld 12">
            <a:extLst>
              <a:ext uri="{FF2B5EF4-FFF2-40B4-BE49-F238E27FC236}">
                <a16:creationId xmlns:a16="http://schemas.microsoft.com/office/drawing/2014/main" id="{BEAE49A7-90CA-5423-1E8C-A4833E0534E3}"/>
              </a:ext>
            </a:extLst>
          </p:cNvPr>
          <p:cNvSpPr txBox="1"/>
          <p:nvPr/>
        </p:nvSpPr>
        <p:spPr>
          <a:xfrm>
            <a:off x="572596" y="3523210"/>
            <a:ext cx="215442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i="0" u="none" strike="noStrike" dirty="0" err="1">
                <a:solidFill>
                  <a:srgbClr val="202122"/>
                </a:solidFill>
                <a:effectLst/>
              </a:rPr>
              <a:t>Ampère‘s</a:t>
            </a:r>
            <a:r>
              <a:rPr lang="de-DE" i="0" u="none" strike="noStrike" dirty="0">
                <a:solidFill>
                  <a:srgbClr val="202122"/>
                </a:solidFill>
                <a:effectLst/>
              </a:rPr>
              <a:t> </a:t>
            </a:r>
            <a:r>
              <a:rPr lang="de-DE" i="0" u="none" strike="noStrike" dirty="0" err="1">
                <a:solidFill>
                  <a:srgbClr val="202122"/>
                </a:solidFill>
                <a:effectLst/>
              </a:rPr>
              <a:t>force</a:t>
            </a:r>
            <a:r>
              <a:rPr lang="de-DE" i="0" u="none" strike="noStrike" dirty="0">
                <a:solidFill>
                  <a:srgbClr val="202122"/>
                </a:solidFill>
                <a:effectLst/>
              </a:rPr>
              <a:t> </a:t>
            </a:r>
            <a:r>
              <a:rPr lang="de-DE" i="0" u="none" strike="noStrike" dirty="0" err="1">
                <a:solidFill>
                  <a:srgbClr val="202122"/>
                </a:solidFill>
                <a:effectLst/>
              </a:rPr>
              <a:t>law</a:t>
            </a:r>
            <a:endParaRPr lang="de-DE" dirty="0"/>
          </a:p>
        </p:txBody>
      </p:sp>
      <p:grpSp>
        <p:nvGrpSpPr>
          <p:cNvPr id="18" name="Gruppieren 17">
            <a:extLst>
              <a:ext uri="{FF2B5EF4-FFF2-40B4-BE49-F238E27FC236}">
                <a16:creationId xmlns:a16="http://schemas.microsoft.com/office/drawing/2014/main" id="{31B265EB-A8CE-75EC-FAB2-12EC4D40A1EE}"/>
              </a:ext>
            </a:extLst>
          </p:cNvPr>
          <p:cNvGrpSpPr/>
          <p:nvPr/>
        </p:nvGrpSpPr>
        <p:grpSpPr>
          <a:xfrm>
            <a:off x="7822200" y="3948744"/>
            <a:ext cx="2160000" cy="1644620"/>
            <a:chOff x="7822200" y="3948744"/>
            <a:chExt cx="2160000" cy="1644620"/>
          </a:xfrm>
        </p:grpSpPr>
        <p:pic>
          <p:nvPicPr>
            <p:cNvPr id="14" name="Bild 1">
              <a:extLst>
                <a:ext uri="{FF2B5EF4-FFF2-40B4-BE49-F238E27FC236}">
                  <a16:creationId xmlns:a16="http://schemas.microsoft.com/office/drawing/2014/main" id="{F14B8821-A0F7-C455-934B-7A1A416D8C3F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822200" y="4001294"/>
              <a:ext cx="2160000" cy="1592070"/>
            </a:xfrm>
            <a:prstGeom prst="rect">
              <a:avLst/>
            </a:prstGeom>
          </p:spPr>
        </p:pic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" name="Textfeld 14">
                  <a:extLst>
                    <a:ext uri="{FF2B5EF4-FFF2-40B4-BE49-F238E27FC236}">
                      <a16:creationId xmlns:a16="http://schemas.microsoft.com/office/drawing/2014/main" id="{42A29A64-E864-C57B-7E4F-2E69EA051EF5}"/>
                    </a:ext>
                  </a:extLst>
                </p:cNvPr>
                <p:cNvSpPr txBox="1"/>
                <p:nvPr/>
              </p:nvSpPr>
              <p:spPr>
                <a:xfrm>
                  <a:off x="7969345" y="3948744"/>
                  <a:ext cx="291786" cy="338554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de-DE" sz="1600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oMath>
                    </m:oMathPara>
                  </a14:m>
                  <a:endParaRPr lang="de-DE" sz="1600" dirty="0"/>
                </a:p>
              </p:txBody>
            </p:sp>
          </mc:Choice>
          <mc:Fallback xmlns="">
            <p:sp>
              <p:nvSpPr>
                <p:cNvPr id="15" name="Textfeld 14">
                  <a:extLst>
                    <a:ext uri="{FF2B5EF4-FFF2-40B4-BE49-F238E27FC236}">
                      <a16:creationId xmlns:a16="http://schemas.microsoft.com/office/drawing/2014/main" id="{42A29A64-E864-C57B-7E4F-2E69EA051EF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969345" y="3948744"/>
                  <a:ext cx="291786" cy="338554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de-DE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7" name="Rechteck 16">
              <a:extLst>
                <a:ext uri="{FF2B5EF4-FFF2-40B4-BE49-F238E27FC236}">
                  <a16:creationId xmlns:a16="http://schemas.microsoft.com/office/drawing/2014/main" id="{F2247C8B-2B14-15B6-4D2B-743159444A88}"/>
                </a:ext>
              </a:extLst>
            </p:cNvPr>
            <p:cNvSpPr/>
            <p:nvPr/>
          </p:nvSpPr>
          <p:spPr>
            <a:xfrm>
              <a:off x="9574925" y="4529958"/>
              <a:ext cx="210207" cy="25224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</p:grpSp>
      <p:sp>
        <p:nvSpPr>
          <p:cNvPr id="19" name="Textfeld 18">
            <a:extLst>
              <a:ext uri="{FF2B5EF4-FFF2-40B4-BE49-F238E27FC236}">
                <a16:creationId xmlns:a16="http://schemas.microsoft.com/office/drawing/2014/main" id="{10A057CD-1868-4E83-C00A-349303D7EA3A}"/>
              </a:ext>
            </a:extLst>
          </p:cNvPr>
          <p:cNvSpPr txBox="1"/>
          <p:nvPr/>
        </p:nvSpPr>
        <p:spPr>
          <a:xfrm>
            <a:off x="5640163" y="4597148"/>
            <a:ext cx="16357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 err="1"/>
              <a:t>circumference</a:t>
            </a:r>
            <a:endParaRPr lang="de-DE" dirty="0"/>
          </a:p>
        </p:txBody>
      </p:sp>
      <p:cxnSp>
        <p:nvCxnSpPr>
          <p:cNvPr id="21" name="Gerade Verbindung mit Pfeil 20">
            <a:extLst>
              <a:ext uri="{FF2B5EF4-FFF2-40B4-BE49-F238E27FC236}">
                <a16:creationId xmlns:a16="http://schemas.microsoft.com/office/drawing/2014/main" id="{D338D1A5-BAE9-D847-CEEA-5B036947B6DD}"/>
              </a:ext>
            </a:extLst>
          </p:cNvPr>
          <p:cNvCxnSpPr>
            <a:stCxn id="19" idx="1"/>
          </p:cNvCxnSpPr>
          <p:nvPr/>
        </p:nvCxnSpPr>
        <p:spPr>
          <a:xfrm flipH="1" flipV="1">
            <a:off x="4897821" y="4656082"/>
            <a:ext cx="742342" cy="12573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7166411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F46D15C-0FB7-1B0C-33A8-B13D4AAB70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Ampère‘s</a:t>
            </a:r>
            <a:r>
              <a:rPr lang="de-DE" dirty="0"/>
              <a:t> </a:t>
            </a:r>
            <a:r>
              <a:rPr lang="de-DE" dirty="0" err="1"/>
              <a:t>Circuital</a:t>
            </a:r>
            <a:r>
              <a:rPr lang="de-DE" dirty="0"/>
              <a:t> Law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Inhaltsplatzhalter 3">
                <a:extLst>
                  <a:ext uri="{FF2B5EF4-FFF2-40B4-BE49-F238E27FC236}">
                    <a16:creationId xmlns:a16="http://schemas.microsoft.com/office/drawing/2014/main" id="{6508C328-408A-6680-B9D5-2938F9781D3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∮"/>
                          <m:limLoc m:val="undOvr"/>
                          <m:subHide m:val="on"/>
                          <m:supHide m:val="on"/>
                          <m:ctrlPr>
                            <a:rPr lang="de-DE" sz="2600" i="1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acc>
                            <m:accPr>
                              <m:chr m:val="⃑"/>
                              <m:ctrlPr>
                                <a:rPr lang="de-DE" sz="26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de-DE" sz="2600" i="1"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e>
                          </m:acc>
                          <m:r>
                            <a:rPr lang="de-DE" sz="2600">
                              <a:latin typeface="Cambria Math" panose="02040503050406030204" pitchFamily="18" charset="0"/>
                            </a:rPr>
                            <m:t>∙</m:t>
                          </m:r>
                          <m:r>
                            <a:rPr lang="de-DE" sz="2600" i="1">
                              <a:latin typeface="Cambria Math" panose="02040503050406030204" pitchFamily="18" charset="0"/>
                            </a:rPr>
                            <m:t>𝑑</m:t>
                          </m:r>
                          <m:acc>
                            <m:accPr>
                              <m:chr m:val="⃑"/>
                              <m:ctrlPr>
                                <a:rPr lang="de-DE" sz="26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de-DE" sz="2600" i="1">
                                  <a:latin typeface="Cambria Math" panose="02040503050406030204" pitchFamily="18" charset="0"/>
                                </a:rPr>
                                <m:t>𝑙</m:t>
                              </m:r>
                            </m:e>
                          </m:acc>
                        </m:e>
                      </m:nary>
                      <m:r>
                        <a:rPr lang="de-DE" sz="2600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de-DE" sz="2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sz="2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de-DE" sz="2600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de-DE" sz="2600" i="1">
                          <a:latin typeface="Cambria Math" panose="02040503050406030204" pitchFamily="18" charset="0"/>
                        </a:rPr>
                        <m:t>𝐼</m:t>
                      </m:r>
                    </m:oMath>
                  </m:oMathPara>
                </a14:m>
                <a:endParaRPr lang="de-DE" sz="2600" dirty="0"/>
              </a:p>
              <a:p>
                <a:pPr marL="0" indent="0">
                  <a:buNone/>
                </a:pPr>
                <a:endParaRPr lang="de-DE" sz="2600" dirty="0"/>
              </a:p>
              <a:p>
                <a:pPr marL="0" indent="0">
                  <a:buNone/>
                </a:pPr>
                <a:endParaRPr lang="de-DE" sz="2600" dirty="0"/>
              </a:p>
              <a:p>
                <a:pPr marL="0" indent="0">
                  <a:buNone/>
                </a:pPr>
                <a:r>
                  <a:rPr lang="de-DE" sz="2600" dirty="0"/>
                  <a:t>differential form (</a:t>
                </a:r>
                <a:r>
                  <a:rPr lang="de-DE" sz="2600" dirty="0" err="1"/>
                  <a:t>equivalent</a:t>
                </a:r>
                <a:r>
                  <a:rPr lang="de-DE" sz="2600" dirty="0"/>
                  <a:t> </a:t>
                </a:r>
                <a:r>
                  <a:rPr lang="de-DE" sz="2600" dirty="0" err="1"/>
                  <a:t>to</a:t>
                </a:r>
                <a:r>
                  <a:rPr lang="de-DE" sz="2600" dirty="0"/>
                  <a:t> integral form):</a:t>
                </a:r>
              </a:p>
              <a:p>
                <a:pPr marL="0" indent="0">
                  <a:buNone/>
                </a:pPr>
                <a:endParaRPr lang="de-DE" sz="26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de-DE" sz="26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∇</m:t>
                      </m:r>
                      <m:r>
                        <a:rPr lang="de-DE" sz="26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acc>
                        <m:accPr>
                          <m:chr m:val="⃑"/>
                          <m:ctrlPr>
                            <a:rPr lang="de-DE" sz="2600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de-DE" sz="2600" i="1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</m:acc>
                      <m:r>
                        <a:rPr lang="de-DE" sz="2600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de-DE" sz="2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sz="2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de-DE" sz="2600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acc>
                        <m:accPr>
                          <m:chr m:val="⃑"/>
                          <m:ctrlPr>
                            <a:rPr lang="de-DE" sz="2600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de-DE" sz="2600" i="1">
                              <a:latin typeface="Cambria Math" panose="02040503050406030204" pitchFamily="18" charset="0"/>
                            </a:rPr>
                            <m:t>𝐽</m:t>
                          </m:r>
                        </m:e>
                      </m:acc>
                    </m:oMath>
                  </m:oMathPara>
                </a14:m>
                <a:endParaRPr lang="de-DE" sz="2600" dirty="0"/>
              </a:p>
            </p:txBody>
          </p:sp>
        </mc:Choice>
        <mc:Fallback xmlns="">
          <p:sp>
            <p:nvSpPr>
              <p:cNvPr id="4" name="Inhaltsplatzhalter 3">
                <a:extLst>
                  <a:ext uri="{FF2B5EF4-FFF2-40B4-BE49-F238E27FC236}">
                    <a16:creationId xmlns:a16="http://schemas.microsoft.com/office/drawing/2014/main" id="{6508C328-408A-6680-B9D5-2938F9781D3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86" t="-38372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58DE26FB-BE9C-F73F-5160-71DE9DA1D4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03FC7C-1F2C-4946-B702-1A52A755583B}" type="slidenum">
              <a:rPr lang="de-DE" smtClean="0"/>
              <a:t>23</a:t>
            </a:fld>
            <a:endParaRPr lang="de-DE"/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13D948C2-8B73-AD1B-0A2C-5BCC2B4C634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13654" y="1446935"/>
            <a:ext cx="2088232" cy="1927599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feld 6">
                <a:extLst>
                  <a:ext uri="{FF2B5EF4-FFF2-40B4-BE49-F238E27FC236}">
                    <a16:creationId xmlns:a16="http://schemas.microsoft.com/office/drawing/2014/main" id="{049D73B2-C4D8-5CC2-F18E-8F880A4DBF00}"/>
                  </a:ext>
                </a:extLst>
              </p:cNvPr>
              <p:cNvSpPr txBox="1"/>
              <p:nvPr/>
            </p:nvSpPr>
            <p:spPr>
              <a:xfrm>
                <a:off x="8279185" y="3382774"/>
                <a:ext cx="2357170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𝐼</m:t>
                      </m:r>
                      <m:r>
                        <a:rPr lang="de-DE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de-DE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de-DE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de-DE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de-DE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de-DE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de-DE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de-DE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de-DE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de-DE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de-DE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de-DE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de-DE" sz="2000" dirty="0"/>
              </a:p>
            </p:txBody>
          </p:sp>
        </mc:Choice>
        <mc:Fallback xmlns="">
          <p:sp>
            <p:nvSpPr>
              <p:cNvPr id="7" name="Textfeld 6">
                <a:extLst>
                  <a:ext uri="{FF2B5EF4-FFF2-40B4-BE49-F238E27FC236}">
                    <a16:creationId xmlns:a16="http://schemas.microsoft.com/office/drawing/2014/main" id="{049D73B2-C4D8-5CC2-F18E-8F880A4DBF0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79185" y="3382774"/>
                <a:ext cx="2357170" cy="40011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4" name="Gruppieren 13">
            <a:extLst>
              <a:ext uri="{FF2B5EF4-FFF2-40B4-BE49-F238E27FC236}">
                <a16:creationId xmlns:a16="http://schemas.microsoft.com/office/drawing/2014/main" id="{A8D8DEAE-9555-00D9-74CC-C425C93C0214}"/>
              </a:ext>
            </a:extLst>
          </p:cNvPr>
          <p:cNvGrpSpPr/>
          <p:nvPr/>
        </p:nvGrpSpPr>
        <p:grpSpPr>
          <a:xfrm>
            <a:off x="1542968" y="1772356"/>
            <a:ext cx="2160000" cy="1644620"/>
            <a:chOff x="1190173" y="3002813"/>
            <a:chExt cx="2160000" cy="1644620"/>
          </a:xfrm>
        </p:grpSpPr>
        <p:pic>
          <p:nvPicPr>
            <p:cNvPr id="11" name="Bild 1">
              <a:extLst>
                <a:ext uri="{FF2B5EF4-FFF2-40B4-BE49-F238E27FC236}">
                  <a16:creationId xmlns:a16="http://schemas.microsoft.com/office/drawing/2014/main" id="{ECC65A41-B0F4-E871-7C2C-0ED99344216C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90173" y="3055363"/>
              <a:ext cx="2160000" cy="1592070"/>
            </a:xfrm>
            <a:prstGeom prst="rect">
              <a:avLst/>
            </a:prstGeom>
          </p:spPr>
        </p:pic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" name="Textfeld 11">
                  <a:extLst>
                    <a:ext uri="{FF2B5EF4-FFF2-40B4-BE49-F238E27FC236}">
                      <a16:creationId xmlns:a16="http://schemas.microsoft.com/office/drawing/2014/main" id="{173880F5-F345-DBE8-F2E7-8AAFBD4797A7}"/>
                    </a:ext>
                  </a:extLst>
                </p:cNvPr>
                <p:cNvSpPr txBox="1"/>
                <p:nvPr/>
              </p:nvSpPr>
              <p:spPr>
                <a:xfrm>
                  <a:off x="1337318" y="3002813"/>
                  <a:ext cx="291786" cy="338554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de-DE" sz="1600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oMath>
                    </m:oMathPara>
                  </a14:m>
                  <a:endParaRPr lang="de-DE" sz="1600" dirty="0"/>
                </a:p>
              </p:txBody>
            </p:sp>
          </mc:Choice>
          <mc:Fallback xmlns="">
            <p:sp>
              <p:nvSpPr>
                <p:cNvPr id="12" name="Textfeld 11">
                  <a:extLst>
                    <a:ext uri="{FF2B5EF4-FFF2-40B4-BE49-F238E27FC236}">
                      <a16:creationId xmlns:a16="http://schemas.microsoft.com/office/drawing/2014/main" id="{173880F5-F345-DBE8-F2E7-8AAFBD4797A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337318" y="3002813"/>
                  <a:ext cx="291786" cy="338554"/>
                </a:xfrm>
                <a:prstGeom prst="rect">
                  <a:avLst/>
                </a:prstGeom>
                <a:blipFill>
                  <a:blip r:embed="rId6"/>
                  <a:stretch>
                    <a:fillRect r="-4167"/>
                  </a:stretch>
                </a:blipFill>
              </p:spPr>
              <p:txBody>
                <a:bodyPr/>
                <a:lstStyle/>
                <a:p>
                  <a:r>
                    <a:rPr lang="de-DE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3" name="Rechteck 12">
              <a:extLst>
                <a:ext uri="{FF2B5EF4-FFF2-40B4-BE49-F238E27FC236}">
                  <a16:creationId xmlns:a16="http://schemas.microsoft.com/office/drawing/2014/main" id="{9F799909-E546-1CCC-6B78-22555FC46F3C}"/>
                </a:ext>
              </a:extLst>
            </p:cNvPr>
            <p:cNvSpPr/>
            <p:nvPr/>
          </p:nvSpPr>
          <p:spPr>
            <a:xfrm>
              <a:off x="2942898" y="3584027"/>
              <a:ext cx="210207" cy="25224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</p:grpSp>
      <p:sp>
        <p:nvSpPr>
          <p:cNvPr id="15" name="Textfeld 14">
            <a:extLst>
              <a:ext uri="{FF2B5EF4-FFF2-40B4-BE49-F238E27FC236}">
                <a16:creationId xmlns:a16="http://schemas.microsoft.com/office/drawing/2014/main" id="{BD0A65B3-7DB5-2BA3-0B42-042E1083B5AD}"/>
              </a:ext>
            </a:extLst>
          </p:cNvPr>
          <p:cNvSpPr txBox="1"/>
          <p:nvPr/>
        </p:nvSpPr>
        <p:spPr>
          <a:xfrm>
            <a:off x="7218810" y="5411065"/>
            <a:ext cx="17039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 err="1"/>
              <a:t>current</a:t>
            </a:r>
            <a:r>
              <a:rPr lang="de-DE" dirty="0"/>
              <a:t> </a:t>
            </a:r>
            <a:r>
              <a:rPr lang="de-DE" dirty="0" err="1"/>
              <a:t>density</a:t>
            </a:r>
            <a:endParaRPr lang="de-DE" dirty="0"/>
          </a:p>
        </p:txBody>
      </p:sp>
      <p:sp>
        <p:nvSpPr>
          <p:cNvPr id="16" name="Textfeld 15">
            <a:extLst>
              <a:ext uri="{FF2B5EF4-FFF2-40B4-BE49-F238E27FC236}">
                <a16:creationId xmlns:a16="http://schemas.microsoft.com/office/drawing/2014/main" id="{EE7733AA-7EB4-14B2-BE97-F21909904D4F}"/>
              </a:ext>
            </a:extLst>
          </p:cNvPr>
          <p:cNvSpPr txBox="1"/>
          <p:nvPr/>
        </p:nvSpPr>
        <p:spPr>
          <a:xfrm>
            <a:off x="4009146" y="5411410"/>
            <a:ext cx="9640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 err="1"/>
              <a:t>rotation</a:t>
            </a:r>
            <a:endParaRPr lang="de-DE" dirty="0"/>
          </a:p>
        </p:txBody>
      </p:sp>
      <p:sp>
        <p:nvSpPr>
          <p:cNvPr id="19" name="Textfeld 18">
            <a:extLst>
              <a:ext uri="{FF2B5EF4-FFF2-40B4-BE49-F238E27FC236}">
                <a16:creationId xmlns:a16="http://schemas.microsoft.com/office/drawing/2014/main" id="{C248010D-67A2-607C-6E0D-153A53E0F6C3}"/>
              </a:ext>
            </a:extLst>
          </p:cNvPr>
          <p:cNvSpPr txBox="1"/>
          <p:nvPr/>
        </p:nvSpPr>
        <p:spPr>
          <a:xfrm>
            <a:off x="838200" y="6308209"/>
            <a:ext cx="9798155" cy="43088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de-DE" sz="2200" dirty="0" err="1"/>
              <a:t>only</a:t>
            </a:r>
            <a:r>
              <a:rPr lang="de-DE" sz="2200" dirty="0"/>
              <a:t> </a:t>
            </a:r>
            <a:r>
              <a:rPr lang="de-DE" sz="2200" dirty="0" err="1"/>
              <a:t>closed</a:t>
            </a:r>
            <a:r>
              <a:rPr lang="de-DE" sz="2200" dirty="0"/>
              <a:t> </a:t>
            </a:r>
            <a:r>
              <a:rPr lang="de-DE" sz="2200" dirty="0" err="1"/>
              <a:t>circuits</a:t>
            </a:r>
            <a:r>
              <a:rPr lang="de-DE" sz="2200" dirty="0"/>
              <a:t> in </a:t>
            </a:r>
            <a:r>
              <a:rPr lang="de-DE" sz="2200" dirty="0" err="1"/>
              <a:t>nature</a:t>
            </a:r>
            <a:r>
              <a:rPr lang="de-DE" sz="2200" dirty="0"/>
              <a:t>: </a:t>
            </a:r>
            <a:r>
              <a:rPr lang="de-DE" sz="2200" dirty="0" err="1"/>
              <a:t>magnetic</a:t>
            </a:r>
            <a:r>
              <a:rPr lang="de-DE" sz="2200" dirty="0"/>
              <a:t> </a:t>
            </a:r>
            <a:r>
              <a:rPr lang="de-DE" sz="2200" dirty="0" err="1"/>
              <a:t>fields</a:t>
            </a:r>
            <a:r>
              <a:rPr lang="de-DE" sz="2200" dirty="0"/>
              <a:t> </a:t>
            </a:r>
            <a:r>
              <a:rPr lang="de-DE" sz="2200" dirty="0" err="1"/>
              <a:t>look</a:t>
            </a:r>
            <a:r>
              <a:rPr lang="de-DE" sz="2200" dirty="0"/>
              <a:t> like a </a:t>
            </a:r>
            <a:r>
              <a:rPr lang="de-DE" sz="2200" dirty="0" err="1"/>
              <a:t>dipole</a:t>
            </a:r>
            <a:r>
              <a:rPr lang="de-DE" sz="2200" dirty="0"/>
              <a:t> </a:t>
            </a:r>
            <a:r>
              <a:rPr lang="de-DE" sz="2200" dirty="0" err="1"/>
              <a:t>from</a:t>
            </a:r>
            <a:r>
              <a:rPr lang="de-DE" sz="2200" dirty="0"/>
              <a:t> </a:t>
            </a:r>
            <a:r>
              <a:rPr lang="de-DE" sz="2200" dirty="0" err="1"/>
              <a:t>the</a:t>
            </a:r>
            <a:r>
              <a:rPr lang="de-DE" sz="2200" dirty="0"/>
              <a:t> outside</a:t>
            </a:r>
          </a:p>
        </p:txBody>
      </p:sp>
      <p:cxnSp>
        <p:nvCxnSpPr>
          <p:cNvPr id="21" name="Gerade Verbindung mit Pfeil 20">
            <a:extLst>
              <a:ext uri="{FF2B5EF4-FFF2-40B4-BE49-F238E27FC236}">
                <a16:creationId xmlns:a16="http://schemas.microsoft.com/office/drawing/2014/main" id="{749330AF-8284-660D-1385-C6D731E20301}"/>
              </a:ext>
            </a:extLst>
          </p:cNvPr>
          <p:cNvCxnSpPr>
            <a:stCxn id="16" idx="0"/>
          </p:cNvCxnSpPr>
          <p:nvPr/>
        </p:nvCxnSpPr>
        <p:spPr>
          <a:xfrm flipV="1">
            <a:off x="4491169" y="5002924"/>
            <a:ext cx="753493" cy="40848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Gerade Verbindung mit Pfeil 22">
            <a:extLst>
              <a:ext uri="{FF2B5EF4-FFF2-40B4-BE49-F238E27FC236}">
                <a16:creationId xmlns:a16="http://schemas.microsoft.com/office/drawing/2014/main" id="{4347B1CD-66E1-AC28-FCEC-CB0B48E3C1E9}"/>
              </a:ext>
            </a:extLst>
          </p:cNvPr>
          <p:cNvCxnSpPr>
            <a:stCxn id="15" idx="0"/>
          </p:cNvCxnSpPr>
          <p:nvPr/>
        </p:nvCxnSpPr>
        <p:spPr>
          <a:xfrm flipH="1" flipV="1">
            <a:off x="6915806" y="5002924"/>
            <a:ext cx="1154999" cy="40814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4837723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404FEC1-D139-3660-C7D3-CC439B5922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Magnetic</a:t>
            </a:r>
            <a:r>
              <a:rPr lang="de-DE" dirty="0"/>
              <a:t> Field Lines</a:t>
            </a:r>
          </a:p>
        </p:txBody>
      </p:sp>
      <p:sp>
        <p:nvSpPr>
          <p:cNvPr id="8" name="Inhaltsplatzhalter 7">
            <a:extLst>
              <a:ext uri="{FF2B5EF4-FFF2-40B4-BE49-F238E27FC236}">
                <a16:creationId xmlns:a16="http://schemas.microsoft.com/office/drawing/2014/main" id="{0105626D-D927-634D-DAAD-B9D867901B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096669" cy="1982987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de-DE" sz="2200" dirty="0" err="1"/>
              <a:t>closed</a:t>
            </a:r>
            <a:r>
              <a:rPr lang="de-DE" sz="2200" dirty="0"/>
              <a:t> </a:t>
            </a:r>
            <a:r>
              <a:rPr lang="de-DE" sz="2200" dirty="0" err="1"/>
              <a:t>field</a:t>
            </a:r>
            <a:r>
              <a:rPr lang="de-DE" sz="2200" dirty="0"/>
              <a:t> </a:t>
            </a:r>
            <a:r>
              <a:rPr lang="de-DE" sz="2200" dirty="0" err="1"/>
              <a:t>lines</a:t>
            </a:r>
            <a:r>
              <a:rPr lang="de-DE" sz="2200" dirty="0"/>
              <a:t> </a:t>
            </a:r>
            <a:r>
              <a:rPr lang="de-DE" sz="2200" dirty="0" err="1"/>
              <a:t>from</a:t>
            </a:r>
            <a:r>
              <a:rPr lang="de-DE" sz="2200" dirty="0"/>
              <a:t> </a:t>
            </a:r>
            <a:r>
              <a:rPr lang="de-DE" sz="2200" dirty="0" err="1"/>
              <a:t>north</a:t>
            </a:r>
            <a:r>
              <a:rPr lang="de-DE" sz="2200" dirty="0"/>
              <a:t> </a:t>
            </a:r>
            <a:r>
              <a:rPr lang="de-DE" sz="2200" dirty="0" err="1"/>
              <a:t>to</a:t>
            </a:r>
            <a:r>
              <a:rPr lang="de-DE" sz="2200" dirty="0"/>
              <a:t> </a:t>
            </a:r>
            <a:r>
              <a:rPr lang="de-DE" sz="2200" dirty="0" err="1"/>
              <a:t>south</a:t>
            </a:r>
            <a:r>
              <a:rPr lang="de-DE" sz="2200" dirty="0"/>
              <a:t> pole (</a:t>
            </a:r>
            <a:r>
              <a:rPr lang="de-DE" sz="2200" dirty="0" err="1"/>
              <a:t>dipoles</a:t>
            </a:r>
            <a:r>
              <a:rPr lang="de-DE" sz="2200" dirty="0"/>
              <a:t>, </a:t>
            </a:r>
            <a:r>
              <a:rPr lang="de-DE" sz="2200" dirty="0" err="1"/>
              <a:t>no</a:t>
            </a:r>
            <a:r>
              <a:rPr lang="de-DE" sz="2200" dirty="0"/>
              <a:t> </a:t>
            </a:r>
            <a:r>
              <a:rPr lang="de-DE" sz="2200" dirty="0" err="1"/>
              <a:t>magnetic</a:t>
            </a:r>
            <a:r>
              <a:rPr lang="de-DE" sz="2200" dirty="0"/>
              <a:t> </a:t>
            </a:r>
            <a:r>
              <a:rPr lang="de-DE" sz="2200" dirty="0" err="1"/>
              <a:t>monopoles</a:t>
            </a:r>
            <a:r>
              <a:rPr lang="de-DE" sz="2200" dirty="0"/>
              <a:t>)</a:t>
            </a:r>
          </a:p>
          <a:p>
            <a:pPr marL="0" indent="0">
              <a:buNone/>
            </a:pPr>
            <a:endParaRPr lang="de-DE" sz="2200" dirty="0"/>
          </a:p>
          <a:p>
            <a:pPr marL="0" indent="0">
              <a:buNone/>
            </a:pPr>
            <a:r>
              <a:rPr lang="de-DE" sz="2200" dirty="0" err="1"/>
              <a:t>right</a:t>
            </a:r>
            <a:r>
              <a:rPr lang="de-DE" sz="2200" dirty="0"/>
              <a:t>-hand </a:t>
            </a:r>
            <a:r>
              <a:rPr lang="de-DE" sz="2200" dirty="0" err="1"/>
              <a:t>corkscrew</a:t>
            </a:r>
            <a:r>
              <a:rPr lang="de-DE" sz="2200" dirty="0"/>
              <a:t> </a:t>
            </a:r>
            <a:r>
              <a:rPr lang="de-DE" sz="2200" dirty="0" err="1"/>
              <a:t>rule</a:t>
            </a:r>
            <a:r>
              <a:rPr lang="de-DE" sz="2200" dirty="0"/>
              <a:t>: </a:t>
            </a:r>
            <a:r>
              <a:rPr lang="de-DE" sz="2200" dirty="0" err="1"/>
              <a:t>circular</a:t>
            </a:r>
            <a:r>
              <a:rPr lang="de-DE" sz="2200" dirty="0"/>
              <a:t> </a:t>
            </a:r>
            <a:r>
              <a:rPr lang="de-DE" sz="2200" dirty="0" err="1"/>
              <a:t>field</a:t>
            </a:r>
            <a:r>
              <a:rPr lang="de-DE" sz="2200" dirty="0"/>
              <a:t> </a:t>
            </a:r>
            <a:r>
              <a:rPr lang="de-DE" sz="2200" dirty="0" err="1"/>
              <a:t>lines</a:t>
            </a:r>
            <a:r>
              <a:rPr lang="de-DE" sz="2200" dirty="0"/>
              <a:t> </a:t>
            </a:r>
            <a:r>
              <a:rPr lang="de-DE" sz="2200" dirty="0" err="1"/>
              <a:t>around</a:t>
            </a:r>
            <a:r>
              <a:rPr lang="de-DE" sz="2200" dirty="0"/>
              <a:t> a </a:t>
            </a:r>
            <a:r>
              <a:rPr lang="de-DE" sz="2200" dirty="0" err="1"/>
              <a:t>conductor</a:t>
            </a:r>
            <a:endParaRPr lang="de-DE" sz="2200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A6745D19-3588-98D3-24CD-84F331AA3A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03FC7C-1F2C-4946-B702-1A52A755583B}" type="slidenum">
              <a:rPr lang="de-DE" smtClean="0"/>
              <a:t>24</a:t>
            </a:fld>
            <a:endParaRPr lang="de-DE"/>
          </a:p>
        </p:txBody>
      </p:sp>
      <p:pic>
        <p:nvPicPr>
          <p:cNvPr id="5" name="Inhaltsplatzhalter 5">
            <a:extLst>
              <a:ext uri="{FF2B5EF4-FFF2-40B4-BE49-F238E27FC236}">
                <a16:creationId xmlns:a16="http://schemas.microsoft.com/office/drawing/2014/main" id="{FC71C9E8-A873-7F5B-E18E-8B3D59CF7B0B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307" y="3955753"/>
            <a:ext cx="3926558" cy="2103038"/>
          </a:xfrm>
          <a:prstGeom prst="rect">
            <a:avLst/>
          </a:prstGeom>
        </p:spPr>
      </p:pic>
      <p:pic>
        <p:nvPicPr>
          <p:cNvPr id="6" name="Inhaltsplatzhalter 4">
            <a:extLst>
              <a:ext uri="{FF2B5EF4-FFF2-40B4-BE49-F238E27FC236}">
                <a16:creationId xmlns:a16="http://schemas.microsoft.com/office/drawing/2014/main" id="{A0127A7A-C183-F767-7980-F61E5EB9065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34869" y="1345581"/>
            <a:ext cx="5351462" cy="2127603"/>
          </a:xfrm>
          <a:prstGeom prst="rect">
            <a:avLst/>
          </a:prstGeom>
        </p:spPr>
      </p:pic>
      <p:pic>
        <p:nvPicPr>
          <p:cNvPr id="7" name="Grafik 6">
            <a:extLst>
              <a:ext uri="{FF2B5EF4-FFF2-40B4-BE49-F238E27FC236}">
                <a16:creationId xmlns:a16="http://schemas.microsoft.com/office/drawing/2014/main" id="{F8634769-6E94-BC83-9A9D-8C3616268F0A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64758" y="3955753"/>
            <a:ext cx="7274935" cy="2368351"/>
          </a:xfrm>
          <a:prstGeom prst="rect">
            <a:avLst/>
          </a:prstGeom>
        </p:spPr>
      </p:pic>
      <p:sp>
        <p:nvSpPr>
          <p:cNvPr id="9" name="Textfeld 8">
            <a:extLst>
              <a:ext uri="{FF2B5EF4-FFF2-40B4-BE49-F238E27FC236}">
                <a16:creationId xmlns:a16="http://schemas.microsoft.com/office/drawing/2014/main" id="{C26C8CC8-6E4F-7F01-E38A-EF7876B405B0}"/>
              </a:ext>
            </a:extLst>
          </p:cNvPr>
          <p:cNvSpPr txBox="1"/>
          <p:nvPr/>
        </p:nvSpPr>
        <p:spPr>
          <a:xfrm>
            <a:off x="5717625" y="6060043"/>
            <a:ext cx="22269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 err="1"/>
              <a:t>electromagnetic</a:t>
            </a:r>
            <a:r>
              <a:rPr lang="de-DE" dirty="0"/>
              <a:t> </a:t>
            </a:r>
            <a:r>
              <a:rPr lang="de-DE" dirty="0" err="1"/>
              <a:t>coil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51883392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E6BC007-3CB2-C15D-A704-FAE2E26198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Magnetic</a:t>
            </a:r>
            <a:r>
              <a:rPr lang="de-DE" dirty="0"/>
              <a:t> Field </a:t>
            </a:r>
            <a:r>
              <a:rPr lang="de-DE" dirty="0" err="1"/>
              <a:t>Strength</a:t>
            </a:r>
            <a:endParaRPr lang="de-DE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Inhaltsplatzhalter 3">
                <a:extLst>
                  <a:ext uri="{FF2B5EF4-FFF2-40B4-BE49-F238E27FC236}">
                    <a16:creationId xmlns:a16="http://schemas.microsoft.com/office/drawing/2014/main" id="{C35D8D5E-F093-E0A5-A903-E33B21ED67D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4"/>
                <a:ext cx="9318459" cy="4530725"/>
              </a:xfrm>
            </p:spPr>
            <p:txBody>
              <a:bodyPr>
                <a:normAutofit fontScale="92500" lnSpcReduction="10000"/>
              </a:bodyPr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de-DE" sz="260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de-DE" sz="2600" i="1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</m:acc>
                      <m:r>
                        <a:rPr lang="de-DE" sz="26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de-DE" sz="2600" i="1">
                          <a:latin typeface="Cambria Math" panose="02040503050406030204" pitchFamily="18" charset="0"/>
                        </a:rPr>
                        <m:t>𝜇</m:t>
                      </m:r>
                      <m:r>
                        <a:rPr lang="de-DE" sz="2600" i="1">
                          <a:latin typeface="Cambria Math" panose="02040503050406030204" pitchFamily="18" charset="0"/>
                        </a:rPr>
                        <m:t>∙</m:t>
                      </m:r>
                      <m:acc>
                        <m:accPr>
                          <m:chr m:val="⃗"/>
                          <m:ctrlPr>
                            <a:rPr lang="de-DE" sz="2600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de-DE" sz="2600" i="1"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</m:acc>
                    </m:oMath>
                  </m:oMathPara>
                </a14:m>
                <a:endParaRPr lang="de-DE" sz="2600" dirty="0"/>
              </a:p>
              <a:p>
                <a:pPr marL="0" indent="0">
                  <a:buNone/>
                </a:pPr>
                <a:endParaRPr lang="de-DE" sz="2600" dirty="0"/>
              </a:p>
              <a:p>
                <a:pPr marL="0" indent="0">
                  <a:buNone/>
                </a:pPr>
                <a:r>
                  <a:rPr lang="de-DE" sz="2600" dirty="0" err="1"/>
                  <a:t>permeability</a:t>
                </a:r>
                <a:r>
                  <a:rPr lang="de-DE" sz="2600" dirty="0"/>
                  <a:t>:     </a:t>
                </a:r>
                <a14:m>
                  <m:oMath xmlns:m="http://schemas.openxmlformats.org/officeDocument/2006/math">
                    <m:r>
                      <a:rPr lang="el-GR" sz="2600" b="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𝜇</m:t>
                    </m:r>
                    <m:r>
                      <a:rPr lang="de-DE" sz="260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de-DE" sz="2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sz="2600" i="1">
                            <a:latin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de-DE" sz="2600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de-DE" sz="26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sSub>
                      <m:sSubPr>
                        <m:ctrlPr>
                          <a:rPr lang="de-DE" sz="2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sz="2600" i="1">
                            <a:latin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de-DE" sz="2600">
                            <a:latin typeface="Cambria Math" panose="02040503050406030204" pitchFamily="18" charset="0"/>
                          </a:rPr>
                          <m:t>r</m:t>
                        </m:r>
                      </m:sub>
                    </m:sSub>
                  </m:oMath>
                </a14:m>
                <a:endParaRPr lang="de-DE" sz="2600" dirty="0"/>
              </a:p>
              <a:p>
                <a:pPr marL="0" indent="0">
                  <a:buNone/>
                </a:pPr>
                <a:endParaRPr lang="de-DE" sz="26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de-DE" sz="2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de-DE" sz="2600" i="1"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</m:d>
                      <m:r>
                        <a:rPr lang="de-DE" sz="2600">
                          <a:latin typeface="Cambria Math" panose="02040503050406030204" pitchFamily="18" charset="0"/>
                        </a:rPr>
                        <m:t>=1 </m:t>
                      </m:r>
                      <m:f>
                        <m:fPr>
                          <m:ctrlPr>
                            <a:rPr lang="de-DE" sz="26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de-DE" sz="2600">
                              <a:latin typeface="Cambria Math" panose="02040503050406030204" pitchFamily="18" charset="0"/>
                            </a:rPr>
                            <m:t>A</m:t>
                          </m:r>
                        </m:num>
                        <m:den>
                          <m:r>
                            <m:rPr>
                              <m:sty m:val="p"/>
                            </m:rPr>
                            <a:rPr lang="de-DE" sz="2600">
                              <a:latin typeface="Cambria Math" panose="02040503050406030204" pitchFamily="18" charset="0"/>
                            </a:rPr>
                            <m:t>m</m:t>
                          </m:r>
                        </m:den>
                      </m:f>
                    </m:oMath>
                  </m:oMathPara>
                </a14:m>
                <a:endParaRPr lang="de-DE" sz="2600" dirty="0"/>
              </a:p>
              <a:p>
                <a:pPr marL="0" indent="0">
                  <a:buNone/>
                </a:pPr>
                <a:endParaRPr lang="de-DE" sz="2600" dirty="0"/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de-DE" sz="2600" b="0" i="1" smtClean="0">
                        <a:latin typeface="Cambria Math" panose="02040503050406030204" pitchFamily="18" charset="0"/>
                      </a:rPr>
                      <m:t>𝐻</m:t>
                    </m:r>
                  </m:oMath>
                </a14:m>
                <a:r>
                  <a:rPr lang="de-DE" sz="2600" dirty="0"/>
                  <a:t> </a:t>
                </a:r>
                <a:r>
                  <a:rPr lang="de-DE" sz="2600" dirty="0" err="1"/>
                  <a:t>abstracts</a:t>
                </a:r>
                <a:r>
                  <a:rPr lang="de-DE" sz="2600" dirty="0"/>
                  <a:t> </a:t>
                </a:r>
                <a:r>
                  <a:rPr lang="de-DE" sz="2600" dirty="0" err="1"/>
                  <a:t>away</a:t>
                </a:r>
                <a:r>
                  <a:rPr lang="de-DE" sz="2600" dirty="0"/>
                  <a:t> (</a:t>
                </a:r>
                <a:r>
                  <a:rPr lang="de-DE" sz="2600" dirty="0" err="1"/>
                  <a:t>absorbs</a:t>
                </a:r>
                <a:r>
                  <a:rPr lang="de-DE" sz="2600" dirty="0"/>
                  <a:t>) </a:t>
                </a:r>
                <a:r>
                  <a:rPr lang="de-DE" sz="2600" dirty="0" err="1"/>
                  <a:t>magnetization</a:t>
                </a:r>
                <a:r>
                  <a:rPr lang="de-DE" sz="2600" dirty="0"/>
                  <a:t> </a:t>
                </a:r>
                <a:r>
                  <a:rPr lang="de-DE" sz="2600" dirty="0" err="1"/>
                  <a:t>effects</a:t>
                </a:r>
                <a:r>
                  <a:rPr lang="de-DE" sz="2600" dirty="0"/>
                  <a:t> (</a:t>
                </a:r>
                <a:r>
                  <a:rPr lang="de-DE" sz="2600" dirty="0" err="1"/>
                  <a:t>bound</a:t>
                </a:r>
                <a:r>
                  <a:rPr lang="de-DE" sz="2600" dirty="0"/>
                  <a:t> </a:t>
                </a:r>
                <a:r>
                  <a:rPr lang="de-DE" sz="2600" dirty="0" err="1"/>
                  <a:t>currents</a:t>
                </a:r>
                <a:r>
                  <a:rPr lang="de-DE" sz="2600" dirty="0"/>
                  <a:t>) </a:t>
                </a:r>
                <a:r>
                  <a:rPr lang="de-DE" sz="2600" dirty="0" err="1"/>
                  <a:t>from</a:t>
                </a:r>
                <a:r>
                  <a:rPr lang="de-DE" sz="2600" dirty="0"/>
                  <a:t> </a:t>
                </a:r>
                <a14:m>
                  <m:oMath xmlns:m="http://schemas.openxmlformats.org/officeDocument/2006/math">
                    <m:r>
                      <a:rPr lang="de-DE" sz="2600" b="0" i="1" smtClean="0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de-DE" sz="2600" dirty="0"/>
                  <a:t>, </a:t>
                </a:r>
                <a:r>
                  <a:rPr lang="de-DE" sz="2600" dirty="0" err="1"/>
                  <a:t>leaving</a:t>
                </a:r>
                <a:r>
                  <a:rPr lang="de-DE" sz="2600" dirty="0"/>
                  <a:t> a </a:t>
                </a:r>
                <a:r>
                  <a:rPr lang="de-DE" sz="2600" dirty="0" err="1"/>
                  <a:t>field</a:t>
                </a:r>
                <a:r>
                  <a:rPr lang="de-DE" sz="2600" dirty="0"/>
                  <a:t> </a:t>
                </a:r>
                <a:r>
                  <a:rPr lang="de-DE" sz="2600" dirty="0" err="1"/>
                  <a:t>that</a:t>
                </a:r>
                <a:r>
                  <a:rPr lang="de-DE" sz="2600" dirty="0"/>
                  <a:t> </a:t>
                </a:r>
                <a:r>
                  <a:rPr lang="de-DE" sz="2600" dirty="0" err="1"/>
                  <a:t>couples</a:t>
                </a:r>
                <a:r>
                  <a:rPr lang="de-DE" sz="2600" dirty="0"/>
                  <a:t> </a:t>
                </a:r>
                <a:r>
                  <a:rPr lang="de-DE" sz="2600" dirty="0" err="1"/>
                  <a:t>only</a:t>
                </a:r>
                <a:r>
                  <a:rPr lang="de-DE" sz="2600" dirty="0"/>
                  <a:t> </a:t>
                </a:r>
                <a:r>
                  <a:rPr lang="de-DE" sz="2600" dirty="0" err="1"/>
                  <a:t>to</a:t>
                </a:r>
                <a:r>
                  <a:rPr lang="de-DE" sz="2600" dirty="0"/>
                  <a:t> </a:t>
                </a:r>
                <a:r>
                  <a:rPr lang="de-DE" sz="2600" dirty="0" err="1"/>
                  <a:t>free</a:t>
                </a:r>
                <a:r>
                  <a:rPr lang="de-DE" sz="2600" dirty="0"/>
                  <a:t> </a:t>
                </a:r>
                <a:r>
                  <a:rPr lang="de-DE" sz="2600" dirty="0" err="1"/>
                  <a:t>currents</a:t>
                </a:r>
                <a:r>
                  <a:rPr lang="de-DE" sz="2600" dirty="0"/>
                  <a:t>.</a:t>
                </a:r>
              </a:p>
              <a:p>
                <a:pPr marL="0" indent="0">
                  <a:buNone/>
                </a:pPr>
                <a:r>
                  <a:rPr lang="de-DE" sz="2600" dirty="0">
                    <a:sym typeface="Wingdings" pitchFamily="2" charset="2"/>
                  </a:rPr>
                  <a:t> </a:t>
                </a:r>
                <a14:m>
                  <m:oMath xmlns:m="http://schemas.openxmlformats.org/officeDocument/2006/math">
                    <m:r>
                      <a:rPr lang="de-DE" sz="2600" i="1">
                        <a:latin typeface="Cambria Math" panose="02040503050406030204" pitchFamily="18" charset="0"/>
                      </a:rPr>
                      <m:t>𝐻</m:t>
                    </m:r>
                  </m:oMath>
                </a14:m>
                <a:r>
                  <a:rPr lang="de-DE" sz="2600" dirty="0"/>
                  <a:t> </a:t>
                </a:r>
                <a:r>
                  <a:rPr lang="de-DE" sz="2600" dirty="0" err="1"/>
                  <a:t>is</a:t>
                </a:r>
                <a:r>
                  <a:rPr lang="de-DE" sz="2600" dirty="0"/>
                  <a:t> an </a:t>
                </a:r>
                <a:r>
                  <a:rPr lang="de-DE" sz="2600" dirty="0" err="1"/>
                  <a:t>auxiliary</a:t>
                </a:r>
                <a:r>
                  <a:rPr lang="de-DE" sz="2600" dirty="0"/>
                  <a:t> </a:t>
                </a:r>
                <a:r>
                  <a:rPr lang="de-DE" sz="2600" dirty="0" err="1"/>
                  <a:t>field</a:t>
                </a:r>
                <a:r>
                  <a:rPr lang="de-DE" sz="2600" dirty="0"/>
                  <a:t>! </a:t>
                </a:r>
                <a14:m>
                  <m:oMath xmlns:m="http://schemas.openxmlformats.org/officeDocument/2006/math">
                    <m:r>
                      <a:rPr lang="de-DE" sz="2600" i="1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de-DE" sz="2600" dirty="0"/>
                  <a:t> </a:t>
                </a:r>
                <a:r>
                  <a:rPr lang="de-DE" sz="2600" dirty="0" err="1"/>
                  <a:t>is</a:t>
                </a:r>
                <a:r>
                  <a:rPr lang="de-DE" sz="2600" dirty="0"/>
                  <a:t> </a:t>
                </a:r>
                <a:r>
                  <a:rPr lang="de-DE" sz="2600" dirty="0" err="1"/>
                  <a:t>the</a:t>
                </a:r>
                <a:r>
                  <a:rPr lang="de-DE" sz="2600" dirty="0"/>
                  <a:t> </a:t>
                </a:r>
                <a:r>
                  <a:rPr lang="de-DE" sz="2600" dirty="0" err="1"/>
                  <a:t>actual</a:t>
                </a:r>
                <a:r>
                  <a:rPr lang="de-DE" sz="2600" dirty="0"/>
                  <a:t>, </a:t>
                </a:r>
                <a:r>
                  <a:rPr lang="de-DE" sz="2600" dirty="0" err="1"/>
                  <a:t>physical</a:t>
                </a:r>
                <a:r>
                  <a:rPr lang="de-DE" sz="2600" dirty="0"/>
                  <a:t> </a:t>
                </a:r>
                <a:r>
                  <a:rPr lang="de-DE" sz="2600" dirty="0" err="1"/>
                  <a:t>field</a:t>
                </a:r>
                <a:r>
                  <a:rPr lang="de-DE" sz="2600" dirty="0"/>
                  <a:t>.</a:t>
                </a:r>
              </a:p>
              <a:p>
                <a:pPr marL="0" indent="0">
                  <a:buNone/>
                </a:pPr>
                <a:r>
                  <a:rPr lang="de-DE" sz="2600" dirty="0"/>
                  <a:t>(</a:t>
                </a:r>
                <a:r>
                  <a:rPr lang="de-DE" sz="2600" dirty="0" err="1"/>
                  <a:t>beware</a:t>
                </a:r>
                <a:r>
                  <a:rPr lang="de-DE" sz="2600" dirty="0"/>
                  <a:t> </a:t>
                </a:r>
                <a:r>
                  <a:rPr lang="de-DE" sz="2600" dirty="0" err="1"/>
                  <a:t>of</a:t>
                </a:r>
                <a:r>
                  <a:rPr lang="de-DE" sz="2600" dirty="0"/>
                  <a:t> </a:t>
                </a:r>
                <a:r>
                  <a:rPr lang="de-DE" sz="2600" dirty="0" err="1"/>
                  <a:t>confusion</a:t>
                </a:r>
                <a:r>
                  <a:rPr lang="de-DE" sz="2600" dirty="0"/>
                  <a:t> </a:t>
                </a:r>
                <a:r>
                  <a:rPr lang="de-DE" sz="2600" dirty="0" err="1"/>
                  <a:t>from</a:t>
                </a:r>
                <a:r>
                  <a:rPr lang="de-DE" sz="2600" dirty="0"/>
                  <a:t> </a:t>
                </a:r>
                <a:r>
                  <a:rPr lang="de-DE" sz="2600" dirty="0" err="1"/>
                  <a:t>naming</a:t>
                </a:r>
                <a:r>
                  <a:rPr lang="de-DE" sz="2600" dirty="0"/>
                  <a:t> and </a:t>
                </a:r>
                <a:r>
                  <a:rPr lang="de-DE" sz="2600" dirty="0" err="1"/>
                  <a:t>notation</a:t>
                </a:r>
                <a:r>
                  <a:rPr lang="de-DE" sz="2600" dirty="0"/>
                  <a:t> </a:t>
                </a:r>
                <a:r>
                  <a:rPr lang="de-DE" sz="2600" dirty="0" err="1"/>
                  <a:t>conventions</a:t>
                </a:r>
                <a:r>
                  <a:rPr lang="de-DE" sz="2600" dirty="0"/>
                  <a:t>)</a:t>
                </a:r>
              </a:p>
              <a:p>
                <a:pPr marL="0" indent="0">
                  <a:buNone/>
                </a:pPr>
                <a:endParaRPr lang="de-DE" dirty="0"/>
              </a:p>
            </p:txBody>
          </p:sp>
        </mc:Choice>
        <mc:Fallback xmlns="">
          <p:sp>
            <p:nvSpPr>
              <p:cNvPr id="4" name="Inhaltsplatzhalter 3">
                <a:extLst>
                  <a:ext uri="{FF2B5EF4-FFF2-40B4-BE49-F238E27FC236}">
                    <a16:creationId xmlns:a16="http://schemas.microsoft.com/office/drawing/2014/main" id="{C35D8D5E-F093-E0A5-A903-E33B21ED67D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4"/>
                <a:ext cx="9318459" cy="4530725"/>
              </a:xfrm>
              <a:blipFill>
                <a:blip r:embed="rId2"/>
                <a:stretch>
                  <a:fillRect l="-1090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7639E00E-6515-CD98-2DA7-64610376F7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03FC7C-1F2C-4946-B702-1A52A755583B}" type="slidenum">
              <a:rPr lang="de-DE" smtClean="0"/>
              <a:t>25</a:t>
            </a:fld>
            <a:endParaRPr lang="de-DE"/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647E3801-7DF2-DB69-735F-4F572E1F8173}"/>
              </a:ext>
            </a:extLst>
          </p:cNvPr>
          <p:cNvSpPr txBox="1"/>
          <p:nvPr/>
        </p:nvSpPr>
        <p:spPr>
          <a:xfrm>
            <a:off x="4748736" y="1766388"/>
            <a:ext cx="2751715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2200" dirty="0" err="1"/>
              <a:t>vacuum</a:t>
            </a:r>
            <a:r>
              <a:rPr lang="de-DE" sz="2200" dirty="0"/>
              <a:t> </a:t>
            </a:r>
            <a:r>
              <a:rPr lang="de-DE" sz="2200" dirty="0" err="1"/>
              <a:t>permeability</a:t>
            </a:r>
            <a:endParaRPr lang="de-DE" sz="2200" dirty="0"/>
          </a:p>
        </p:txBody>
      </p:sp>
      <p:cxnSp>
        <p:nvCxnSpPr>
          <p:cNvPr id="7" name="Gerade Verbindung mit Pfeil 6">
            <a:extLst>
              <a:ext uri="{FF2B5EF4-FFF2-40B4-BE49-F238E27FC236}">
                <a16:creationId xmlns:a16="http://schemas.microsoft.com/office/drawing/2014/main" id="{602D6513-3510-647E-6E54-552A261F73C4}"/>
              </a:ext>
            </a:extLst>
          </p:cNvPr>
          <p:cNvCxnSpPr>
            <a:cxnSpLocks/>
            <a:stCxn id="5" idx="1"/>
          </p:cNvCxnSpPr>
          <p:nvPr/>
        </p:nvCxnSpPr>
        <p:spPr>
          <a:xfrm flipH="1">
            <a:off x="3731191" y="1981832"/>
            <a:ext cx="1017545" cy="83830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feld 8">
                <a:extLst>
                  <a:ext uri="{FF2B5EF4-FFF2-40B4-BE49-F238E27FC236}">
                    <a16:creationId xmlns:a16="http://schemas.microsoft.com/office/drawing/2014/main" id="{80940E97-2387-AD73-5BC5-FD22EAE482CB}"/>
                  </a:ext>
                </a:extLst>
              </p:cNvPr>
              <p:cNvSpPr txBox="1"/>
              <p:nvPr/>
            </p:nvSpPr>
            <p:spPr>
              <a:xfrm>
                <a:off x="4141077" y="3527024"/>
                <a:ext cx="5841124" cy="7078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de-DE" sz="2200" dirty="0"/>
                  <a:t>relative </a:t>
                </a:r>
                <a:r>
                  <a:rPr lang="de-DE" sz="2200" dirty="0" err="1"/>
                  <a:t>permeability</a:t>
                </a:r>
                <a:endParaRPr lang="de-DE" sz="2200" dirty="0"/>
              </a:p>
              <a:p>
                <a:r>
                  <a:rPr lang="de-DE" dirty="0"/>
                  <a:t>(material </a:t>
                </a:r>
                <a:r>
                  <a:rPr lang="de-DE" dirty="0" err="1"/>
                  <a:t>dependent</a:t>
                </a:r>
                <a:r>
                  <a:rPr lang="de-DE" dirty="0"/>
                  <a:t>, </a:t>
                </a:r>
                <a14:m>
                  <m:oMath xmlns:m="http://schemas.openxmlformats.org/officeDocument/2006/math">
                    <m:r>
                      <a:rPr lang="de-DE" b="0" i="1" smtClean="0">
                        <a:latin typeface="Cambria Math" panose="02040503050406030204" pitchFamily="18" charset="0"/>
                      </a:rPr>
                      <m:t>&gt;1000</m:t>
                    </m:r>
                  </m:oMath>
                </a14:m>
                <a:r>
                  <a:rPr lang="de-DE" dirty="0"/>
                  <a:t> </a:t>
                </a:r>
                <a:r>
                  <a:rPr lang="de-DE" dirty="0" err="1"/>
                  <a:t>for</a:t>
                </a:r>
                <a:r>
                  <a:rPr lang="de-DE" dirty="0"/>
                  <a:t> </a:t>
                </a:r>
                <a:r>
                  <a:rPr lang="de-DE" dirty="0" err="1"/>
                  <a:t>ferromagnetic</a:t>
                </a:r>
                <a:r>
                  <a:rPr lang="de-DE" dirty="0"/>
                  <a:t> </a:t>
                </a:r>
                <a:r>
                  <a:rPr lang="de-DE" dirty="0" err="1"/>
                  <a:t>materials</a:t>
                </a:r>
                <a:r>
                  <a:rPr lang="de-DE" dirty="0"/>
                  <a:t>)</a:t>
                </a:r>
              </a:p>
            </p:txBody>
          </p:sp>
        </mc:Choice>
        <mc:Fallback xmlns="">
          <p:sp>
            <p:nvSpPr>
              <p:cNvPr id="9" name="Textfeld 8">
                <a:extLst>
                  <a:ext uri="{FF2B5EF4-FFF2-40B4-BE49-F238E27FC236}">
                    <a16:creationId xmlns:a16="http://schemas.microsoft.com/office/drawing/2014/main" id="{80940E97-2387-AD73-5BC5-FD22EAE482C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41077" y="3527024"/>
                <a:ext cx="5841124" cy="707886"/>
              </a:xfrm>
              <a:prstGeom prst="rect">
                <a:avLst/>
              </a:prstGeom>
              <a:blipFill>
                <a:blip r:embed="rId3"/>
                <a:stretch>
                  <a:fillRect l="-1082" t="-5263" r="-649" b="-12281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1" name="Gerade Verbindung mit Pfeil 10">
            <a:extLst>
              <a:ext uri="{FF2B5EF4-FFF2-40B4-BE49-F238E27FC236}">
                <a16:creationId xmlns:a16="http://schemas.microsoft.com/office/drawing/2014/main" id="{9E87A3AF-2B6C-9A66-68E5-6AE8B160A019}"/>
              </a:ext>
            </a:extLst>
          </p:cNvPr>
          <p:cNvCxnSpPr>
            <a:cxnSpLocks/>
          </p:cNvCxnSpPr>
          <p:nvPr/>
        </p:nvCxnSpPr>
        <p:spPr>
          <a:xfrm flipH="1" flipV="1">
            <a:off x="4235675" y="3134797"/>
            <a:ext cx="168159" cy="47025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0" name="Grafik 19">
            <a:extLst>
              <a:ext uri="{FF2B5EF4-FFF2-40B4-BE49-F238E27FC236}">
                <a16:creationId xmlns:a16="http://schemas.microsoft.com/office/drawing/2014/main" id="{F9094DDC-0C02-6E71-0A39-95087AEB01D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982200" y="2400984"/>
            <a:ext cx="2035341" cy="3663613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feld 22">
                <a:extLst>
                  <a:ext uri="{FF2B5EF4-FFF2-40B4-BE49-F238E27FC236}">
                    <a16:creationId xmlns:a16="http://schemas.microsoft.com/office/drawing/2014/main" id="{54F2B194-E77E-CFE3-7F8D-62BF14CDAB28}"/>
                  </a:ext>
                </a:extLst>
              </p:cNvPr>
              <p:cNvSpPr txBox="1"/>
              <p:nvPr/>
            </p:nvSpPr>
            <p:spPr>
              <a:xfrm>
                <a:off x="10100137" y="1629812"/>
                <a:ext cx="1432379" cy="56746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i="1" smtClean="0">
                          <a:latin typeface="Cambria Math" panose="02040503050406030204" pitchFamily="18" charset="0"/>
                        </a:rPr>
                        <m:t>𝐻</m:t>
                      </m:r>
                      <m:r>
                        <a:rPr lang="de-DE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de-DE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sSub>
                            <m:sSubPr>
                              <m:ctrlPr>
                                <a:rPr lang="de-DE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e-DE" i="1">
                                  <a:latin typeface="Cambria Math" panose="02040503050406030204" pitchFamily="18" charset="0"/>
                                </a:rPr>
                                <m:t>𝜇</m:t>
                              </m:r>
                            </m:e>
                            <m:sub>
                              <m:r>
                                <a:rPr lang="de-DE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den>
                      </m:f>
                      <m:r>
                        <a:rPr lang="de-DE" b="0" i="1" smtClean="0"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de-DE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de-DE" b="0" i="1" smtClean="0">
                          <a:latin typeface="Cambria Math" panose="02040503050406030204" pitchFamily="18" charset="0"/>
                        </a:rPr>
                        <m:t>𝑀</m:t>
                      </m:r>
                    </m:oMath>
                  </m:oMathPara>
                </a14:m>
                <a:endParaRPr lang="de-DE" dirty="0"/>
              </a:p>
            </p:txBody>
          </p:sp>
        </mc:Choice>
        <mc:Fallback xmlns="">
          <p:sp>
            <p:nvSpPr>
              <p:cNvPr id="23" name="Textfeld 22">
                <a:extLst>
                  <a:ext uri="{FF2B5EF4-FFF2-40B4-BE49-F238E27FC236}">
                    <a16:creationId xmlns:a16="http://schemas.microsoft.com/office/drawing/2014/main" id="{54F2B194-E77E-CFE3-7F8D-62BF14CDAB2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00137" y="1629812"/>
                <a:ext cx="1432379" cy="567463"/>
              </a:xfrm>
              <a:prstGeom prst="rect">
                <a:avLst/>
              </a:prstGeom>
              <a:blipFill>
                <a:blip r:embed="rId6"/>
                <a:stretch>
                  <a:fillRect l="-3509" t="-4444" r="-2632" b="-11111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4" name="Textfeld 23">
            <a:extLst>
              <a:ext uri="{FF2B5EF4-FFF2-40B4-BE49-F238E27FC236}">
                <a16:creationId xmlns:a16="http://schemas.microsoft.com/office/drawing/2014/main" id="{67ECCDD3-B50F-281A-DE28-28A76064172A}"/>
              </a:ext>
            </a:extLst>
          </p:cNvPr>
          <p:cNvSpPr txBox="1"/>
          <p:nvPr/>
        </p:nvSpPr>
        <p:spPr>
          <a:xfrm>
            <a:off x="10156659" y="938559"/>
            <a:ext cx="16001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 err="1"/>
              <a:t>magnetization</a:t>
            </a:r>
            <a:endParaRPr lang="de-DE" dirty="0"/>
          </a:p>
        </p:txBody>
      </p:sp>
      <p:cxnSp>
        <p:nvCxnSpPr>
          <p:cNvPr id="26" name="Gerade Verbindung mit Pfeil 25">
            <a:extLst>
              <a:ext uri="{FF2B5EF4-FFF2-40B4-BE49-F238E27FC236}">
                <a16:creationId xmlns:a16="http://schemas.microsoft.com/office/drawing/2014/main" id="{92D6149B-DA87-1115-A1A7-D57F8693450C}"/>
              </a:ext>
            </a:extLst>
          </p:cNvPr>
          <p:cNvCxnSpPr>
            <a:stCxn id="24" idx="2"/>
          </p:cNvCxnSpPr>
          <p:nvPr/>
        </p:nvCxnSpPr>
        <p:spPr>
          <a:xfrm>
            <a:off x="10956718" y="1307891"/>
            <a:ext cx="397082" cy="45849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5189582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11ABFAE-EED4-0734-FE23-5C1CB23D73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Magnetic</a:t>
            </a:r>
            <a:r>
              <a:rPr lang="de-DE" dirty="0"/>
              <a:t> Flux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Inhaltsplatzhalter 2">
                <a:extLst>
                  <a:ext uri="{FF2B5EF4-FFF2-40B4-BE49-F238E27FC236}">
                    <a16:creationId xmlns:a16="http://schemas.microsoft.com/office/drawing/2014/main" id="{26AE6A9C-4255-5DF6-7561-E643608DAFF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de-DE" sz="2400">
                          <a:latin typeface="Cambria Math" panose="02040503050406030204" pitchFamily="18" charset="0"/>
                        </a:rPr>
                        <m:t>Φ</m:t>
                      </m:r>
                      <m:r>
                        <a:rPr lang="de-DE" sz="2400" i="1">
                          <a:latin typeface="Cambria Math" panose="02040503050406030204" pitchFamily="18" charset="0"/>
                        </a:rPr>
                        <m:t>=</m:t>
                      </m:r>
                      <m:acc>
                        <m:accPr>
                          <m:chr m:val="⃗"/>
                          <m:ctrlPr>
                            <a:rPr lang="de-DE" sz="2400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de-DE" sz="2400" i="1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</m:acc>
                      <m:r>
                        <a:rPr lang="de-DE" sz="2400" i="1">
                          <a:latin typeface="Cambria Math" panose="02040503050406030204" pitchFamily="18" charset="0"/>
                        </a:rPr>
                        <m:t>∙</m:t>
                      </m:r>
                      <m:sSub>
                        <m:sSubPr>
                          <m:ctrlPr>
                            <a:rPr lang="de-DE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⃗"/>
                              <m:ctrlPr>
                                <a:rPr lang="de-DE" sz="24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de-DE" sz="2400" i="1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</m:acc>
                        </m:e>
                        <m:sub>
                          <m:r>
                            <a:rPr lang="de-DE" sz="2400" i="1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de-DE" sz="24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de-DE" sz="2400" i="1"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de-DE" sz="2400" i="1">
                          <a:latin typeface="Cambria Math" panose="02040503050406030204" pitchFamily="18" charset="0"/>
                        </a:rPr>
                        <m:t>∙</m:t>
                      </m:r>
                      <m:r>
                        <a:rPr lang="de-DE" sz="2400" i="1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de-DE" sz="2400" i="1">
                          <a:latin typeface="Cambria Math" panose="02040503050406030204" pitchFamily="18" charset="0"/>
                        </a:rPr>
                        <m:t>∙</m:t>
                      </m:r>
                      <m:func>
                        <m:funcPr>
                          <m:ctrlPr>
                            <a:rPr lang="de-DE" sz="24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de-DE" sz="2400">
                              <a:latin typeface="Cambria Math" panose="02040503050406030204" pitchFamily="18" charset="0"/>
                            </a:rPr>
                            <m:t>cos</m:t>
                          </m:r>
                        </m:fName>
                        <m:e>
                          <m:r>
                            <a:rPr lang="de-DE" sz="2400" i="1">
                              <a:latin typeface="Cambria Math" panose="02040503050406030204" pitchFamily="18" charset="0"/>
                            </a:rPr>
                            <m:t>𝜑</m:t>
                          </m:r>
                        </m:e>
                      </m:func>
                    </m:oMath>
                  </m:oMathPara>
                </a14:m>
                <a:endParaRPr lang="de-DE" sz="1800" dirty="0"/>
              </a:p>
              <a:p>
                <a:pPr marL="0" indent="0">
                  <a:buNone/>
                </a:pPr>
                <a:endParaRPr lang="de-DE" sz="2600" dirty="0"/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de-DE" sz="2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de-DE" sz="2400">
                            <a:latin typeface="Cambria Math" panose="02040503050406030204" pitchFamily="18" charset="0"/>
                          </a:rPr>
                          <m:t>Φ</m:t>
                        </m:r>
                      </m:e>
                    </m:d>
                    <m:r>
                      <a:rPr lang="de-DE" sz="2600" i="1">
                        <a:latin typeface="Cambria Math" panose="02040503050406030204" pitchFamily="18" charset="0"/>
                      </a:rPr>
                      <m:t>=1 </m:t>
                    </m:r>
                    <m:r>
                      <m:rPr>
                        <m:sty m:val="p"/>
                      </m:rPr>
                      <a:rPr lang="de-DE" sz="2600">
                        <a:latin typeface="Cambria Math" panose="02040503050406030204" pitchFamily="18" charset="0"/>
                      </a:rPr>
                      <m:t>Vs</m:t>
                    </m:r>
                    <m:r>
                      <a:rPr lang="de-DE" sz="2600" i="1">
                        <a:latin typeface="Cambria Math" panose="02040503050406030204" pitchFamily="18" charset="0"/>
                      </a:rPr>
                      <m:t>=1 </m:t>
                    </m:r>
                    <m:r>
                      <m:rPr>
                        <m:sty m:val="p"/>
                      </m:rPr>
                      <a:rPr lang="de-DE" sz="2600">
                        <a:latin typeface="Cambria Math" panose="02040503050406030204" pitchFamily="18" charset="0"/>
                      </a:rPr>
                      <m:t>Wb</m:t>
                    </m:r>
                  </m:oMath>
                </a14:m>
                <a:r>
                  <a:rPr lang="de-DE" sz="2600" dirty="0"/>
                  <a:t>		(</a:t>
                </a:r>
                <a:r>
                  <a:rPr lang="de-DE" sz="2600" dirty="0" err="1"/>
                  <a:t>weber</a:t>
                </a:r>
                <a:r>
                  <a:rPr lang="de-DE" sz="2600" dirty="0"/>
                  <a:t>)</a:t>
                </a:r>
              </a:p>
            </p:txBody>
          </p:sp>
        </mc:Choice>
        <mc:Fallback xmlns="">
          <p:sp>
            <p:nvSpPr>
              <p:cNvPr id="3" name="Inhaltsplatzhalter 2">
                <a:extLst>
                  <a:ext uri="{FF2B5EF4-FFF2-40B4-BE49-F238E27FC236}">
                    <a16:creationId xmlns:a16="http://schemas.microsoft.com/office/drawing/2014/main" id="{26AE6A9C-4255-5DF6-7561-E643608DAFF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t="-3488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DC87E519-2DEE-4C38-B1C0-39F4F6AB4A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03FC7C-1F2C-4946-B702-1A52A755583B}" type="slidenum">
              <a:rPr lang="de-DE" smtClean="0"/>
              <a:t>26</a:t>
            </a:fld>
            <a:endParaRPr lang="de-DE"/>
          </a:p>
        </p:txBody>
      </p:sp>
      <p:pic>
        <p:nvPicPr>
          <p:cNvPr id="5" name="Bild 1">
            <a:extLst>
              <a:ext uri="{FF2B5EF4-FFF2-40B4-BE49-F238E27FC236}">
                <a16:creationId xmlns:a16="http://schemas.microsoft.com/office/drawing/2014/main" id="{D6B7995C-F8B3-B03D-2AE1-DF741C0E57A9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3703583" y="3699532"/>
            <a:ext cx="4784834" cy="3158468"/>
          </a:xfrm>
          <a:prstGeom prst="rect">
            <a:avLst/>
          </a:prstGeom>
        </p:spPr>
      </p:pic>
      <p:sp>
        <p:nvSpPr>
          <p:cNvPr id="6" name="Rechteck 5">
            <a:extLst>
              <a:ext uri="{FF2B5EF4-FFF2-40B4-BE49-F238E27FC236}">
                <a16:creationId xmlns:a16="http://schemas.microsoft.com/office/drawing/2014/main" id="{FCAEFB75-3839-D4AC-1F36-D84C8583D22F}"/>
              </a:ext>
            </a:extLst>
          </p:cNvPr>
          <p:cNvSpPr/>
          <p:nvPr/>
        </p:nvSpPr>
        <p:spPr>
          <a:xfrm>
            <a:off x="4214648" y="3857297"/>
            <a:ext cx="1019504" cy="3048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6CD20264-D626-D70A-470E-CD0D6CABA6FB}"/>
              </a:ext>
            </a:extLst>
          </p:cNvPr>
          <p:cNvSpPr/>
          <p:nvPr/>
        </p:nvSpPr>
        <p:spPr>
          <a:xfrm>
            <a:off x="7803931" y="6255133"/>
            <a:ext cx="806669" cy="3048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9856969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7594F84-37B9-F7AA-1DAD-0F7D50A1FB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Gauss‘s</a:t>
            </a:r>
            <a:r>
              <a:rPr lang="de-DE" dirty="0"/>
              <a:t> Law </a:t>
            </a:r>
            <a:r>
              <a:rPr lang="de-DE" dirty="0" err="1"/>
              <a:t>for</a:t>
            </a:r>
            <a:r>
              <a:rPr lang="de-DE" dirty="0"/>
              <a:t> </a:t>
            </a:r>
            <a:r>
              <a:rPr lang="de-DE" dirty="0" err="1"/>
              <a:t>Magnetism</a:t>
            </a:r>
            <a:endParaRPr lang="de-DE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Inhaltsplatzhalter 2">
                <a:extLst>
                  <a:ext uri="{FF2B5EF4-FFF2-40B4-BE49-F238E27FC236}">
                    <a16:creationId xmlns:a16="http://schemas.microsoft.com/office/drawing/2014/main" id="{6906C6C4-B637-CFA7-9F52-015A5BB9530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Autofit/>
              </a:bodyPr>
              <a:lstStyle/>
              <a:p>
                <a:pPr marL="0" indent="0">
                  <a:buNone/>
                </a:pPr>
                <a:r>
                  <a:rPr lang="de-DE" sz="2600" dirty="0" err="1"/>
                  <a:t>magnetic</a:t>
                </a:r>
                <a:r>
                  <a:rPr lang="de-DE" sz="2600" dirty="0"/>
                  <a:t> </a:t>
                </a:r>
                <a:r>
                  <a:rPr lang="de-DE" sz="2600" dirty="0" err="1"/>
                  <a:t>flux</a:t>
                </a:r>
                <a:r>
                  <a:rPr lang="de-DE" sz="2600" dirty="0"/>
                  <a:t> </a:t>
                </a:r>
                <a:r>
                  <a:rPr lang="de-DE" sz="2600" dirty="0" err="1"/>
                  <a:t>through</a:t>
                </a:r>
                <a:r>
                  <a:rPr lang="de-DE" sz="2600" dirty="0"/>
                  <a:t> </a:t>
                </a:r>
                <a:r>
                  <a:rPr lang="de-DE" sz="2600" b="1" dirty="0" err="1"/>
                  <a:t>closed</a:t>
                </a:r>
                <a:r>
                  <a:rPr lang="de-DE" sz="2600" dirty="0"/>
                  <a:t> </a:t>
                </a:r>
                <a:r>
                  <a:rPr lang="de-DE" sz="2600" dirty="0" err="1"/>
                  <a:t>surface</a:t>
                </a:r>
                <a:r>
                  <a:rPr lang="de-DE" sz="2600" dirty="0"/>
                  <a:t> </a:t>
                </a:r>
                <a:r>
                  <a:rPr lang="de-DE" sz="2600" dirty="0" err="1"/>
                  <a:t>is</a:t>
                </a:r>
                <a:r>
                  <a:rPr lang="de-DE" sz="2600" dirty="0"/>
                  <a:t> </a:t>
                </a:r>
                <a:r>
                  <a:rPr lang="de-DE" sz="2600" dirty="0" err="1"/>
                  <a:t>zero</a:t>
                </a:r>
                <a:r>
                  <a:rPr lang="de-DE" sz="2600" dirty="0"/>
                  <a:t> (</a:t>
                </a:r>
                <a:r>
                  <a:rPr lang="de-DE" sz="2600" dirty="0" err="1"/>
                  <a:t>no</a:t>
                </a:r>
                <a:r>
                  <a:rPr lang="de-DE" sz="2600" dirty="0"/>
                  <a:t> </a:t>
                </a:r>
                <a:r>
                  <a:rPr lang="de-DE" sz="2600" dirty="0" err="1"/>
                  <a:t>magnetic</a:t>
                </a:r>
                <a:r>
                  <a:rPr lang="de-DE" sz="2600" dirty="0"/>
                  <a:t> </a:t>
                </a:r>
                <a:r>
                  <a:rPr lang="de-DE" sz="2600" dirty="0" err="1"/>
                  <a:t>monopoles</a:t>
                </a:r>
                <a:r>
                  <a:rPr lang="de-DE" sz="2600" dirty="0"/>
                  <a:t>):</a:t>
                </a:r>
              </a:p>
              <a:p>
                <a:pPr marL="0" indent="0">
                  <a:buNone/>
                </a:pPr>
                <a:endParaRPr lang="de-DE" sz="26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∯"/>
                          <m:limLoc m:val="undOvr"/>
                          <m:subHide m:val="on"/>
                          <m:supHide m:val="on"/>
                          <m:ctrlPr>
                            <a:rPr lang="de-DE" sz="2600" i="1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acc>
                            <m:accPr>
                              <m:chr m:val="⃑"/>
                              <m:ctrlPr>
                                <a:rPr lang="de-DE" sz="26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de-DE" sz="2600" i="1"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e>
                          </m:acc>
                          <m:r>
                            <a:rPr lang="de-DE" sz="2600" i="1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de-DE" sz="2600" i="1">
                              <a:latin typeface="Cambria Math" panose="02040503050406030204" pitchFamily="18" charset="0"/>
                            </a:rPr>
                            <m:t>𝑑</m:t>
                          </m:r>
                          <m:acc>
                            <m:accPr>
                              <m:chr m:val="⃑"/>
                              <m:ctrlPr>
                                <a:rPr lang="de-DE" sz="26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de-DE" sz="2600" i="1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</m:acc>
                        </m:e>
                      </m:nary>
                      <m:r>
                        <a:rPr lang="de-DE" sz="2600" i="1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de-DE" sz="2600" dirty="0"/>
              </a:p>
              <a:p>
                <a:pPr marL="0" indent="0">
                  <a:buNone/>
                </a:pPr>
                <a:endParaRPr lang="de-DE" sz="2600" dirty="0"/>
              </a:p>
              <a:p>
                <a:pPr marL="0" indent="0">
                  <a:buNone/>
                </a:pPr>
                <a:r>
                  <a:rPr lang="de-DE" sz="2600" dirty="0"/>
                  <a:t>differential form (</a:t>
                </a:r>
                <a:r>
                  <a:rPr lang="de-DE" sz="2600" dirty="0" err="1"/>
                  <a:t>equivalent</a:t>
                </a:r>
                <a:r>
                  <a:rPr lang="de-DE" sz="2600" dirty="0"/>
                  <a:t> </a:t>
                </a:r>
                <a:r>
                  <a:rPr lang="de-DE" sz="2600" dirty="0" err="1"/>
                  <a:t>to</a:t>
                </a:r>
                <a:r>
                  <a:rPr lang="de-DE" sz="2600" dirty="0"/>
                  <a:t> integral form):</a:t>
                </a:r>
              </a:p>
              <a:p>
                <a:pPr marL="0" indent="0">
                  <a:buNone/>
                </a:pPr>
                <a:endParaRPr lang="de-DE" sz="26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de-DE" sz="26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∇</m:t>
                      </m:r>
                      <m:r>
                        <a:rPr lang="de-DE" sz="26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acc>
                        <m:accPr>
                          <m:chr m:val="⃑"/>
                          <m:ctrlPr>
                            <a:rPr lang="de-DE" sz="2600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de-DE" sz="2600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</m:acc>
                      <m:r>
                        <a:rPr lang="de-DE" sz="26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de-DE" sz="2600" b="0" i="1" smtClean="0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de-DE" sz="2600" dirty="0"/>
              </a:p>
              <a:p>
                <a:pPr marL="0" indent="0">
                  <a:buNone/>
                </a:pPr>
                <a:endParaRPr lang="de-DE" sz="2600" dirty="0"/>
              </a:p>
              <a:p>
                <a:pPr marL="0" indent="0">
                  <a:buNone/>
                </a:pPr>
                <a:r>
                  <a:rPr lang="de-DE" sz="2600" dirty="0"/>
                  <a:t>(The </a:t>
                </a:r>
                <a:r>
                  <a:rPr lang="de-DE" sz="2600" dirty="0" err="1"/>
                  <a:t>magnetic</a:t>
                </a:r>
                <a:r>
                  <a:rPr lang="de-DE" sz="2600" dirty="0"/>
                  <a:t> </a:t>
                </a:r>
                <a:r>
                  <a:rPr lang="de-DE" sz="2600" dirty="0" err="1"/>
                  <a:t>flux</a:t>
                </a:r>
                <a:r>
                  <a:rPr lang="de-DE" sz="2600" dirty="0"/>
                  <a:t> </a:t>
                </a:r>
                <a:r>
                  <a:rPr lang="de-DE" sz="2600" dirty="0" err="1"/>
                  <a:t>through</a:t>
                </a:r>
                <a:r>
                  <a:rPr lang="de-DE" sz="2600" dirty="0"/>
                  <a:t> an </a:t>
                </a:r>
                <a:r>
                  <a:rPr lang="de-DE" sz="2600" b="1" dirty="0"/>
                  <a:t>open</a:t>
                </a:r>
                <a:r>
                  <a:rPr lang="de-DE" sz="2600" dirty="0"/>
                  <a:t> </a:t>
                </a:r>
                <a:r>
                  <a:rPr lang="de-DE" sz="2600" dirty="0" err="1"/>
                  <a:t>surface</a:t>
                </a:r>
                <a:r>
                  <a:rPr lang="de-DE" sz="2600" dirty="0"/>
                  <a:t> </a:t>
                </a:r>
                <a:r>
                  <a:rPr lang="de-DE" sz="2600" dirty="0" err="1"/>
                  <a:t>need</a:t>
                </a:r>
                <a:r>
                  <a:rPr lang="de-DE" sz="2600" dirty="0"/>
                  <a:t> not </a:t>
                </a:r>
                <a:r>
                  <a:rPr lang="de-DE" sz="2600" dirty="0" err="1"/>
                  <a:t>be</a:t>
                </a:r>
                <a:r>
                  <a:rPr lang="de-DE" sz="2600" dirty="0"/>
                  <a:t> </a:t>
                </a:r>
                <a:r>
                  <a:rPr lang="de-DE" sz="2600" dirty="0" err="1"/>
                  <a:t>zero</a:t>
                </a:r>
                <a:r>
                  <a:rPr lang="de-DE" sz="2600" dirty="0"/>
                  <a:t>.)</a:t>
                </a:r>
              </a:p>
            </p:txBody>
          </p:sp>
        </mc:Choice>
        <mc:Fallback xmlns="">
          <p:sp>
            <p:nvSpPr>
              <p:cNvPr id="3" name="Inhaltsplatzhalter 2">
                <a:extLst>
                  <a:ext uri="{FF2B5EF4-FFF2-40B4-BE49-F238E27FC236}">
                    <a16:creationId xmlns:a16="http://schemas.microsoft.com/office/drawing/2014/main" id="{6906C6C4-B637-CFA7-9F52-015A5BB9530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86" t="-18895" b="-11337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92D5027B-27E5-ACA3-3A7C-E38FF8C7C0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03FC7C-1F2C-4946-B702-1A52A755583B}" type="slidenum">
              <a:rPr lang="de-DE" smtClean="0"/>
              <a:t>27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7412125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27AC383-37FA-DD4B-87F0-AC7AE59AB8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Electromagnetic</a:t>
            </a:r>
            <a:r>
              <a:rPr lang="de-DE" dirty="0"/>
              <a:t> </a:t>
            </a:r>
            <a:r>
              <a:rPr lang="de-DE" dirty="0" err="1"/>
              <a:t>Induction</a:t>
            </a:r>
            <a:endParaRPr lang="de-DE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Inhaltsplatzhalter 3">
                <a:extLst>
                  <a:ext uri="{FF2B5EF4-FFF2-40B4-BE49-F238E27FC236}">
                    <a16:creationId xmlns:a16="http://schemas.microsoft.com/office/drawing/2014/main" id="{07931F15-F2F9-40B4-1E63-6AC1BE96435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de-DE" sz="2600" dirty="0"/>
                  <a:t>changing </a:t>
                </a:r>
                <a:r>
                  <a:rPr lang="de-DE" sz="2600" dirty="0" err="1"/>
                  <a:t>magnetic</a:t>
                </a:r>
                <a:r>
                  <a:rPr lang="de-DE" sz="2600" dirty="0"/>
                  <a:t> </a:t>
                </a:r>
                <a:r>
                  <a:rPr lang="de-DE" sz="2600" dirty="0" err="1"/>
                  <a:t>field</a:t>
                </a:r>
                <a:r>
                  <a:rPr lang="de-DE" sz="2600" dirty="0"/>
                  <a:t> (</a:t>
                </a:r>
                <a:r>
                  <a:rPr lang="de-DE" sz="2600" dirty="0" err="1"/>
                  <a:t>through</a:t>
                </a:r>
                <a:r>
                  <a:rPr lang="de-DE" sz="2600" dirty="0"/>
                  <a:t> </a:t>
                </a:r>
                <a:r>
                  <a:rPr lang="de-DE" sz="2600" dirty="0" err="1"/>
                  <a:t>surface</a:t>
                </a:r>
                <a:r>
                  <a:rPr lang="de-DE" sz="2600" dirty="0"/>
                  <a:t>) </a:t>
                </a:r>
                <a:r>
                  <a:rPr lang="de-DE" sz="2600" dirty="0" err="1"/>
                  <a:t>induces</a:t>
                </a:r>
                <a:r>
                  <a:rPr lang="de-DE" sz="2600" dirty="0"/>
                  <a:t> </a:t>
                </a:r>
                <a:r>
                  <a:rPr lang="de-DE" sz="2600" dirty="0" err="1"/>
                  <a:t>current</a:t>
                </a:r>
                <a:r>
                  <a:rPr lang="de-DE" sz="2600" dirty="0"/>
                  <a:t> in </a:t>
                </a:r>
                <a:r>
                  <a:rPr lang="de-DE" sz="2600" dirty="0" err="1"/>
                  <a:t>conductor</a:t>
                </a:r>
                <a:endParaRPr lang="de-DE" sz="2600" dirty="0"/>
              </a:p>
              <a:p>
                <a:pPr marL="0" indent="0">
                  <a:buNone/>
                </a:pPr>
                <a:endParaRPr lang="de-DE" sz="2600" dirty="0"/>
              </a:p>
              <a:p>
                <a:pPr marL="0" indent="0">
                  <a:buNone/>
                </a:pPr>
                <a:r>
                  <a:rPr lang="de-DE" sz="2600" dirty="0" err="1"/>
                  <a:t>Faraday’s</a:t>
                </a:r>
                <a:r>
                  <a:rPr lang="de-DE" sz="2600" dirty="0"/>
                  <a:t> Law </a:t>
                </a:r>
                <a:r>
                  <a:rPr lang="de-DE" sz="2600" dirty="0" err="1"/>
                  <a:t>of</a:t>
                </a:r>
                <a:r>
                  <a:rPr lang="de-DE" sz="2600" dirty="0"/>
                  <a:t> </a:t>
                </a:r>
                <a:r>
                  <a:rPr lang="de-DE" sz="2600" dirty="0" err="1"/>
                  <a:t>electromagnetic</a:t>
                </a:r>
                <a:r>
                  <a:rPr lang="de-DE" sz="2600" dirty="0"/>
                  <a:t> </a:t>
                </a:r>
                <a:r>
                  <a:rPr lang="de-DE" sz="2600" dirty="0" err="1"/>
                  <a:t>induction</a:t>
                </a:r>
                <a:r>
                  <a:rPr lang="de-DE" sz="2600" dirty="0"/>
                  <a:t>:</a:t>
                </a:r>
              </a:p>
              <a:p>
                <a:pPr marL="0" indent="0">
                  <a:buNone/>
                </a:pPr>
                <a:endParaRPr lang="de-DE" sz="2600" dirty="0"/>
              </a:p>
              <a:p>
                <a:pPr marL="0" indent="0">
                  <a:buNone/>
                </a:pPr>
                <a:r>
                  <a:rPr lang="de-DE" b="0" dirty="0"/>
                  <a:t>	</a:t>
                </a:r>
                <a14:m>
                  <m:oMath xmlns:m="http://schemas.openxmlformats.org/officeDocument/2006/math">
                    <m:r>
                      <a:rPr lang="de-DE" b="0" i="1" smtClean="0">
                        <a:latin typeface="Cambria Math" panose="02040503050406030204" pitchFamily="18" charset="0"/>
                      </a:rPr>
                      <m:t>𝑉</m:t>
                    </m:r>
                    <m:r>
                      <a:rPr lang="de-DE" b="0" i="1" smtClean="0">
                        <a:latin typeface="Cambria Math" panose="02040503050406030204" pitchFamily="18" charset="0"/>
                      </a:rPr>
                      <m:t>=−</m:t>
                    </m:r>
                    <m:f>
                      <m:fPr>
                        <m:ctrlPr>
                          <a:rPr lang="de-DE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de-DE" i="1" smtClean="0">
                            <a:latin typeface="Cambria Math" panose="02040503050406030204" pitchFamily="18" charset="0"/>
                          </a:rPr>
                          <m:t>ⅆ</m:t>
                        </m:r>
                        <m:r>
                          <m:rPr>
                            <m:sty m:val="p"/>
                          </m:rPr>
                          <a:rPr lang="de-DE">
                            <a:latin typeface="Cambria Math" panose="02040503050406030204" pitchFamily="18" charset="0"/>
                          </a:rPr>
                          <m:t>Φ</m:t>
                        </m:r>
                      </m:num>
                      <m:den>
                        <m:r>
                          <a:rPr lang="de-DE" i="1" smtClean="0">
                            <a:latin typeface="Cambria Math" panose="02040503050406030204" pitchFamily="18" charset="0"/>
                          </a:rPr>
                          <m:t>ⅆ</m:t>
                        </m:r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den>
                    </m:f>
                  </m:oMath>
                </a14:m>
                <a:endParaRPr lang="de-DE" dirty="0"/>
              </a:p>
            </p:txBody>
          </p:sp>
        </mc:Choice>
        <mc:Fallback xmlns="">
          <p:sp>
            <p:nvSpPr>
              <p:cNvPr id="4" name="Inhaltsplatzhalter 3">
                <a:extLst>
                  <a:ext uri="{FF2B5EF4-FFF2-40B4-BE49-F238E27FC236}">
                    <a16:creationId xmlns:a16="http://schemas.microsoft.com/office/drawing/2014/main" id="{07931F15-F2F9-40B4-1E63-6AC1BE96435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86" t="-2035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C1F78DB2-B842-DC19-1BD2-FEF2004751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03FC7C-1F2C-4946-B702-1A52A755583B}" type="slidenum">
              <a:rPr lang="de-DE" smtClean="0"/>
              <a:t>28</a:t>
            </a:fld>
            <a:endParaRPr lang="de-DE"/>
          </a:p>
        </p:txBody>
      </p:sp>
      <p:sp>
        <p:nvSpPr>
          <p:cNvPr id="6" name="Textfeld 5">
            <a:extLst>
              <a:ext uri="{FF2B5EF4-FFF2-40B4-BE49-F238E27FC236}">
                <a16:creationId xmlns:a16="http://schemas.microsoft.com/office/drawing/2014/main" id="{F784BC26-28DA-8A22-2897-E91DF9763573}"/>
              </a:ext>
            </a:extLst>
          </p:cNvPr>
          <p:cNvSpPr txBox="1"/>
          <p:nvPr/>
        </p:nvSpPr>
        <p:spPr>
          <a:xfrm>
            <a:off x="959508" y="5328747"/>
            <a:ext cx="373117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2400" dirty="0" err="1"/>
              <a:t>voltage</a:t>
            </a:r>
            <a:r>
              <a:rPr lang="de-DE" sz="2400" dirty="0"/>
              <a:t> </a:t>
            </a:r>
            <a:r>
              <a:rPr lang="de-DE" sz="2400" dirty="0" err="1"/>
              <a:t>induced</a:t>
            </a:r>
            <a:endParaRPr lang="de-DE" sz="2400" dirty="0"/>
          </a:p>
        </p:txBody>
      </p:sp>
      <p:cxnSp>
        <p:nvCxnSpPr>
          <p:cNvPr id="8" name="Gerade Verbindung mit Pfeil 7">
            <a:extLst>
              <a:ext uri="{FF2B5EF4-FFF2-40B4-BE49-F238E27FC236}">
                <a16:creationId xmlns:a16="http://schemas.microsoft.com/office/drawing/2014/main" id="{EC89AC07-5867-E201-64B3-5667E9EE5D18}"/>
              </a:ext>
            </a:extLst>
          </p:cNvPr>
          <p:cNvCxnSpPr>
            <a:cxnSpLocks/>
          </p:cNvCxnSpPr>
          <p:nvPr/>
        </p:nvCxnSpPr>
        <p:spPr>
          <a:xfrm flipV="1">
            <a:off x="1576550" y="4280311"/>
            <a:ext cx="294289" cy="118506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feld 8">
            <a:extLst>
              <a:ext uri="{FF2B5EF4-FFF2-40B4-BE49-F238E27FC236}">
                <a16:creationId xmlns:a16="http://schemas.microsoft.com/office/drawing/2014/main" id="{463232C6-2A31-B16C-082D-18691134D292}"/>
              </a:ext>
            </a:extLst>
          </p:cNvPr>
          <p:cNvSpPr txBox="1"/>
          <p:nvPr/>
        </p:nvSpPr>
        <p:spPr>
          <a:xfrm>
            <a:off x="5600356" y="5521146"/>
            <a:ext cx="347235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400" dirty="0" err="1"/>
              <a:t>induced</a:t>
            </a:r>
            <a:r>
              <a:rPr lang="de-DE" sz="2400" dirty="0"/>
              <a:t> </a:t>
            </a:r>
            <a:r>
              <a:rPr lang="de-DE" sz="2400" dirty="0" err="1"/>
              <a:t>voltage</a:t>
            </a:r>
            <a:r>
              <a:rPr lang="de-DE" sz="2400" dirty="0"/>
              <a:t> </a:t>
            </a:r>
            <a:r>
              <a:rPr lang="de-DE" sz="2400" dirty="0" err="1"/>
              <a:t>always</a:t>
            </a:r>
            <a:r>
              <a:rPr lang="de-DE" sz="2400" dirty="0"/>
              <a:t> </a:t>
            </a:r>
            <a:r>
              <a:rPr lang="de-DE" sz="2400" dirty="0" err="1"/>
              <a:t>opposes</a:t>
            </a:r>
            <a:r>
              <a:rPr lang="de-DE" sz="2400" dirty="0"/>
              <a:t> </a:t>
            </a:r>
            <a:r>
              <a:rPr lang="de-DE" sz="2400" dirty="0" err="1"/>
              <a:t>the</a:t>
            </a:r>
            <a:r>
              <a:rPr lang="de-DE" sz="2400" dirty="0"/>
              <a:t> </a:t>
            </a:r>
            <a:r>
              <a:rPr lang="de-DE" sz="2400" dirty="0" err="1"/>
              <a:t>change</a:t>
            </a:r>
            <a:r>
              <a:rPr lang="de-DE" sz="2400" dirty="0"/>
              <a:t> </a:t>
            </a:r>
            <a:r>
              <a:rPr lang="de-DE" sz="2400" dirty="0" err="1"/>
              <a:t>that</a:t>
            </a:r>
            <a:r>
              <a:rPr lang="de-DE" sz="2400" dirty="0"/>
              <a:t> </a:t>
            </a:r>
            <a:r>
              <a:rPr lang="de-DE" sz="2400" dirty="0" err="1"/>
              <a:t>caused</a:t>
            </a:r>
            <a:r>
              <a:rPr lang="de-DE" sz="2400" dirty="0"/>
              <a:t> </a:t>
            </a:r>
            <a:r>
              <a:rPr lang="de-DE" sz="2400" dirty="0" err="1"/>
              <a:t>it</a:t>
            </a:r>
            <a:r>
              <a:rPr lang="de-DE" sz="2400" dirty="0"/>
              <a:t> (</a:t>
            </a:r>
            <a:r>
              <a:rPr lang="de-DE" sz="2400" dirty="0" err="1"/>
              <a:t>Lenz‘s</a:t>
            </a:r>
            <a:r>
              <a:rPr lang="de-DE" sz="2400" dirty="0"/>
              <a:t> </a:t>
            </a:r>
            <a:r>
              <a:rPr lang="de-DE" sz="2400" dirty="0" err="1"/>
              <a:t>law</a:t>
            </a:r>
            <a:r>
              <a:rPr lang="de-DE" sz="2400" dirty="0"/>
              <a:t>)</a:t>
            </a:r>
          </a:p>
        </p:txBody>
      </p:sp>
      <p:cxnSp>
        <p:nvCxnSpPr>
          <p:cNvPr id="12" name="Gerade Verbindung mit Pfeil 11">
            <a:extLst>
              <a:ext uri="{FF2B5EF4-FFF2-40B4-BE49-F238E27FC236}">
                <a16:creationId xmlns:a16="http://schemas.microsoft.com/office/drawing/2014/main" id="{ADEB1655-2D87-C969-B4F1-A5758C8C864B}"/>
              </a:ext>
            </a:extLst>
          </p:cNvPr>
          <p:cNvCxnSpPr>
            <a:cxnSpLocks/>
            <a:stCxn id="9" idx="3"/>
          </p:cNvCxnSpPr>
          <p:nvPr/>
        </p:nvCxnSpPr>
        <p:spPr>
          <a:xfrm flipV="1">
            <a:off x="9072712" y="4971393"/>
            <a:ext cx="1613451" cy="114991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feld 13">
                <a:extLst>
                  <a:ext uri="{FF2B5EF4-FFF2-40B4-BE49-F238E27FC236}">
                    <a16:creationId xmlns:a16="http://schemas.microsoft.com/office/drawing/2014/main" id="{615F85CE-CA7C-2BFB-BEE3-AD9D1395767E}"/>
                  </a:ext>
                </a:extLst>
              </p:cNvPr>
              <p:cNvSpPr txBox="1"/>
              <p:nvPr/>
            </p:nvSpPr>
            <p:spPr>
              <a:xfrm>
                <a:off x="9474956" y="4524117"/>
                <a:ext cx="2496206" cy="1409040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square">
                <a:spAutoFit/>
              </a:bodyPr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∮"/>
                          <m:limLoc m:val="undOvr"/>
                          <m:subHide m:val="on"/>
                          <m:supHide m:val="on"/>
                          <m:ctrlPr>
                            <a:rPr lang="de-DE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acc>
                            <m:accPr>
                              <m:chr m:val="⃑"/>
                              <m:ctrlPr>
                                <a:rPr lang="de-DE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de-DE" i="1">
                                  <a:latin typeface="Cambria Math" panose="02040503050406030204" pitchFamily="18" charset="0"/>
                                </a:rPr>
                                <m:t>𝐸</m:t>
                              </m:r>
                            </m:e>
                          </m:acc>
                          <m:r>
                            <a:rPr lang="de-DE">
                              <a:latin typeface="Cambria Math" panose="02040503050406030204" pitchFamily="18" charset="0"/>
                            </a:rPr>
                            <m:t>∙</m:t>
                          </m:r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𝑑</m:t>
                          </m:r>
                          <m:acc>
                            <m:accPr>
                              <m:chr m:val="⃑"/>
                              <m:ctrlPr>
                                <a:rPr lang="de-DE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de-DE" i="1">
                                  <a:latin typeface="Cambria Math" panose="02040503050406030204" pitchFamily="18" charset="0"/>
                                </a:rPr>
                                <m:t>𝑙</m:t>
                              </m:r>
                            </m:e>
                          </m:acc>
                        </m:e>
                      </m:nary>
                      <m:r>
                        <a:rPr lang="de-DE" i="1">
                          <a:latin typeface="Cambria Math" panose="02040503050406030204" pitchFamily="18" charset="0"/>
                        </a:rPr>
                        <m:t>=−</m:t>
                      </m:r>
                      <m:f>
                        <m:fPr>
                          <m:ctrlPr>
                            <a:rPr lang="de-DE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ⅆ</m:t>
                          </m:r>
                        </m:num>
                        <m:den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ⅆ</m:t>
                          </m:r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𝑡</m:t>
                          </m:r>
                        </m:den>
                      </m:f>
                      <m:nary>
                        <m:naryPr>
                          <m:limLoc m:val="undOvr"/>
                          <m:subHide m:val="on"/>
                          <m:supHide m:val="on"/>
                          <m:ctrlPr>
                            <a:rPr lang="de-DE" i="1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acc>
                            <m:accPr>
                              <m:chr m:val="⃑"/>
                              <m:ctrlPr>
                                <a:rPr lang="de-DE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de-DE" i="1"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e>
                          </m:acc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𝑑</m:t>
                          </m:r>
                          <m:acc>
                            <m:accPr>
                              <m:chr m:val="⃑"/>
                              <m:ctrlPr>
                                <a:rPr lang="de-DE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de-DE" i="1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</m:acc>
                        </m:e>
                      </m:nary>
                    </m:oMath>
                  </m:oMathPara>
                </a14:m>
                <a:endParaRPr lang="de-DE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de-DE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∇</m:t>
                      </m:r>
                      <m:r>
                        <a:rPr lang="de-DE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acc>
                        <m:accPr>
                          <m:chr m:val="⃑"/>
                          <m:ctrlPr>
                            <a:rPr lang="de-DE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</m:acc>
                      <m:r>
                        <a:rPr lang="de-DE" i="1">
                          <a:latin typeface="Cambria Math" panose="02040503050406030204" pitchFamily="18" charset="0"/>
                        </a:rPr>
                        <m:t>=−</m:t>
                      </m:r>
                      <m:f>
                        <m:fPr>
                          <m:ctrlPr>
                            <a:rPr lang="de-DE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  <m:acc>
                            <m:accPr>
                              <m:chr m:val="⃑"/>
                              <m:ctrlPr>
                                <a:rPr lang="de-DE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de-DE" i="1"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e>
                          </m:acc>
                        </m:num>
                        <m:den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de-DE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</m:den>
                      </m:f>
                    </m:oMath>
                  </m:oMathPara>
                </a14:m>
                <a:endParaRPr lang="de-DE" dirty="0"/>
              </a:p>
            </p:txBody>
          </p:sp>
        </mc:Choice>
        <mc:Fallback xmlns="">
          <p:sp>
            <p:nvSpPr>
              <p:cNvPr id="14" name="Textfeld 13">
                <a:extLst>
                  <a:ext uri="{FF2B5EF4-FFF2-40B4-BE49-F238E27FC236}">
                    <a16:creationId xmlns:a16="http://schemas.microsoft.com/office/drawing/2014/main" id="{615F85CE-CA7C-2BFB-BEE3-AD9D1395767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74956" y="4524117"/>
                <a:ext cx="2496206" cy="1409040"/>
              </a:xfrm>
              <a:prstGeom prst="rect">
                <a:avLst/>
              </a:prstGeom>
              <a:blipFill>
                <a:blip r:embed="rId3"/>
                <a:stretch>
                  <a:fillRect l="-34171" t="-75221" r="-6030" b="-67257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6" name="Grafik 15">
            <a:extLst>
              <a:ext uri="{FF2B5EF4-FFF2-40B4-BE49-F238E27FC236}">
                <a16:creationId xmlns:a16="http://schemas.microsoft.com/office/drawing/2014/main" id="{27740B36-21E3-E941-A0FA-E4F8C030432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335573" y="2663823"/>
            <a:ext cx="2774971" cy="16164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86092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10EA4E4-35C0-9975-C211-DE050AC9C1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Inductance</a:t>
            </a:r>
            <a:endParaRPr lang="de-DE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Inhaltsplatzhalter 5">
                <a:extLst>
                  <a:ext uri="{FF2B5EF4-FFF2-40B4-BE49-F238E27FC236}">
                    <a16:creationId xmlns:a16="http://schemas.microsoft.com/office/drawing/2014/main" id="{82B4669B-F6C7-7A13-2264-91CA7A1F6CE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2280745"/>
                <a:ext cx="10515600" cy="3896218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de-DE" dirty="0" err="1"/>
                  <a:t>measure</a:t>
                </a:r>
                <a:r>
                  <a:rPr lang="de-DE" dirty="0"/>
                  <a:t> </a:t>
                </a:r>
                <a:r>
                  <a:rPr lang="de-DE" dirty="0" err="1"/>
                  <a:t>of</a:t>
                </a:r>
                <a:r>
                  <a:rPr lang="de-DE" dirty="0"/>
                  <a:t> a </a:t>
                </a:r>
                <a:r>
                  <a:rPr lang="de-DE" dirty="0" err="1"/>
                  <a:t>system’s</a:t>
                </a:r>
                <a:r>
                  <a:rPr lang="de-DE" dirty="0"/>
                  <a:t> </a:t>
                </a:r>
                <a:r>
                  <a:rPr lang="de-DE" dirty="0" err="1"/>
                  <a:t>ability</a:t>
                </a:r>
                <a:r>
                  <a:rPr lang="de-DE" dirty="0"/>
                  <a:t> </a:t>
                </a:r>
                <a:r>
                  <a:rPr lang="de-DE" dirty="0" err="1"/>
                  <a:t>to</a:t>
                </a:r>
                <a:r>
                  <a:rPr lang="de-DE" dirty="0"/>
                  <a:t> </a:t>
                </a:r>
                <a:r>
                  <a:rPr lang="de-DE" dirty="0" err="1"/>
                  <a:t>store</a:t>
                </a:r>
                <a:r>
                  <a:rPr lang="de-DE" dirty="0"/>
                  <a:t> </a:t>
                </a:r>
                <a:r>
                  <a:rPr lang="de-DE" dirty="0" err="1"/>
                  <a:t>magnetic</a:t>
                </a:r>
                <a:r>
                  <a:rPr lang="de-DE" dirty="0"/>
                  <a:t> </a:t>
                </a:r>
                <a:r>
                  <a:rPr lang="de-DE" dirty="0" err="1"/>
                  <a:t>energy</a:t>
                </a:r>
                <a:r>
                  <a:rPr lang="de-DE" dirty="0"/>
                  <a:t> (in </a:t>
                </a:r>
                <a:r>
                  <a:rPr lang="de-DE" dirty="0" err="1"/>
                  <a:t>its</a:t>
                </a:r>
                <a:r>
                  <a:rPr lang="de-DE" dirty="0"/>
                  <a:t> </a:t>
                </a:r>
                <a:r>
                  <a:rPr lang="de-DE" dirty="0" err="1"/>
                  <a:t>magnetic</a:t>
                </a:r>
                <a:r>
                  <a:rPr lang="de-DE" dirty="0"/>
                  <a:t> </a:t>
                </a:r>
                <a:r>
                  <a:rPr lang="de-DE" dirty="0" err="1"/>
                  <a:t>field</a:t>
                </a:r>
                <a:r>
                  <a:rPr lang="de-DE" dirty="0"/>
                  <a:t>), </a:t>
                </a:r>
                <a:r>
                  <a:rPr lang="de-DE" dirty="0" err="1"/>
                  <a:t>for</a:t>
                </a:r>
                <a:r>
                  <a:rPr lang="de-DE" dirty="0"/>
                  <a:t> a </a:t>
                </a:r>
                <a:r>
                  <a:rPr lang="de-DE" dirty="0" err="1"/>
                  <a:t>given</a:t>
                </a:r>
                <a:r>
                  <a:rPr lang="de-DE" dirty="0"/>
                  <a:t> </a:t>
                </a:r>
                <a:r>
                  <a:rPr lang="de-DE" dirty="0" err="1"/>
                  <a:t>electric</a:t>
                </a:r>
                <a:r>
                  <a:rPr lang="de-DE" dirty="0"/>
                  <a:t> </a:t>
                </a:r>
                <a:r>
                  <a:rPr lang="de-DE" dirty="0" err="1"/>
                  <a:t>current</a:t>
                </a:r>
                <a:endParaRPr lang="de-DE" dirty="0"/>
              </a:p>
              <a:p>
                <a:pPr marL="0" indent="0">
                  <a:buNone/>
                </a:pPr>
                <a:endParaRPr lang="de-DE" dirty="0"/>
              </a:p>
              <a:p>
                <a:pPr marL="0" indent="0">
                  <a:buNone/>
                </a:pPr>
                <a:endParaRPr lang="de-DE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b="0" i="1" smtClean="0">
                          <a:latin typeface="Cambria Math" panose="02040503050406030204" pitchFamily="18" charset="0"/>
                        </a:rPr>
                        <m:t>𝐿</m:t>
                      </m:r>
                      <m:r>
                        <a:rPr lang="de-DE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de-DE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de-DE">
                              <a:latin typeface="Cambria Math" panose="02040503050406030204" pitchFamily="18" charset="0"/>
                            </a:rPr>
                            <m:t>Φ</m:t>
                          </m:r>
                        </m:num>
                        <m:den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𝐼</m:t>
                          </m:r>
                        </m:den>
                      </m:f>
                    </m:oMath>
                  </m:oMathPara>
                </a14:m>
                <a:endParaRPr lang="de-DE" dirty="0"/>
              </a:p>
              <a:p>
                <a:pPr marL="0" indent="0">
                  <a:buNone/>
                </a:pPr>
                <a:endParaRPr lang="de-DE" dirty="0"/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de-D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</m:d>
                    <m:r>
                      <a:rPr lang="de-DE" i="1">
                        <a:latin typeface="Cambria Math" panose="02040503050406030204" pitchFamily="18" charset="0"/>
                      </a:rPr>
                      <m:t>=1</m:t>
                    </m:r>
                    <m:f>
                      <m:fPr>
                        <m:ctrlPr>
                          <a:rPr lang="de-DE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de-DE">
                            <a:latin typeface="Cambria Math" panose="02040503050406030204" pitchFamily="18" charset="0"/>
                          </a:rPr>
                          <m:t>Vs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de-DE" b="0" i="0" smtClean="0">
                            <a:latin typeface="Cambria Math" panose="02040503050406030204" pitchFamily="18" charset="0"/>
                          </a:rPr>
                          <m:t>A</m:t>
                        </m:r>
                      </m:den>
                    </m:f>
                    <m:r>
                      <a:rPr lang="de-DE" i="1">
                        <a:latin typeface="Cambria Math" panose="02040503050406030204" pitchFamily="18" charset="0"/>
                      </a:rPr>
                      <m:t>=1</m:t>
                    </m:r>
                    <m:r>
                      <m:rPr>
                        <m:sty m:val="p"/>
                      </m:rPr>
                      <a:rPr lang="de-DE" b="0" i="0" smtClean="0">
                        <a:latin typeface="Cambria Math" panose="02040503050406030204" pitchFamily="18" charset="0"/>
                      </a:rPr>
                      <m:t>H</m:t>
                    </m:r>
                  </m:oMath>
                </a14:m>
                <a:r>
                  <a:rPr lang="de-DE" dirty="0"/>
                  <a:t>	(</a:t>
                </a:r>
                <a:r>
                  <a:rPr lang="de-DE" dirty="0" err="1"/>
                  <a:t>henry</a:t>
                </a:r>
                <a:r>
                  <a:rPr lang="de-DE" dirty="0"/>
                  <a:t>)</a:t>
                </a:r>
              </a:p>
              <a:p>
                <a:pPr marL="0" indent="0">
                  <a:buNone/>
                </a:pPr>
                <a:endParaRPr lang="de-DE" dirty="0"/>
              </a:p>
            </p:txBody>
          </p:sp>
        </mc:Choice>
        <mc:Fallback xmlns="">
          <p:sp>
            <p:nvSpPr>
              <p:cNvPr id="6" name="Inhaltsplatzhalter 5">
                <a:extLst>
                  <a:ext uri="{FF2B5EF4-FFF2-40B4-BE49-F238E27FC236}">
                    <a16:creationId xmlns:a16="http://schemas.microsoft.com/office/drawing/2014/main" id="{82B4669B-F6C7-7A13-2264-91CA7A1F6CE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2280745"/>
                <a:ext cx="10515600" cy="3896218"/>
              </a:xfrm>
              <a:blipFill>
                <a:blip r:embed="rId2"/>
                <a:stretch>
                  <a:fillRect l="-1206" t="-2597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36D066DE-A9B5-4344-F988-36383960F1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03FC7C-1F2C-4946-B702-1A52A755583B}" type="slidenum">
              <a:rPr lang="de-DE" smtClean="0"/>
              <a:t>29</a:t>
            </a:fld>
            <a:endParaRPr lang="de-DE"/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51AA6429-08F9-A5D6-21E7-74D3C898249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866134" y="365125"/>
            <a:ext cx="2487666" cy="829222"/>
          </a:xfrm>
          <a:prstGeom prst="rect">
            <a:avLst/>
          </a:prstGeom>
        </p:spPr>
      </p:pic>
      <p:pic>
        <p:nvPicPr>
          <p:cNvPr id="4098" name="Picture 2" descr="Electronic Schematic Inductor Symbol Icons - Free SVG &amp; PNG Electronic  Schematic Inductor Symbol Images - Noun Project">
            <a:extLst>
              <a:ext uri="{FF2B5EF4-FFF2-40B4-BE49-F238E27FC236}">
                <a16:creationId xmlns:a16="http://schemas.microsoft.com/office/drawing/2014/main" id="{D8152E2A-F95C-EF82-04F9-7437E044CB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6200000">
            <a:off x="9376847" y="521781"/>
            <a:ext cx="1976953" cy="19769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feld 8">
            <a:extLst>
              <a:ext uri="{FF2B5EF4-FFF2-40B4-BE49-F238E27FC236}">
                <a16:creationId xmlns:a16="http://schemas.microsoft.com/office/drawing/2014/main" id="{E33CF601-91BF-0C0C-C660-9992CB561900}"/>
              </a:ext>
            </a:extLst>
          </p:cNvPr>
          <p:cNvSpPr txBox="1"/>
          <p:nvPr/>
        </p:nvSpPr>
        <p:spPr>
          <a:xfrm>
            <a:off x="8810666" y="1321356"/>
            <a:ext cx="5661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 err="1"/>
              <a:t>old</a:t>
            </a:r>
            <a:r>
              <a:rPr lang="de-DE" dirty="0"/>
              <a:t>:</a:t>
            </a:r>
          </a:p>
        </p:txBody>
      </p:sp>
    </p:spTree>
    <p:extLst>
      <p:ext uri="{BB962C8B-B14F-4D97-AF65-F5344CB8AC3E}">
        <p14:creationId xmlns:p14="http://schemas.microsoft.com/office/powerpoint/2010/main" val="364343139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3A2D9C-0BB3-306D-BE3E-1565C64ED6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90754BD-3E04-A264-9034-42D9A3B530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Time </a:t>
            </a:r>
            <a:r>
              <a:rPr lang="de-DE" dirty="0" err="1"/>
              <a:t>Dependence</a:t>
            </a:r>
            <a:endParaRPr lang="de-DE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Inhaltsplatzhalter 2">
                <a:extLst>
                  <a:ext uri="{FF2B5EF4-FFF2-40B4-BE49-F238E27FC236}">
                    <a16:creationId xmlns:a16="http://schemas.microsoft.com/office/drawing/2014/main" id="{D2A20859-3731-60C5-3AC6-84D04A47410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5257800" cy="4351338"/>
              </a:xfrm>
            </p:spPr>
            <p:txBody>
              <a:bodyPr/>
              <a:lstStyle/>
              <a:p>
                <a:pPr marL="0" indent="0">
                  <a:buNone/>
                </a:pPr>
                <a:endParaRPr lang="de-DE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de-DE" b="0" i="1" smtClean="0">
                          <a:latin typeface="Cambria Math" panose="02040503050406030204" pitchFamily="18" charset="0"/>
                        </a:rPr>
                        <m:t>𝐼</m:t>
                      </m:r>
                      <m:r>
                        <a:rPr lang="de-DE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de-DE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de-DE">
                              <a:latin typeface="Cambria Math" panose="02040503050406030204" pitchFamily="18" charset="0"/>
                            </a:rPr>
                            <m:t>Φ</m:t>
                          </m:r>
                        </m:num>
                        <m:den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den>
                      </m:f>
                    </m:oMath>
                  </m:oMathPara>
                </a14:m>
                <a:endParaRPr lang="de-DE" dirty="0"/>
              </a:p>
              <a:p>
                <a:pPr marL="0" indent="0">
                  <a:buNone/>
                </a:pPr>
                <a:endParaRPr lang="de-DE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>
                        <m:fPr>
                          <m:ctrlPr>
                            <a:rPr lang="de-DE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m:rPr>
                              <m:sty m:val="p"/>
                            </m:rPr>
                            <a:rPr lang="de-DE">
                              <a:latin typeface="Cambria Math" panose="02040503050406030204" pitchFamily="18" charset="0"/>
                            </a:rPr>
                            <m:t>Φ</m:t>
                          </m:r>
                        </m:num>
                        <m:den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  <m:r>
                        <a:rPr lang="de-DE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de-DE" b="0" i="1" smtClean="0">
                          <a:latin typeface="Cambria Math" panose="02040503050406030204" pitchFamily="18" charset="0"/>
                        </a:rPr>
                        <m:t>𝐿</m:t>
                      </m:r>
                      <m:r>
                        <a:rPr lang="de-DE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f>
                        <m:fPr>
                          <m:ctrlPr>
                            <a:rPr lang="de-DE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num>
                        <m:den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</m:oMath>
                  </m:oMathPara>
                </a14:m>
                <a:endParaRPr lang="de-DE" dirty="0"/>
              </a:p>
              <a:p>
                <a:pPr marL="0" indent="0">
                  <a:buNone/>
                </a:pPr>
                <a:endParaRPr lang="de-DE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de-DE" b="0" i="1" smtClean="0">
                          <a:latin typeface="Cambria Math" panose="02040503050406030204" pitchFamily="18" charset="0"/>
                        </a:rPr>
                        <m:t>𝑣</m:t>
                      </m:r>
                      <m:r>
                        <a:rPr lang="de-DE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de-DE" b="0" i="1" smtClean="0">
                          <a:latin typeface="Cambria Math" panose="02040503050406030204" pitchFamily="18" charset="0"/>
                        </a:rPr>
                        <m:t>𝐿</m:t>
                      </m:r>
                      <m:f>
                        <m:fPr>
                          <m:ctrlPr>
                            <a:rPr lang="de-DE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num>
                        <m:den>
                          <m:r>
                            <a:rPr lang="de-DE" i="1" smtClean="0"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</m:oMath>
                  </m:oMathPara>
                </a14:m>
                <a:endParaRPr lang="de-DE" dirty="0"/>
              </a:p>
              <a:p>
                <a:pPr marL="0" indent="0">
                  <a:buNone/>
                </a:pPr>
                <a:endParaRPr lang="de-DE" dirty="0"/>
              </a:p>
            </p:txBody>
          </p:sp>
        </mc:Choice>
        <mc:Fallback xmlns="">
          <p:sp>
            <p:nvSpPr>
              <p:cNvPr id="3" name="Inhaltsplatzhalter 2">
                <a:extLst>
                  <a:ext uri="{FF2B5EF4-FFF2-40B4-BE49-F238E27FC236}">
                    <a16:creationId xmlns:a16="http://schemas.microsoft.com/office/drawing/2014/main" id="{D2A20859-3731-60C5-3AC6-84D04A47410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5257800" cy="4351338"/>
              </a:xfrm>
              <a:blipFill>
                <a:blip r:embed="rId2"/>
                <a:stretch>
                  <a:fillRect l="-723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3EBE47D0-19D9-17B3-A67F-A52FF45348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03FC7C-1F2C-4946-B702-1A52A755583B}" type="slidenum">
              <a:rPr lang="de-DE" smtClean="0"/>
              <a:t>30</a:t>
            </a:fld>
            <a:endParaRPr lang="de-DE"/>
          </a:p>
        </p:txBody>
      </p:sp>
      <p:sp>
        <p:nvSpPr>
          <p:cNvPr id="6" name="Textfeld 5">
            <a:extLst>
              <a:ext uri="{FF2B5EF4-FFF2-40B4-BE49-F238E27FC236}">
                <a16:creationId xmlns:a16="http://schemas.microsoft.com/office/drawing/2014/main" id="{0F5EBC10-A09C-B9D4-3168-FF08FB6CBF65}"/>
              </a:ext>
            </a:extLst>
          </p:cNvPr>
          <p:cNvSpPr txBox="1"/>
          <p:nvPr/>
        </p:nvSpPr>
        <p:spPr>
          <a:xfrm>
            <a:off x="6096000" y="2877909"/>
            <a:ext cx="5257800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2800" dirty="0" err="1"/>
              <a:t>current</a:t>
            </a:r>
            <a:r>
              <a:rPr lang="de-DE" sz="2800" dirty="0"/>
              <a:t> </a:t>
            </a:r>
            <a:r>
              <a:rPr lang="de-DE" sz="2800" dirty="0" err="1"/>
              <a:t>through</a:t>
            </a:r>
            <a:r>
              <a:rPr lang="de-DE" sz="2800" dirty="0"/>
              <a:t> </a:t>
            </a:r>
            <a:r>
              <a:rPr lang="de-DE" sz="2800" dirty="0" err="1"/>
              <a:t>inductance</a:t>
            </a:r>
            <a:r>
              <a:rPr lang="de-DE" sz="2800" dirty="0"/>
              <a:t> </a:t>
            </a:r>
            <a:r>
              <a:rPr lang="de-DE" sz="2800" dirty="0" err="1"/>
              <a:t>is</a:t>
            </a:r>
            <a:r>
              <a:rPr lang="de-DE" sz="2800" dirty="0"/>
              <a:t> </a:t>
            </a:r>
            <a:r>
              <a:rPr lang="de-DE" sz="2800" dirty="0" err="1"/>
              <a:t>continuous</a:t>
            </a:r>
            <a:endParaRPr lang="de-DE" sz="2800" dirty="0"/>
          </a:p>
          <a:p>
            <a:endParaRPr lang="de-DE" sz="2800" dirty="0"/>
          </a:p>
          <a:p>
            <a:r>
              <a:rPr lang="de-DE" sz="2800" dirty="0" err="1"/>
              <a:t>voltage</a:t>
            </a:r>
            <a:r>
              <a:rPr lang="de-DE" sz="2800" dirty="0"/>
              <a:t> </a:t>
            </a:r>
            <a:r>
              <a:rPr lang="de-DE" sz="2800" dirty="0" err="1"/>
              <a:t>across</a:t>
            </a:r>
            <a:r>
              <a:rPr lang="de-DE" sz="2800" dirty="0"/>
              <a:t> </a:t>
            </a:r>
            <a:r>
              <a:rPr lang="de-DE" sz="2800" dirty="0" err="1"/>
              <a:t>inductance</a:t>
            </a:r>
            <a:r>
              <a:rPr lang="de-DE" sz="2800" dirty="0"/>
              <a:t> </a:t>
            </a:r>
            <a:r>
              <a:rPr lang="de-DE" sz="2800" dirty="0" err="1"/>
              <a:t>can</a:t>
            </a:r>
            <a:r>
              <a:rPr lang="de-DE" sz="2800" dirty="0"/>
              <a:t> </a:t>
            </a:r>
            <a:r>
              <a:rPr lang="de-DE" sz="2800" dirty="0" err="1"/>
              <a:t>be</a:t>
            </a:r>
            <a:r>
              <a:rPr lang="de-DE" sz="2800" dirty="0"/>
              <a:t> </a:t>
            </a:r>
            <a:r>
              <a:rPr lang="de-DE" sz="2800" dirty="0" err="1"/>
              <a:t>discontinuous</a:t>
            </a:r>
            <a:endParaRPr lang="de-DE" sz="2800" dirty="0"/>
          </a:p>
        </p:txBody>
      </p:sp>
      <p:sp>
        <p:nvSpPr>
          <p:cNvPr id="7" name="Textfeld 6">
            <a:extLst>
              <a:ext uri="{FF2B5EF4-FFF2-40B4-BE49-F238E27FC236}">
                <a16:creationId xmlns:a16="http://schemas.microsoft.com/office/drawing/2014/main" id="{64D7B728-53C2-F838-D54E-D50B0F1CD4D2}"/>
              </a:ext>
            </a:extLst>
          </p:cNvPr>
          <p:cNvSpPr txBox="1"/>
          <p:nvPr/>
        </p:nvSpPr>
        <p:spPr>
          <a:xfrm>
            <a:off x="2102070" y="6145826"/>
            <a:ext cx="4164923" cy="46166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de-DE" sz="2400" dirty="0" err="1"/>
              <a:t>inductor</a:t>
            </a:r>
            <a:r>
              <a:rPr lang="de-DE" sz="2400" dirty="0"/>
              <a:t> </a:t>
            </a:r>
            <a:r>
              <a:rPr lang="de-DE" sz="2400" dirty="0" err="1"/>
              <a:t>is</a:t>
            </a:r>
            <a:r>
              <a:rPr lang="de-DE" sz="2400" dirty="0"/>
              <a:t> </a:t>
            </a:r>
            <a:r>
              <a:rPr lang="de-DE" sz="2400" dirty="0" err="1"/>
              <a:t>short</a:t>
            </a:r>
            <a:r>
              <a:rPr lang="de-DE" sz="2400" dirty="0"/>
              <a:t> </a:t>
            </a:r>
            <a:r>
              <a:rPr lang="de-DE" sz="2400" dirty="0" err="1"/>
              <a:t>circuit</a:t>
            </a:r>
            <a:r>
              <a:rPr lang="de-DE" sz="2400" dirty="0"/>
              <a:t> </a:t>
            </a:r>
            <a:r>
              <a:rPr lang="de-DE" sz="2400" dirty="0" err="1"/>
              <a:t>for</a:t>
            </a:r>
            <a:r>
              <a:rPr lang="de-DE" sz="2400" dirty="0"/>
              <a:t> DC</a:t>
            </a:r>
          </a:p>
        </p:txBody>
      </p:sp>
      <p:cxnSp>
        <p:nvCxnSpPr>
          <p:cNvPr id="9" name="Gerade Verbindung mit Pfeil 8">
            <a:extLst>
              <a:ext uri="{FF2B5EF4-FFF2-40B4-BE49-F238E27FC236}">
                <a16:creationId xmlns:a16="http://schemas.microsoft.com/office/drawing/2014/main" id="{37393E42-57DC-C1F9-CDE9-20FB8BA5B711}"/>
              </a:ext>
            </a:extLst>
          </p:cNvPr>
          <p:cNvCxnSpPr>
            <a:cxnSpLocks/>
            <a:stCxn id="7" idx="0"/>
          </p:cNvCxnSpPr>
          <p:nvPr/>
        </p:nvCxnSpPr>
        <p:spPr>
          <a:xfrm flipH="1" flipV="1">
            <a:off x="2343807" y="5139558"/>
            <a:ext cx="1840725" cy="100626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1714591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8C0340E-DB26-ED5B-7213-EC5ED94942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Inductor</a:t>
            </a:r>
            <a:r>
              <a:rPr lang="de-DE" dirty="0"/>
              <a:t> (aka Coil)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Inhaltsplatzhalter 7">
                <a:extLst>
                  <a:ext uri="{FF2B5EF4-FFF2-40B4-BE49-F238E27FC236}">
                    <a16:creationId xmlns:a16="http://schemas.microsoft.com/office/drawing/2014/main" id="{D0EFE1E0-9354-34AF-66BA-9AEE4DB12BD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4340771"/>
                <a:ext cx="10515600" cy="1836191"/>
              </a:xfrm>
            </p:spPr>
            <p:txBody>
              <a:bodyPr>
                <a:normAutofit/>
              </a:bodyPr>
              <a:lstStyle/>
              <a:p>
                <a:r>
                  <a:rPr lang="de-DE" sz="2600" dirty="0" err="1"/>
                  <a:t>magnetic</a:t>
                </a:r>
                <a:r>
                  <a:rPr lang="de-DE" sz="2600" dirty="0"/>
                  <a:t> </a:t>
                </a:r>
                <a:r>
                  <a:rPr lang="de-DE" sz="2600" dirty="0" err="1"/>
                  <a:t>effect</a:t>
                </a:r>
                <a:r>
                  <a:rPr lang="de-DE" sz="2600" dirty="0"/>
                  <a:t> </a:t>
                </a:r>
                <a:r>
                  <a:rPr lang="de-DE" sz="2600" dirty="0" err="1"/>
                  <a:t>of</a:t>
                </a:r>
                <a:r>
                  <a:rPr lang="de-DE" sz="2600" dirty="0"/>
                  <a:t> a </a:t>
                </a:r>
                <a:r>
                  <a:rPr lang="de-DE" sz="2600" dirty="0" err="1"/>
                  <a:t>coil</a:t>
                </a:r>
                <a:r>
                  <a:rPr lang="de-DE" sz="2600" dirty="0"/>
                  <a:t> </a:t>
                </a:r>
                <a:r>
                  <a:rPr lang="de-DE" sz="2600" dirty="0" err="1"/>
                  <a:t>depends</a:t>
                </a:r>
                <a:r>
                  <a:rPr lang="de-DE" sz="2600" dirty="0"/>
                  <a:t> on </a:t>
                </a:r>
                <a:r>
                  <a:rPr lang="de-DE" sz="2600" dirty="0" err="1"/>
                  <a:t>product</a:t>
                </a:r>
                <a:r>
                  <a:rPr lang="de-DE" sz="2600" dirty="0"/>
                  <a:t> </a:t>
                </a:r>
                <a:r>
                  <a:rPr lang="de-DE" sz="2600" dirty="0" err="1"/>
                  <a:t>of</a:t>
                </a:r>
                <a:r>
                  <a:rPr lang="de-DE" sz="2600" dirty="0"/>
                  <a:t> </a:t>
                </a:r>
                <a:r>
                  <a:rPr lang="de-DE" sz="2600" dirty="0" err="1"/>
                  <a:t>current</a:t>
                </a:r>
                <a:r>
                  <a:rPr lang="de-DE" sz="2600" dirty="0"/>
                  <a:t> and </a:t>
                </a:r>
                <a:r>
                  <a:rPr lang="de-DE" sz="2600" dirty="0" err="1"/>
                  <a:t>number</a:t>
                </a:r>
                <a:r>
                  <a:rPr lang="de-DE" sz="2600" dirty="0"/>
                  <a:t> </a:t>
                </a:r>
                <a:r>
                  <a:rPr lang="de-DE" sz="2600" dirty="0" err="1"/>
                  <a:t>of</a:t>
                </a:r>
                <a:r>
                  <a:rPr lang="de-DE" sz="2600" dirty="0"/>
                  <a:t> </a:t>
                </a:r>
                <a:r>
                  <a:rPr lang="de-DE" sz="2600" dirty="0" err="1"/>
                  <a:t>turns</a:t>
                </a:r>
                <a:r>
                  <a:rPr lang="de-DE" sz="2600" dirty="0"/>
                  <a:t>, </a:t>
                </a:r>
                <a:r>
                  <a:rPr lang="de-DE" sz="2600" dirty="0" err="1"/>
                  <a:t>expressed</a:t>
                </a:r>
                <a:r>
                  <a:rPr lang="de-DE" sz="2600" dirty="0"/>
                  <a:t> </a:t>
                </a:r>
                <a:r>
                  <a:rPr lang="de-DE" sz="2600" dirty="0" err="1"/>
                  <a:t>as</a:t>
                </a:r>
                <a:r>
                  <a:rPr lang="de-DE" sz="2600" dirty="0"/>
                  <a:t> ampere-turns: </a:t>
                </a:r>
                <a14:m>
                  <m:oMath xmlns:m="http://schemas.openxmlformats.org/officeDocument/2006/math">
                    <m:r>
                      <a:rPr lang="de-DE" sz="2600" i="1">
                        <a:latin typeface="Cambria Math" panose="02040503050406030204" pitchFamily="18" charset="0"/>
                      </a:rPr>
                      <m:t>𝑁</m:t>
                    </m:r>
                    <m:r>
                      <a:rPr lang="de-DE" sz="2600" b="0" i="1" smtClean="0">
                        <a:latin typeface="Cambria Math" panose="02040503050406030204" pitchFamily="18" charset="0"/>
                      </a:rPr>
                      <m:t>𝐼</m:t>
                    </m:r>
                  </m:oMath>
                </a14:m>
                <a:endParaRPr lang="de-DE" sz="2600" dirty="0"/>
              </a:p>
              <a:p>
                <a:r>
                  <a:rPr lang="de-DE" sz="2600" dirty="0" err="1"/>
                  <a:t>inductance</a:t>
                </a:r>
                <a:r>
                  <a:rPr lang="de-DE" sz="2600" dirty="0"/>
                  <a:t> </a:t>
                </a:r>
                <a:r>
                  <a:rPr lang="de-DE" sz="2600" dirty="0" err="1"/>
                  <a:t>measures</a:t>
                </a:r>
                <a:r>
                  <a:rPr lang="de-DE" sz="2600" dirty="0"/>
                  <a:t> </a:t>
                </a:r>
                <a:r>
                  <a:rPr lang="de-DE" sz="2600" dirty="0" err="1"/>
                  <a:t>how</a:t>
                </a:r>
                <a:r>
                  <a:rPr lang="de-DE" sz="2600" dirty="0"/>
                  <a:t> </a:t>
                </a:r>
                <a:r>
                  <a:rPr lang="de-DE" sz="2600" dirty="0" err="1"/>
                  <a:t>effectively</a:t>
                </a:r>
                <a:r>
                  <a:rPr lang="de-DE" sz="2600" dirty="0"/>
                  <a:t> a </a:t>
                </a:r>
                <a:r>
                  <a:rPr lang="de-DE" sz="2600" dirty="0" err="1"/>
                  <a:t>coil</a:t>
                </a:r>
                <a:r>
                  <a:rPr lang="de-DE" sz="2600" dirty="0"/>
                  <a:t> links </a:t>
                </a:r>
                <a:r>
                  <a:rPr lang="de-DE" sz="2600" dirty="0" err="1"/>
                  <a:t>the</a:t>
                </a:r>
                <a:r>
                  <a:rPr lang="de-DE" sz="2600" dirty="0"/>
                  <a:t> </a:t>
                </a:r>
                <a:r>
                  <a:rPr lang="de-DE" sz="2600" dirty="0" err="1"/>
                  <a:t>current</a:t>
                </a:r>
                <a:r>
                  <a:rPr lang="de-DE" sz="2600" dirty="0"/>
                  <a:t> </a:t>
                </a:r>
                <a:r>
                  <a:rPr lang="de-DE" sz="2600" dirty="0" err="1"/>
                  <a:t>with</a:t>
                </a:r>
                <a:r>
                  <a:rPr lang="de-DE" sz="2600" dirty="0"/>
                  <a:t> </a:t>
                </a:r>
                <a:r>
                  <a:rPr lang="de-DE" sz="2600" dirty="0" err="1"/>
                  <a:t>the</a:t>
                </a:r>
                <a:r>
                  <a:rPr lang="de-DE" sz="2600" dirty="0"/>
                  <a:t> </a:t>
                </a:r>
                <a:r>
                  <a:rPr lang="de-DE" sz="2600" dirty="0" err="1"/>
                  <a:t>magnetic</a:t>
                </a:r>
                <a:r>
                  <a:rPr lang="de-DE" sz="2600" dirty="0"/>
                  <a:t> </a:t>
                </a:r>
                <a:r>
                  <a:rPr lang="de-DE" sz="2600" dirty="0" err="1"/>
                  <a:t>flux</a:t>
                </a:r>
                <a:r>
                  <a:rPr lang="de-DE" sz="2600" dirty="0"/>
                  <a:t> </a:t>
                </a:r>
                <a:r>
                  <a:rPr lang="de-DE" sz="2600" dirty="0" err="1"/>
                  <a:t>through</a:t>
                </a:r>
                <a:r>
                  <a:rPr lang="de-DE" sz="2600" dirty="0"/>
                  <a:t> </a:t>
                </a:r>
                <a:r>
                  <a:rPr lang="de-DE" sz="2600" dirty="0" err="1"/>
                  <a:t>its</a:t>
                </a:r>
                <a:r>
                  <a:rPr lang="de-DE" sz="2600" dirty="0"/>
                  <a:t> </a:t>
                </a:r>
                <a:r>
                  <a:rPr lang="de-DE" sz="2600" dirty="0" err="1"/>
                  <a:t>core</a:t>
                </a:r>
                <a:r>
                  <a:rPr lang="de-DE" sz="2600" dirty="0"/>
                  <a:t> (</a:t>
                </a:r>
                <a:r>
                  <a:rPr lang="de-DE" sz="2600" dirty="0" err="1"/>
                  <a:t>flux</a:t>
                </a:r>
                <a:r>
                  <a:rPr lang="de-DE" sz="2600" dirty="0"/>
                  <a:t> </a:t>
                </a:r>
                <a:r>
                  <a:rPr lang="de-DE" sz="2600" dirty="0" err="1"/>
                  <a:t>linkage</a:t>
                </a:r>
                <a:r>
                  <a:rPr lang="de-DE" sz="2600" dirty="0"/>
                  <a:t> in weber-turns): </a:t>
                </a:r>
                <a14:m>
                  <m:oMath xmlns:m="http://schemas.openxmlformats.org/officeDocument/2006/math">
                    <m:r>
                      <a:rPr lang="de-DE" sz="2600" b="0" i="1" smtClean="0">
                        <a:latin typeface="Cambria Math" panose="02040503050406030204" pitchFamily="18" charset="0"/>
                      </a:rPr>
                      <m:t>𝐿</m:t>
                    </m:r>
                    <m:r>
                      <a:rPr lang="de-DE" sz="26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de-DE" sz="26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de-DE" sz="2600" i="1">
                            <a:latin typeface="Cambria Math" panose="02040503050406030204" pitchFamily="18" charset="0"/>
                          </a:rPr>
                          <m:t>𝑁</m:t>
                        </m:r>
                        <m:r>
                          <m:rPr>
                            <m:sty m:val="p"/>
                          </m:rPr>
                          <a:rPr lang="el-GR" sz="2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Φ</m:t>
                        </m:r>
                      </m:num>
                      <m:den>
                        <m:r>
                          <a:rPr lang="de-DE" sz="2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𝐼</m:t>
                        </m:r>
                      </m:den>
                    </m:f>
                  </m:oMath>
                </a14:m>
                <a:endParaRPr lang="de-DE" sz="2600" dirty="0"/>
              </a:p>
            </p:txBody>
          </p:sp>
        </mc:Choice>
        <mc:Fallback xmlns="">
          <p:sp>
            <p:nvSpPr>
              <p:cNvPr id="8" name="Inhaltsplatzhalter 7">
                <a:extLst>
                  <a:ext uri="{FF2B5EF4-FFF2-40B4-BE49-F238E27FC236}">
                    <a16:creationId xmlns:a16="http://schemas.microsoft.com/office/drawing/2014/main" id="{D0EFE1E0-9354-34AF-66BA-9AEE4DB12BD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4340771"/>
                <a:ext cx="10515600" cy="1836191"/>
              </a:xfrm>
              <a:blipFill>
                <a:blip r:embed="rId2"/>
                <a:stretch>
                  <a:fillRect l="-965" t="-4795" b="-3425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288F6299-8A52-59D1-8A79-298DB58E57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03FC7C-1F2C-4946-B702-1A52A755583B}" type="slidenum">
              <a:rPr lang="de-DE" smtClean="0"/>
              <a:t>31</a:t>
            </a:fld>
            <a:endParaRPr lang="de-DE"/>
          </a:p>
        </p:txBody>
      </p:sp>
      <p:pic>
        <p:nvPicPr>
          <p:cNvPr id="5" name="Grafik 4" descr="Ein Bild, das Elektrisches Bauelement, Elektrische Leitungen, passives Bauelement, Elektronisches Bauteil enthält.&#10;&#10;KI-generierte Inhalte können fehlerhaft sein.">
            <a:extLst>
              <a:ext uri="{FF2B5EF4-FFF2-40B4-BE49-F238E27FC236}">
                <a16:creationId xmlns:a16="http://schemas.microsoft.com/office/drawing/2014/main" id="{BD07F218-EC8E-EDAE-A7CC-FA130857D93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22615" y="1690688"/>
            <a:ext cx="2560502" cy="2271625"/>
          </a:xfrm>
          <a:prstGeom prst="rect">
            <a:avLst/>
          </a:prstGeom>
        </p:spPr>
      </p:pic>
      <p:pic>
        <p:nvPicPr>
          <p:cNvPr id="7" name="Grafik 6">
            <a:extLst>
              <a:ext uri="{FF2B5EF4-FFF2-40B4-BE49-F238E27FC236}">
                <a16:creationId xmlns:a16="http://schemas.microsoft.com/office/drawing/2014/main" id="{DB109D28-562A-FBCB-F568-8EF77C4280B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528035" y="1084572"/>
            <a:ext cx="3041350" cy="30308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031387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Abgerundetes Rechteck 11">
            <a:extLst>
              <a:ext uri="{FF2B5EF4-FFF2-40B4-BE49-F238E27FC236}">
                <a16:creationId xmlns:a16="http://schemas.microsoft.com/office/drawing/2014/main" id="{0A048C65-D176-C8F6-A87D-6288D96196CE}"/>
              </a:ext>
            </a:extLst>
          </p:cNvPr>
          <p:cNvSpPr/>
          <p:nvPr/>
        </p:nvSpPr>
        <p:spPr>
          <a:xfrm>
            <a:off x="5265683" y="3815255"/>
            <a:ext cx="1776248" cy="1298196"/>
          </a:xfrm>
          <a:prstGeom prst="round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540212F4-4577-60F7-C8FB-293F0BDC41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Magnetic</a:t>
            </a:r>
            <a:r>
              <a:rPr lang="de-DE" dirty="0"/>
              <a:t> </a:t>
            </a:r>
            <a:r>
              <a:rPr lang="de-DE" dirty="0" err="1"/>
              <a:t>Analogue</a:t>
            </a:r>
            <a:r>
              <a:rPr lang="de-DE" dirty="0"/>
              <a:t>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Ohm’s</a:t>
            </a:r>
            <a:r>
              <a:rPr lang="de-DE" dirty="0"/>
              <a:t> Law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Inhaltsplatzhalter 2">
                <a:extLst>
                  <a:ext uri="{FF2B5EF4-FFF2-40B4-BE49-F238E27FC236}">
                    <a16:creationId xmlns:a16="http://schemas.microsoft.com/office/drawing/2014/main" id="{37BCF2D5-2176-6332-4F58-0A4A1D68216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 lnSpcReduction="10000"/>
              </a:bodyPr>
              <a:lstStyle/>
              <a:p>
                <a:pPr marL="0" indent="0">
                  <a:buNone/>
                </a:pPr>
                <a:r>
                  <a:rPr lang="de-DE" dirty="0"/>
                  <a:t>ampere-turns </a:t>
                </a:r>
                <a:r>
                  <a:rPr lang="de-DE" dirty="0" err="1"/>
                  <a:t>create</a:t>
                </a:r>
                <a:r>
                  <a:rPr lang="de-DE" dirty="0"/>
                  <a:t> </a:t>
                </a:r>
                <a:r>
                  <a:rPr lang="de-DE" dirty="0" err="1"/>
                  <a:t>magnetic</a:t>
                </a:r>
                <a:r>
                  <a:rPr lang="de-DE" dirty="0"/>
                  <a:t> </a:t>
                </a:r>
                <a:r>
                  <a:rPr lang="de-DE" dirty="0" err="1"/>
                  <a:t>flux</a:t>
                </a:r>
                <a:r>
                  <a:rPr lang="de-DE" dirty="0"/>
                  <a:t> </a:t>
                </a:r>
                <a:r>
                  <a:rPr lang="de-DE" dirty="0" err="1"/>
                  <a:t>through</a:t>
                </a:r>
                <a:r>
                  <a:rPr lang="de-DE" dirty="0"/>
                  <a:t> </a:t>
                </a:r>
                <a:r>
                  <a:rPr lang="de-DE" dirty="0" err="1"/>
                  <a:t>the</a:t>
                </a:r>
                <a:r>
                  <a:rPr lang="de-DE" dirty="0"/>
                  <a:t> </a:t>
                </a:r>
                <a:r>
                  <a:rPr lang="de-DE" dirty="0" err="1"/>
                  <a:t>core</a:t>
                </a:r>
                <a:r>
                  <a:rPr lang="de-DE" dirty="0"/>
                  <a:t> </a:t>
                </a:r>
                <a:r>
                  <a:rPr lang="de-DE" dirty="0" err="1"/>
                  <a:t>of</a:t>
                </a:r>
                <a:r>
                  <a:rPr lang="de-DE" dirty="0"/>
                  <a:t> a </a:t>
                </a:r>
                <a:r>
                  <a:rPr lang="de-DE" dirty="0" err="1"/>
                  <a:t>coil</a:t>
                </a:r>
                <a:r>
                  <a:rPr lang="de-DE" dirty="0"/>
                  <a:t> (like </a:t>
                </a:r>
                <a:r>
                  <a:rPr lang="de-DE" dirty="0" err="1"/>
                  <a:t>voltage</a:t>
                </a:r>
                <a:r>
                  <a:rPr lang="de-DE" dirty="0"/>
                  <a:t> </a:t>
                </a:r>
                <a:r>
                  <a:rPr lang="de-DE" dirty="0" err="1"/>
                  <a:t>pushes</a:t>
                </a:r>
                <a:r>
                  <a:rPr lang="de-DE" dirty="0"/>
                  <a:t> </a:t>
                </a:r>
                <a:r>
                  <a:rPr lang="de-DE" dirty="0" err="1"/>
                  <a:t>current</a:t>
                </a:r>
                <a:r>
                  <a:rPr lang="de-DE" dirty="0"/>
                  <a:t>), </a:t>
                </a:r>
                <a:r>
                  <a:rPr lang="de-DE" dirty="0" err="1"/>
                  <a:t>depending</a:t>
                </a:r>
                <a:r>
                  <a:rPr lang="de-DE" dirty="0"/>
                  <a:t> on </a:t>
                </a:r>
                <a:r>
                  <a:rPr lang="de-DE" dirty="0" err="1"/>
                  <a:t>magnetic</a:t>
                </a:r>
                <a:r>
                  <a:rPr lang="de-DE" dirty="0"/>
                  <a:t> </a:t>
                </a:r>
                <a:r>
                  <a:rPr lang="de-DE" dirty="0" err="1"/>
                  <a:t>reluctance</a:t>
                </a:r>
                <a:r>
                  <a:rPr lang="de-DE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l-G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de-DE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𝑚</m:t>
                        </m:r>
                      </m:sub>
                    </m:sSub>
                  </m:oMath>
                </a14:m>
                <a:r>
                  <a:rPr lang="de-DE" dirty="0"/>
                  <a:t> </a:t>
                </a:r>
                <a:r>
                  <a:rPr lang="de-DE" dirty="0" err="1"/>
                  <a:t>of</a:t>
                </a:r>
                <a:r>
                  <a:rPr lang="de-DE" dirty="0"/>
                  <a:t> </a:t>
                </a:r>
                <a:r>
                  <a:rPr lang="de-DE" dirty="0" err="1"/>
                  <a:t>core</a:t>
                </a:r>
                <a:r>
                  <a:rPr lang="de-DE" dirty="0"/>
                  <a:t>/</a:t>
                </a:r>
                <a:r>
                  <a:rPr lang="de-DE" dirty="0" err="1"/>
                  <a:t>path</a:t>
                </a:r>
                <a:r>
                  <a:rPr lang="de-DE" dirty="0"/>
                  <a:t>:</a:t>
                </a:r>
              </a:p>
              <a:p>
                <a:pPr marL="0" indent="0">
                  <a:buNone/>
                </a:pPr>
                <a:endParaRPr lang="de-DE" dirty="0"/>
              </a:p>
              <a:p>
                <a:pPr marL="0" indent="0" algn="r">
                  <a:buNone/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sz="3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Φ</m:t>
                    </m:r>
                    <m:r>
                      <a:rPr lang="de-DE" sz="3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de-DE" sz="3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𝐵</m:t>
                    </m:r>
                    <m:r>
                      <a:rPr lang="de-DE" sz="3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r>
                      <a:rPr lang="de-DE" sz="3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𝐴</m:t>
                    </m:r>
                    <m:r>
                      <a:rPr lang="de-DE" sz="3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de-DE" sz="32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de-DE" sz="3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𝜇</m:t>
                        </m:r>
                        <m:r>
                          <a:rPr lang="de-DE" sz="32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∙</m:t>
                        </m:r>
                        <m:r>
                          <a:rPr lang="de-DE" sz="3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𝑁</m:t>
                        </m:r>
                        <m:r>
                          <a:rPr lang="de-DE" sz="3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∙</m:t>
                        </m:r>
                        <m:r>
                          <a:rPr lang="de-DE" sz="3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𝐼</m:t>
                        </m:r>
                      </m:num>
                      <m:den>
                        <m:r>
                          <a:rPr lang="de-DE" sz="3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𝑙</m:t>
                        </m:r>
                      </m:den>
                    </m:f>
                    <m:r>
                      <a:rPr lang="de-DE" sz="3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r>
                      <a:rPr lang="de-DE" sz="3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de-DE" dirty="0"/>
                  <a:t>     with 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D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i="1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de-DE" i="1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  <m:r>
                      <a:rPr lang="de-DE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de-DE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de-DE" i="1">
                            <a:latin typeface="Cambria Math" panose="02040503050406030204" pitchFamily="18" charset="0"/>
                          </a:rPr>
                          <m:t>𝑙</m:t>
                        </m:r>
                      </m:num>
                      <m:den>
                        <m:r>
                          <a:rPr lang="de-DE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𝜇</m:t>
                        </m:r>
                        <m:r>
                          <a:rPr lang="de-DE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∙</m:t>
                        </m:r>
                        <m:r>
                          <a:rPr lang="de-DE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𝐴</m:t>
                        </m:r>
                      </m:den>
                    </m:f>
                  </m:oMath>
                </a14:m>
                <a:endParaRPr lang="de-DE" dirty="0"/>
              </a:p>
              <a:p>
                <a:pPr marL="0" indent="0">
                  <a:buNone/>
                </a:pPr>
                <a:endParaRPr lang="de-DE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l-GR" sz="32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Φ</m:t>
                      </m:r>
                      <m:r>
                        <a:rPr lang="de-DE" sz="3200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de-DE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𝑁</m:t>
                          </m:r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𝐼</m:t>
                          </m:r>
                        </m:num>
                        <m:den>
                          <m:sSub>
                            <m:sSubPr>
                              <m:ctrlPr>
                                <a:rPr lang="el-GR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e-DE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de-DE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𝑚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de-DE" dirty="0"/>
              </a:p>
              <a:p>
                <a:pPr marL="0" indent="0" algn="ctr">
                  <a:buNone/>
                </a:pPr>
                <a:endParaRPr lang="de-DE" sz="3200" i="1" dirty="0">
                  <a:latin typeface="Cambria Math" panose="02040503050406030204" pitchFamily="18" charset="0"/>
                </a:endParaRPr>
              </a:p>
              <a:p>
                <a:pPr marL="0" indent="0" algn="ctr">
                  <a:buNone/>
                </a:pPr>
                <a:r>
                  <a:rPr lang="de-DE" sz="3200" dirty="0">
                    <a:sym typeface="Wingdings" pitchFamily="2" charset="2"/>
                  </a:rPr>
                  <a:t>	 </a:t>
                </a:r>
                <a14:m>
                  <m:oMath xmlns:m="http://schemas.openxmlformats.org/officeDocument/2006/math">
                    <m:r>
                      <a:rPr lang="de-DE" sz="3200" i="1">
                        <a:latin typeface="Cambria Math" panose="02040503050406030204" pitchFamily="18" charset="0"/>
                      </a:rPr>
                      <m:t>𝐿</m:t>
                    </m:r>
                    <m:r>
                      <a:rPr lang="de-DE" sz="3200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de-DE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de-DE" i="1">
                            <a:latin typeface="Cambria Math" panose="02040503050406030204" pitchFamily="18" charset="0"/>
                          </a:rPr>
                          <m:t>𝑁</m:t>
                        </m:r>
                        <m:r>
                          <m:rPr>
                            <m:sty m:val="p"/>
                          </m:rPr>
                          <a:rPr lang="el-G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Φ</m:t>
                        </m:r>
                      </m:num>
                      <m:den>
                        <m:r>
                          <a:rPr lang="de-DE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𝐼</m:t>
                        </m:r>
                      </m:den>
                    </m:f>
                    <m:r>
                      <a:rPr lang="de-DE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de-DE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de-DE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de-DE" i="1">
                                <a:latin typeface="Cambria Math" panose="02040503050406030204" pitchFamily="18" charset="0"/>
                              </a:rPr>
                              <m:t>𝑁</m:t>
                            </m:r>
                          </m:e>
                          <m:sup>
                            <m:r>
                              <a:rPr lang="de-DE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sSub>
                          <m:sSubPr>
                            <m:ctrlPr>
                              <a:rPr lang="de-D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de-DE" i="1"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de-DE" i="1">
                                <a:latin typeface="Cambria Math" panose="02040503050406030204" pitchFamily="18" charset="0"/>
                              </a:rPr>
                              <m:t>𝑚</m:t>
                            </m:r>
                          </m:sub>
                        </m:sSub>
                      </m:den>
                    </m:f>
                  </m:oMath>
                </a14:m>
                <a:endParaRPr lang="de-DE" sz="3200" dirty="0"/>
              </a:p>
            </p:txBody>
          </p:sp>
        </mc:Choice>
        <mc:Fallback xmlns="">
          <p:sp>
            <p:nvSpPr>
              <p:cNvPr id="3" name="Inhaltsplatzhalter 2">
                <a:extLst>
                  <a:ext uri="{FF2B5EF4-FFF2-40B4-BE49-F238E27FC236}">
                    <a16:creationId xmlns:a16="http://schemas.microsoft.com/office/drawing/2014/main" id="{37BCF2D5-2176-6332-4F58-0A4A1D68216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86" t="-2616" r="-121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DB17A535-FABD-2E43-7826-8331BD4F10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03FC7C-1F2C-4946-B702-1A52A755583B}" type="slidenum">
              <a:rPr lang="de-DE" smtClean="0"/>
              <a:t>32</a:t>
            </a:fld>
            <a:endParaRPr lang="de-DE"/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7E73ECF7-F432-A4CD-4612-9EE5B1850E98}"/>
              </a:ext>
            </a:extLst>
          </p:cNvPr>
          <p:cNvSpPr txBox="1"/>
          <p:nvPr/>
        </p:nvSpPr>
        <p:spPr>
          <a:xfrm>
            <a:off x="8019393" y="4005455"/>
            <a:ext cx="3563007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200" dirty="0" err="1"/>
              <a:t>length</a:t>
            </a:r>
            <a:r>
              <a:rPr lang="de-DE" sz="2200" dirty="0"/>
              <a:t> and </a:t>
            </a:r>
            <a:r>
              <a:rPr lang="de-DE" sz="2200" dirty="0" err="1"/>
              <a:t>cross-sectional</a:t>
            </a:r>
            <a:r>
              <a:rPr lang="de-DE" sz="2200" dirty="0"/>
              <a:t> </a:t>
            </a:r>
            <a:r>
              <a:rPr lang="de-DE" sz="2200" dirty="0" err="1"/>
              <a:t>area</a:t>
            </a:r>
            <a:r>
              <a:rPr lang="de-DE" sz="2200" dirty="0"/>
              <a:t> </a:t>
            </a:r>
            <a:r>
              <a:rPr lang="de-DE" sz="2200" dirty="0" err="1"/>
              <a:t>of</a:t>
            </a:r>
            <a:r>
              <a:rPr lang="de-DE" sz="2200" dirty="0"/>
              <a:t> </a:t>
            </a:r>
            <a:r>
              <a:rPr lang="de-DE" sz="2200" dirty="0" err="1"/>
              <a:t>the</a:t>
            </a:r>
            <a:r>
              <a:rPr lang="de-DE" sz="2200" dirty="0"/>
              <a:t> </a:t>
            </a:r>
            <a:r>
              <a:rPr lang="de-DE" sz="2200" dirty="0" err="1"/>
              <a:t>magnetic</a:t>
            </a:r>
            <a:r>
              <a:rPr lang="de-DE" sz="2200" dirty="0"/>
              <a:t> </a:t>
            </a:r>
            <a:r>
              <a:rPr lang="de-DE" sz="2200" dirty="0" err="1"/>
              <a:t>path</a:t>
            </a:r>
            <a:r>
              <a:rPr lang="de-DE" sz="2200" dirty="0"/>
              <a:t>, not </a:t>
            </a:r>
            <a:r>
              <a:rPr lang="de-DE" sz="2200" dirty="0" err="1"/>
              <a:t>the</a:t>
            </a:r>
            <a:r>
              <a:rPr lang="de-DE" sz="2200" dirty="0"/>
              <a:t> </a:t>
            </a:r>
            <a:r>
              <a:rPr lang="de-DE" sz="2200" dirty="0" err="1"/>
              <a:t>wire</a:t>
            </a:r>
            <a:r>
              <a:rPr lang="de-DE" sz="2200" dirty="0"/>
              <a:t> </a:t>
            </a:r>
          </a:p>
        </p:txBody>
      </p:sp>
      <p:pic>
        <p:nvPicPr>
          <p:cNvPr id="11" name="Bild 1">
            <a:extLst>
              <a:ext uri="{FF2B5EF4-FFF2-40B4-BE49-F238E27FC236}">
                <a16:creationId xmlns:a16="http://schemas.microsoft.com/office/drawing/2014/main" id="{75F1D273-CC0D-6770-6DC7-ED7AD491FAD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2056" y="3256599"/>
            <a:ext cx="4715973" cy="2168345"/>
          </a:xfrm>
          <a:prstGeom prst="rect">
            <a:avLst/>
          </a:prstGeom>
        </p:spPr>
      </p:pic>
      <p:cxnSp>
        <p:nvCxnSpPr>
          <p:cNvPr id="14" name="Gerade Verbindung mit Pfeil 13">
            <a:extLst>
              <a:ext uri="{FF2B5EF4-FFF2-40B4-BE49-F238E27FC236}">
                <a16:creationId xmlns:a16="http://schemas.microsoft.com/office/drawing/2014/main" id="{E52BDD29-3062-14EE-E022-EFED45FD4393}"/>
              </a:ext>
            </a:extLst>
          </p:cNvPr>
          <p:cNvCxnSpPr>
            <a:cxnSpLocks/>
          </p:cNvCxnSpPr>
          <p:nvPr/>
        </p:nvCxnSpPr>
        <p:spPr>
          <a:xfrm flipH="1" flipV="1">
            <a:off x="7935313" y="3531477"/>
            <a:ext cx="591207" cy="56271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Gerade Verbindung mit Pfeil 15">
            <a:extLst>
              <a:ext uri="{FF2B5EF4-FFF2-40B4-BE49-F238E27FC236}">
                <a16:creationId xmlns:a16="http://schemas.microsoft.com/office/drawing/2014/main" id="{0A4FFC69-0706-66E8-FD9D-BB4D319E7C47}"/>
              </a:ext>
            </a:extLst>
          </p:cNvPr>
          <p:cNvCxnSpPr>
            <a:cxnSpLocks/>
          </p:cNvCxnSpPr>
          <p:nvPr/>
        </p:nvCxnSpPr>
        <p:spPr>
          <a:xfrm flipH="1" flipV="1">
            <a:off x="8744607" y="3407980"/>
            <a:ext cx="832945" cy="70723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2126868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el 4">
            <a:extLst>
              <a:ext uri="{FF2B5EF4-FFF2-40B4-BE49-F238E27FC236}">
                <a16:creationId xmlns:a16="http://schemas.microsoft.com/office/drawing/2014/main" id="{182972BD-B524-A0A3-D906-A437D647EC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Electric </a:t>
            </a:r>
            <a:r>
              <a:rPr lang="de-DE" dirty="0" err="1"/>
              <a:t>vs</a:t>
            </a:r>
            <a:r>
              <a:rPr lang="de-DE" dirty="0"/>
              <a:t> </a:t>
            </a:r>
            <a:r>
              <a:rPr lang="de-DE" dirty="0" err="1"/>
              <a:t>Magnetic</a:t>
            </a:r>
            <a:r>
              <a:rPr lang="de-DE" dirty="0"/>
              <a:t> </a:t>
            </a:r>
            <a:r>
              <a:rPr lang="de-DE" dirty="0" err="1"/>
              <a:t>Circuits</a:t>
            </a:r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7EEE4EEF-8EEF-A738-B87F-DCDCB285D7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03FC7C-1F2C-4946-B702-1A52A755583B}" type="slidenum">
              <a:rPr lang="de-DE" smtClean="0"/>
              <a:t>33</a:t>
            </a:fld>
            <a:endParaRPr lang="de-DE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6" name="Inhaltsplatzhalter 4">
                <a:extLst>
                  <a:ext uri="{FF2B5EF4-FFF2-40B4-BE49-F238E27FC236}">
                    <a16:creationId xmlns:a16="http://schemas.microsoft.com/office/drawing/2014/main" id="{73B8ED78-C92C-BA84-D4D0-6AF45862B5D3}"/>
                  </a:ext>
                </a:extLst>
              </p:cNvPr>
              <p:cNvGraphicFramePr>
                <a:graphicFrameLocks/>
              </p:cNvGraphicFramePr>
              <p:nvPr>
                <p:extLst>
                  <p:ext uri="{D42A27DB-BD31-4B8C-83A1-F6EECF244321}">
                    <p14:modId xmlns:p14="http://schemas.microsoft.com/office/powerpoint/2010/main" val="254066020"/>
                  </p:ext>
                </p:extLst>
              </p:nvPr>
            </p:nvGraphicFramePr>
            <p:xfrm>
              <a:off x="3352800" y="2673255"/>
              <a:ext cx="5486400" cy="2730246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743200">
                      <a:extLst>
                        <a:ext uri="{9D8B030D-6E8A-4147-A177-3AD203B41FA5}">
                          <a16:colId xmlns:a16="http://schemas.microsoft.com/office/drawing/2014/main" val="3949210162"/>
                        </a:ext>
                      </a:extLst>
                    </a:gridCol>
                    <a:gridCol w="2743200">
                      <a:extLst>
                        <a:ext uri="{9D8B030D-6E8A-4147-A177-3AD203B41FA5}">
                          <a16:colId xmlns:a16="http://schemas.microsoft.com/office/drawing/2014/main" val="3988579938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r>
                            <a:rPr lang="de-DE" sz="1600" dirty="0"/>
                            <a:t>Electric Network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de-DE" sz="1600" dirty="0" err="1"/>
                            <a:t>Magnetic</a:t>
                          </a:r>
                          <a:r>
                            <a:rPr lang="de-DE" sz="1600" dirty="0"/>
                            <a:t> Network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57935144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de-DE" sz="1600" b="0" i="1" smtClean="0">
                                    <a:latin typeface="Cambria Math" panose="02040503050406030204" pitchFamily="18" charset="0"/>
                                  </a:rPr>
                                  <m:t>𝑅</m:t>
                                </m:r>
                                <m:r>
                                  <a:rPr lang="de-DE" sz="1600" b="0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f>
                                  <m:fPr>
                                    <m:ctrlPr>
                                      <a:rPr lang="de-DE" sz="16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de-DE" sz="1600" i="1" smtClean="0">
                                        <a:latin typeface="Cambria Math" panose="02040503050406030204" pitchFamily="18" charset="0"/>
                                      </a:rPr>
                                      <m:t>𝜚</m:t>
                                    </m:r>
                                    <m:r>
                                      <a:rPr lang="de-DE" sz="1600" b="0" i="1" smtClean="0">
                                        <a:latin typeface="Cambria Math" panose="02040503050406030204" pitchFamily="18" charset="0"/>
                                      </a:rPr>
                                      <m:t>𝑙</m:t>
                                    </m:r>
                                  </m:num>
                                  <m:den>
                                    <m:r>
                                      <a:rPr lang="de-DE" sz="16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𝐴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de-DE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de-DE" sz="16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de-DE" sz="1600" b="0" i="1" smtClean="0">
                                        <a:latin typeface="Cambria Math" panose="02040503050406030204" pitchFamily="18" charset="0"/>
                                      </a:rPr>
                                      <m:t>𝑅</m:t>
                                    </m:r>
                                  </m:e>
                                  <m:sub>
                                    <m:r>
                                      <a:rPr lang="de-DE" sz="1600" b="0" i="1" smtClean="0">
                                        <a:latin typeface="Cambria Math" panose="02040503050406030204" pitchFamily="18" charset="0"/>
                                      </a:rPr>
                                      <m:t>𝑚</m:t>
                                    </m:r>
                                  </m:sub>
                                </m:sSub>
                                <m:r>
                                  <a:rPr lang="de-DE" sz="1600" b="0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f>
                                  <m:fPr>
                                    <m:ctrlPr>
                                      <a:rPr lang="de-DE" sz="16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de-DE" sz="1600" b="0" i="1" smtClean="0">
                                        <a:latin typeface="Cambria Math" panose="02040503050406030204" pitchFamily="18" charset="0"/>
                                      </a:rPr>
                                      <m:t>𝑙</m:t>
                                    </m:r>
                                  </m:num>
                                  <m:den>
                                    <m:r>
                                      <a:rPr lang="de-DE" sz="16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𝜇</m:t>
                                    </m:r>
                                    <m:r>
                                      <a:rPr lang="de-DE" sz="16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𝐴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de-DE" sz="16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57058860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de-DE" sz="1600" b="0" i="1" smtClean="0">
                                    <a:latin typeface="Cambria Math" panose="02040503050406030204" pitchFamily="18" charset="0"/>
                                  </a:rPr>
                                  <m:t>𝑉</m:t>
                                </m:r>
                                <m:r>
                                  <a:rPr lang="de-DE" sz="1600" b="0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de-DE" sz="1600" b="0" i="1" smtClean="0">
                                    <a:latin typeface="Cambria Math" panose="02040503050406030204" pitchFamily="18" charset="0"/>
                                  </a:rPr>
                                  <m:t>𝑅𝐼</m:t>
                                </m:r>
                              </m:oMath>
                            </m:oMathPara>
                          </a14:m>
                          <a:endParaRPr lang="de-DE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de-DE" sz="1600" b="0" i="1" smtClean="0">
                                    <a:latin typeface="Cambria Math" panose="02040503050406030204" pitchFamily="18" charset="0"/>
                                  </a:rPr>
                                  <m:t>𝑁𝐼</m:t>
                                </m:r>
                                <m:r>
                                  <a:rPr lang="de-DE" sz="1600" b="0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sSub>
                                  <m:sSubPr>
                                    <m:ctrlPr>
                                      <a:rPr lang="de-DE" sz="16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de-DE" sz="1600" b="0" i="1" smtClean="0">
                                        <a:latin typeface="Cambria Math" panose="02040503050406030204" pitchFamily="18" charset="0"/>
                                      </a:rPr>
                                      <m:t>𝑅</m:t>
                                    </m:r>
                                  </m:e>
                                  <m:sub>
                                    <m:r>
                                      <a:rPr lang="de-DE" sz="1600" b="0" i="1" smtClean="0">
                                        <a:latin typeface="Cambria Math" panose="02040503050406030204" pitchFamily="18" charset="0"/>
                                      </a:rPr>
                                      <m:t>𝑚</m:t>
                                    </m:r>
                                  </m:sub>
                                </m:sSub>
                                <m:r>
                                  <a:rPr lang="de-DE" sz="16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𝜙</m:t>
                                </m:r>
                              </m:oMath>
                            </m:oMathPara>
                          </a14:m>
                          <a:endParaRPr lang="de-DE" sz="16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39873304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nary>
                                  <m:naryPr>
                                    <m:chr m:val="∑"/>
                                    <m:supHide m:val="on"/>
                                    <m:ctrlPr>
                                      <a:rPr lang="de-DE" sz="16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naryPr>
                                  <m:sub>
                                    <m:r>
                                      <m:rPr>
                                        <m:sty m:val="p"/>
                                      </m:rPr>
                                      <a:rPr lang="de-DE" sz="1600" b="0" i="0" smtClean="0">
                                        <a:latin typeface="Cambria Math" panose="02040503050406030204" pitchFamily="18" charset="0"/>
                                      </a:rPr>
                                      <m:t>loop</m:t>
                                    </m:r>
                                  </m:sub>
                                  <m:sup/>
                                  <m:e>
                                    <m:r>
                                      <a:rPr lang="de-DE" sz="1600" b="0" i="1" smtClean="0">
                                        <a:latin typeface="Cambria Math" panose="02040503050406030204" pitchFamily="18" charset="0"/>
                                      </a:rPr>
                                      <m:t>𝑅𝐼</m:t>
                                    </m:r>
                                    <m:r>
                                      <a:rPr lang="de-DE" sz="1600" b="0" i="1" smtClean="0">
                                        <a:latin typeface="Cambria Math" panose="02040503050406030204" pitchFamily="18" charset="0"/>
                                      </a:rPr>
                                      <m:t>=0</m:t>
                                    </m:r>
                                  </m:e>
                                </m:nary>
                              </m:oMath>
                            </m:oMathPara>
                          </a14:m>
                          <a:endParaRPr lang="de-DE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nary>
                                  <m:naryPr>
                                    <m:chr m:val="∑"/>
                                    <m:supHide m:val="on"/>
                                    <m:ctrlPr>
                                      <a:rPr lang="de-DE" sz="16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naryPr>
                                  <m:sub>
                                    <m:r>
                                      <m:rPr>
                                        <m:sty m:val="p"/>
                                      </m:rPr>
                                      <a:rPr lang="de-DE" sz="1600" b="0" i="0" smtClean="0">
                                        <a:latin typeface="Cambria Math" panose="02040503050406030204" pitchFamily="18" charset="0"/>
                                      </a:rPr>
                                      <m:t>loop</m:t>
                                    </m:r>
                                  </m:sub>
                                  <m:sup/>
                                  <m:e>
                                    <m:sSub>
                                      <m:sSubPr>
                                        <m:ctrlPr>
                                          <a:rPr lang="de-DE" sz="16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de-DE" sz="1600" b="0" i="1" smtClean="0">
                                            <a:latin typeface="Cambria Math" panose="02040503050406030204" pitchFamily="18" charset="0"/>
                                          </a:rPr>
                                          <m:t>𝑅</m:t>
                                        </m:r>
                                      </m:e>
                                      <m:sub>
                                        <m:r>
                                          <a:rPr lang="de-DE" sz="1600" b="0" i="1" smtClean="0">
                                            <a:latin typeface="Cambria Math" panose="02040503050406030204" pitchFamily="18" charset="0"/>
                                          </a:rPr>
                                          <m:t>𝑚</m:t>
                                        </m:r>
                                      </m:sub>
                                    </m:sSub>
                                    <m:r>
                                      <a:rPr lang="de-DE" sz="16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𝜙</m:t>
                                    </m:r>
                                    <m:r>
                                      <a:rPr lang="de-DE" sz="16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=</m:t>
                                    </m:r>
                                    <m:nary>
                                      <m:naryPr>
                                        <m:chr m:val="∑"/>
                                        <m:subHide m:val="on"/>
                                        <m:supHide m:val="on"/>
                                        <m:ctrlPr>
                                          <a:rPr lang="de-DE" sz="1600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naryPr>
                                      <m:sub/>
                                      <m:sup/>
                                      <m:e>
                                        <m:r>
                                          <a:rPr lang="de-DE" sz="1600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𝑁𝐼</m:t>
                                        </m:r>
                                      </m:e>
                                    </m:nary>
                                  </m:e>
                                </m:nary>
                              </m:oMath>
                            </m:oMathPara>
                          </a14:m>
                          <a:endParaRPr lang="de-DE" sz="16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29337888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nary>
                                  <m:naryPr>
                                    <m:chr m:val="∑"/>
                                    <m:supHide m:val="on"/>
                                    <m:ctrlPr>
                                      <a:rPr lang="de-DE" sz="16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naryPr>
                                  <m:sub>
                                    <m:r>
                                      <m:rPr>
                                        <m:sty m:val="p"/>
                                      </m:rPr>
                                      <a:rPr lang="de-DE" sz="1600" b="0" i="0" smtClean="0">
                                        <a:latin typeface="Cambria Math" panose="02040503050406030204" pitchFamily="18" charset="0"/>
                                      </a:rPr>
                                      <m:t>node</m:t>
                                    </m:r>
                                  </m:sub>
                                  <m:sup/>
                                  <m:e>
                                    <m:r>
                                      <a:rPr lang="de-DE" sz="1600" b="0" i="1" smtClean="0">
                                        <a:latin typeface="Cambria Math" panose="02040503050406030204" pitchFamily="18" charset="0"/>
                                      </a:rPr>
                                      <m:t>𝐼</m:t>
                                    </m:r>
                                  </m:e>
                                </m:nary>
                                <m:r>
                                  <a:rPr lang="de-DE" sz="1600" b="0" i="1" smtClean="0">
                                    <a:latin typeface="Cambria Math" panose="02040503050406030204" pitchFamily="18" charset="0"/>
                                  </a:rPr>
                                  <m:t>=0</m:t>
                                </m:r>
                              </m:oMath>
                            </m:oMathPara>
                          </a14:m>
                          <a:endParaRPr lang="de-DE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nary>
                                  <m:naryPr>
                                    <m:chr m:val="∑"/>
                                    <m:supHide m:val="on"/>
                                    <m:ctrlPr>
                                      <a:rPr lang="de-DE" sz="16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naryPr>
                                  <m:sub>
                                    <m:r>
                                      <m:rPr>
                                        <m:sty m:val="p"/>
                                      </m:rPr>
                                      <a:rPr lang="de-DE" sz="1600" b="0" i="0" smtClean="0">
                                        <a:latin typeface="Cambria Math" panose="02040503050406030204" pitchFamily="18" charset="0"/>
                                      </a:rPr>
                                      <m:t>node</m:t>
                                    </m:r>
                                  </m:sub>
                                  <m:sup/>
                                  <m:e>
                                    <m:r>
                                      <a:rPr lang="el-GR" sz="16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𝜙</m:t>
                                    </m:r>
                                  </m:e>
                                </m:nary>
                                <m:r>
                                  <a:rPr lang="de-DE" sz="1600" b="0" i="1" smtClean="0">
                                    <a:latin typeface="Cambria Math" panose="02040503050406030204" pitchFamily="18" charset="0"/>
                                  </a:rPr>
                                  <m:t>=0</m:t>
                                </m:r>
                              </m:oMath>
                            </m:oMathPara>
                          </a14:m>
                          <a:endParaRPr lang="de-DE" sz="16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337527887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6" name="Inhaltsplatzhalter 4">
                <a:extLst>
                  <a:ext uri="{FF2B5EF4-FFF2-40B4-BE49-F238E27FC236}">
                    <a16:creationId xmlns:a16="http://schemas.microsoft.com/office/drawing/2014/main" id="{73B8ED78-C92C-BA84-D4D0-6AF45862B5D3}"/>
                  </a:ext>
                </a:extLst>
              </p:cNvPr>
              <p:cNvGraphicFramePr>
                <a:graphicFrameLocks/>
              </p:cNvGraphicFramePr>
              <p:nvPr>
                <p:extLst>
                  <p:ext uri="{D42A27DB-BD31-4B8C-83A1-F6EECF244321}">
                    <p14:modId xmlns:p14="http://schemas.microsoft.com/office/powerpoint/2010/main" val="254066020"/>
                  </p:ext>
                </p:extLst>
              </p:nvPr>
            </p:nvGraphicFramePr>
            <p:xfrm>
              <a:off x="3352800" y="2673255"/>
              <a:ext cx="5486400" cy="2730246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743200">
                      <a:extLst>
                        <a:ext uri="{9D8B030D-6E8A-4147-A177-3AD203B41FA5}">
                          <a16:colId xmlns:a16="http://schemas.microsoft.com/office/drawing/2014/main" val="3949210162"/>
                        </a:ext>
                      </a:extLst>
                    </a:gridCol>
                    <a:gridCol w="2743200">
                      <a:extLst>
                        <a:ext uri="{9D8B030D-6E8A-4147-A177-3AD203B41FA5}">
                          <a16:colId xmlns:a16="http://schemas.microsoft.com/office/drawing/2014/main" val="3988579938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r>
                            <a:rPr lang="de-DE" sz="1600" dirty="0"/>
                            <a:t>Electric Network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de-DE" sz="1600" dirty="0" err="1"/>
                            <a:t>Magnetic</a:t>
                          </a:r>
                          <a:r>
                            <a:rPr lang="de-DE" sz="1600" dirty="0"/>
                            <a:t> Network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579351444"/>
                      </a:ext>
                    </a:extLst>
                  </a:tr>
                  <a:tr h="592582">
                    <a:tc>
                      <a:txBody>
                        <a:bodyPr/>
                        <a:lstStyle/>
                        <a:p>
                          <a:endParaRPr lang="de-DE"/>
                        </a:p>
                      </a:txBody>
                      <a:tcPr>
                        <a:blipFill>
                          <a:blip r:embed="rId2"/>
                          <a:stretch>
                            <a:fillRect l="-463" t="-63830" r="-101389" b="-50212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de-DE"/>
                        </a:p>
                      </a:txBody>
                      <a:tcPr>
                        <a:blipFill>
                          <a:blip r:embed="rId2"/>
                          <a:stretch>
                            <a:fillRect l="-100463" t="-63830" r="-1389" b="-50212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57058860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de-DE"/>
                        </a:p>
                      </a:txBody>
                      <a:tcPr>
                        <a:blipFill>
                          <a:blip r:embed="rId2"/>
                          <a:stretch>
                            <a:fillRect l="-463" t="-256667" r="-101389" b="-68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de-DE"/>
                        </a:p>
                      </a:txBody>
                      <a:tcPr>
                        <a:blipFill>
                          <a:blip r:embed="rId2"/>
                          <a:stretch>
                            <a:fillRect l="-100463" t="-256667" r="-1389" b="-68666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98733046"/>
                      </a:ext>
                    </a:extLst>
                  </a:tr>
                  <a:tr h="712851">
                    <a:tc>
                      <a:txBody>
                        <a:bodyPr/>
                        <a:lstStyle/>
                        <a:p>
                          <a:endParaRPr lang="de-DE"/>
                        </a:p>
                      </a:txBody>
                      <a:tcPr>
                        <a:blipFill>
                          <a:blip r:embed="rId2"/>
                          <a:stretch>
                            <a:fillRect l="-463" t="-191071" r="-101389" b="-26785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de-DE"/>
                        </a:p>
                      </a:txBody>
                      <a:tcPr>
                        <a:blipFill>
                          <a:blip r:embed="rId2"/>
                          <a:stretch>
                            <a:fillRect l="-100463" t="-191071" r="-1389" b="-26785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293378887"/>
                      </a:ext>
                    </a:extLst>
                  </a:tr>
                  <a:tr h="683133">
                    <a:tc>
                      <a:txBody>
                        <a:bodyPr/>
                        <a:lstStyle/>
                        <a:p>
                          <a:endParaRPr lang="de-DE"/>
                        </a:p>
                      </a:txBody>
                      <a:tcPr>
                        <a:blipFill>
                          <a:blip r:embed="rId2"/>
                          <a:stretch>
                            <a:fillRect l="-463" t="-301852" r="-101389" b="-17777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de-DE"/>
                        </a:p>
                      </a:txBody>
                      <a:tcPr>
                        <a:blipFill>
                          <a:blip r:embed="rId2"/>
                          <a:stretch>
                            <a:fillRect l="-100463" t="-301852" r="-1389" b="-17777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337527887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7" name="Textfeld 6">
            <a:extLst>
              <a:ext uri="{FF2B5EF4-FFF2-40B4-BE49-F238E27FC236}">
                <a16:creationId xmlns:a16="http://schemas.microsoft.com/office/drawing/2014/main" id="{37BC9B65-9E67-8EFA-A497-FC06223B12E6}"/>
              </a:ext>
            </a:extLst>
          </p:cNvPr>
          <p:cNvSpPr txBox="1"/>
          <p:nvPr/>
        </p:nvSpPr>
        <p:spPr>
          <a:xfrm>
            <a:off x="9196551" y="2712978"/>
            <a:ext cx="2743201" cy="64633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de-DE" dirty="0" err="1"/>
              <a:t>magnetic</a:t>
            </a:r>
            <a:r>
              <a:rPr lang="de-DE" dirty="0"/>
              <a:t> </a:t>
            </a:r>
            <a:r>
              <a:rPr lang="de-DE" dirty="0" err="1"/>
              <a:t>field</a:t>
            </a:r>
            <a:r>
              <a:rPr lang="de-DE" dirty="0"/>
              <a:t>, </a:t>
            </a:r>
            <a:r>
              <a:rPr lang="de-DE" dirty="0" err="1"/>
              <a:t>no</a:t>
            </a:r>
            <a:r>
              <a:rPr lang="de-DE" dirty="0"/>
              <a:t> </a:t>
            </a:r>
            <a:r>
              <a:rPr lang="de-DE" dirty="0" err="1"/>
              <a:t>moving</a:t>
            </a:r>
            <a:r>
              <a:rPr lang="de-DE" dirty="0"/>
              <a:t> </a:t>
            </a:r>
            <a:r>
              <a:rPr lang="de-DE" dirty="0" err="1"/>
              <a:t>particles</a:t>
            </a:r>
            <a:endParaRPr lang="de-DE" dirty="0"/>
          </a:p>
        </p:txBody>
      </p:sp>
      <p:sp>
        <p:nvSpPr>
          <p:cNvPr id="8" name="Textfeld 7">
            <a:extLst>
              <a:ext uri="{FF2B5EF4-FFF2-40B4-BE49-F238E27FC236}">
                <a16:creationId xmlns:a16="http://schemas.microsoft.com/office/drawing/2014/main" id="{4A6A8952-5699-9973-416A-8D43C2BFC9AD}"/>
              </a:ext>
            </a:extLst>
          </p:cNvPr>
          <p:cNvSpPr txBox="1"/>
          <p:nvPr/>
        </p:nvSpPr>
        <p:spPr>
          <a:xfrm>
            <a:off x="252248" y="2712978"/>
            <a:ext cx="2827284" cy="64633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de-DE" dirty="0" err="1"/>
              <a:t>electrons</a:t>
            </a:r>
            <a:r>
              <a:rPr lang="de-DE" dirty="0"/>
              <a:t> </a:t>
            </a:r>
            <a:r>
              <a:rPr lang="de-DE" dirty="0" err="1"/>
              <a:t>moving</a:t>
            </a:r>
            <a:r>
              <a:rPr lang="de-DE" dirty="0"/>
              <a:t> in </a:t>
            </a:r>
            <a:r>
              <a:rPr lang="de-DE" dirty="0" err="1"/>
              <a:t>conductor</a:t>
            </a:r>
            <a:r>
              <a:rPr lang="de-DE" dirty="0"/>
              <a:t>, </a:t>
            </a:r>
            <a:r>
              <a:rPr lang="de-DE" dirty="0" err="1"/>
              <a:t>no</a:t>
            </a:r>
            <a:r>
              <a:rPr lang="de-DE" dirty="0"/>
              <a:t> </a:t>
            </a:r>
            <a:r>
              <a:rPr lang="de-DE" dirty="0" err="1"/>
              <a:t>electric</a:t>
            </a:r>
            <a:r>
              <a:rPr lang="de-DE" dirty="0"/>
              <a:t> </a:t>
            </a:r>
            <a:r>
              <a:rPr lang="de-DE" dirty="0" err="1"/>
              <a:t>field</a:t>
            </a:r>
            <a:endParaRPr lang="de-DE" dirty="0"/>
          </a:p>
        </p:txBody>
      </p:sp>
      <p:cxnSp>
        <p:nvCxnSpPr>
          <p:cNvPr id="10" name="Gerade Verbindung mit Pfeil 9">
            <a:extLst>
              <a:ext uri="{FF2B5EF4-FFF2-40B4-BE49-F238E27FC236}">
                <a16:creationId xmlns:a16="http://schemas.microsoft.com/office/drawing/2014/main" id="{8204841C-4567-10DF-7D30-DBE2E3ECEFEF}"/>
              </a:ext>
            </a:extLst>
          </p:cNvPr>
          <p:cNvCxnSpPr>
            <a:cxnSpLocks/>
            <a:stCxn id="8" idx="3"/>
          </p:cNvCxnSpPr>
          <p:nvPr/>
        </p:nvCxnSpPr>
        <p:spPr>
          <a:xfrm>
            <a:off x="3079532" y="3036144"/>
            <a:ext cx="1755227" cy="19636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Gerade Verbindung mit Pfeil 15">
            <a:extLst>
              <a:ext uri="{FF2B5EF4-FFF2-40B4-BE49-F238E27FC236}">
                <a16:creationId xmlns:a16="http://schemas.microsoft.com/office/drawing/2014/main" id="{098CEB9B-3A3C-6372-036E-FC00756A63CE}"/>
              </a:ext>
            </a:extLst>
          </p:cNvPr>
          <p:cNvCxnSpPr>
            <a:stCxn id="7" idx="1"/>
          </p:cNvCxnSpPr>
          <p:nvPr/>
        </p:nvCxnSpPr>
        <p:spPr>
          <a:xfrm flipH="1">
            <a:off x="7704083" y="3036144"/>
            <a:ext cx="1492468" cy="40656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feld 16">
            <a:extLst>
              <a:ext uri="{FF2B5EF4-FFF2-40B4-BE49-F238E27FC236}">
                <a16:creationId xmlns:a16="http://schemas.microsoft.com/office/drawing/2014/main" id="{E4F12F77-CBC6-3042-52CF-916E7609A63B}"/>
              </a:ext>
            </a:extLst>
          </p:cNvPr>
          <p:cNvSpPr txBox="1"/>
          <p:nvPr/>
        </p:nvSpPr>
        <p:spPr>
          <a:xfrm>
            <a:off x="2473655" y="3625495"/>
            <a:ext cx="7425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Ohm:</a:t>
            </a:r>
          </a:p>
        </p:txBody>
      </p:sp>
      <p:sp>
        <p:nvSpPr>
          <p:cNvPr id="18" name="Textfeld 17">
            <a:extLst>
              <a:ext uri="{FF2B5EF4-FFF2-40B4-BE49-F238E27FC236}">
                <a16:creationId xmlns:a16="http://schemas.microsoft.com/office/drawing/2014/main" id="{335F6823-89AD-0077-DEB6-3155ACB54119}"/>
              </a:ext>
            </a:extLst>
          </p:cNvPr>
          <p:cNvSpPr txBox="1"/>
          <p:nvPr/>
        </p:nvSpPr>
        <p:spPr>
          <a:xfrm>
            <a:off x="2529984" y="4175377"/>
            <a:ext cx="6298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KVL:</a:t>
            </a:r>
          </a:p>
        </p:txBody>
      </p:sp>
      <p:sp>
        <p:nvSpPr>
          <p:cNvPr id="19" name="Textfeld 18">
            <a:extLst>
              <a:ext uri="{FF2B5EF4-FFF2-40B4-BE49-F238E27FC236}">
                <a16:creationId xmlns:a16="http://schemas.microsoft.com/office/drawing/2014/main" id="{E0CE5BFF-C097-E698-B8C1-9020D04CBA6E}"/>
              </a:ext>
            </a:extLst>
          </p:cNvPr>
          <p:cNvSpPr txBox="1"/>
          <p:nvPr/>
        </p:nvSpPr>
        <p:spPr>
          <a:xfrm>
            <a:off x="2520462" y="4863805"/>
            <a:ext cx="6488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KCL:</a:t>
            </a:r>
          </a:p>
        </p:txBody>
      </p:sp>
    </p:spTree>
    <p:extLst>
      <p:ext uri="{BB962C8B-B14F-4D97-AF65-F5344CB8AC3E}">
        <p14:creationId xmlns:p14="http://schemas.microsoft.com/office/powerpoint/2010/main" val="420199974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E04DA4-ADEF-35C6-CF4A-2BD7DF0606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5ADA038-A47C-5C34-926E-705F62DF46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Energy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Inductance</a:t>
            </a:r>
            <a:endParaRPr lang="de-DE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Inhaltsplatzhalter 2">
                <a:extLst>
                  <a:ext uri="{FF2B5EF4-FFF2-40B4-BE49-F238E27FC236}">
                    <a16:creationId xmlns:a16="http://schemas.microsoft.com/office/drawing/2014/main" id="{3AF5A71D-F254-E969-1185-0B7D516D08B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indent="0">
                  <a:buNone/>
                </a:pPr>
                <a:endParaRPr lang="de-DE" dirty="0"/>
              </a:p>
              <a:p>
                <a:pPr marL="0" indent="0">
                  <a:buNone/>
                </a:pPr>
                <a:r>
                  <a:rPr lang="de-DE" dirty="0" err="1"/>
                  <a:t>inductor</a:t>
                </a:r>
                <a:r>
                  <a:rPr lang="de-DE" dirty="0"/>
                  <a:t> </a:t>
                </a:r>
                <a:r>
                  <a:rPr lang="de-DE" dirty="0" err="1"/>
                  <a:t>as</a:t>
                </a:r>
                <a:r>
                  <a:rPr lang="de-DE" dirty="0"/>
                  <a:t> </a:t>
                </a:r>
                <a:r>
                  <a:rPr lang="de-DE" dirty="0" err="1"/>
                  <a:t>magnetic</a:t>
                </a:r>
                <a:r>
                  <a:rPr lang="de-DE" dirty="0"/>
                  <a:t> </a:t>
                </a:r>
                <a:r>
                  <a:rPr lang="de-DE" dirty="0" err="1"/>
                  <a:t>energy</a:t>
                </a:r>
                <a:r>
                  <a:rPr lang="de-DE" dirty="0"/>
                  <a:t> </a:t>
                </a:r>
                <a:r>
                  <a:rPr lang="de-DE" dirty="0" err="1"/>
                  <a:t>storage</a:t>
                </a:r>
                <a:r>
                  <a:rPr lang="de-DE" dirty="0"/>
                  <a:t>:</a:t>
                </a:r>
              </a:p>
              <a:p>
                <a:pPr marL="0" indent="0">
                  <a:buNone/>
                </a:pPr>
                <a:endParaRPr lang="de-DE" dirty="0"/>
              </a:p>
              <a:p>
                <a:pPr marL="0" indent="0">
                  <a:buNone/>
                </a:pPr>
                <a:endParaRPr lang="de-DE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i="1">
                          <a:latin typeface="Cambria Math" panose="02040503050406030204" pitchFamily="18" charset="0"/>
                        </a:rPr>
                        <m:t>𝑊</m:t>
                      </m:r>
                      <m:r>
                        <a:rPr lang="de-DE" i="1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limLoc m:val="undOvr"/>
                          <m:subHide m:val="on"/>
                          <m:supHide m:val="on"/>
                          <m:ctrlPr>
                            <a:rPr lang="de-DE" i="1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e>
                      </m:nary>
                      <m:r>
                        <a:rPr lang="de-DE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r>
                        <a:rPr lang="de-DE" b="0" i="1" smtClean="0">
                          <a:latin typeface="Cambria Math" panose="02040503050406030204" pitchFamily="18" charset="0"/>
                        </a:rPr>
                        <m:t>𝑣</m:t>
                      </m:r>
                      <m:r>
                        <a:rPr lang="de-DE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de-DE" i="1">
                          <a:latin typeface="Cambria Math" panose="02040503050406030204" pitchFamily="18" charset="0"/>
                        </a:rPr>
                        <m:t>𝑑𝑡</m:t>
                      </m:r>
                      <m:nary>
                        <m:naryPr>
                          <m:limLoc m:val="undOvr"/>
                          <m:subHide m:val="on"/>
                          <m:supHide m:val="on"/>
                          <m:ctrlPr>
                            <a:rPr lang="de-DE" i="1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de-DE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∙</m:t>
                          </m:r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  <m:f>
                            <m:fPr>
                              <m:ctrlPr>
                                <a:rPr lang="de-DE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de-DE" i="1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  <m:r>
                                <a:rPr lang="de-DE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num>
                            <m:den>
                              <m:r>
                                <a:rPr lang="de-DE" i="1">
                                  <a:latin typeface="Cambria Math" panose="02040503050406030204" pitchFamily="18" charset="0"/>
                                </a:rPr>
                                <m:t>𝑑𝑡</m:t>
                              </m:r>
                            </m:den>
                          </m:f>
                        </m:e>
                      </m:nary>
                      <m:r>
                        <a:rPr lang="de-DE" i="1">
                          <a:latin typeface="Cambria Math" panose="02040503050406030204" pitchFamily="18" charset="0"/>
                        </a:rPr>
                        <m:t>𝑑𝑡</m:t>
                      </m:r>
                      <m:r>
                        <a:rPr lang="de-DE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de-DE" b="0" i="1" smtClean="0">
                          <a:latin typeface="Cambria Math" panose="02040503050406030204" pitchFamily="18" charset="0"/>
                        </a:rPr>
                        <m:t>𝐿</m:t>
                      </m:r>
                      <m:nary>
                        <m:naryPr>
                          <m:limLoc m:val="undOvr"/>
                          <m:subHide m:val="on"/>
                          <m:supHide m:val="on"/>
                          <m:ctrlPr>
                            <a:rPr lang="de-DE" i="1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𝑑𝑖</m:t>
                          </m:r>
                        </m:e>
                      </m:nary>
                      <m:r>
                        <a:rPr lang="de-DE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de-DE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de-DE" b="0" i="1" smtClean="0">
                          <a:latin typeface="Cambria Math" panose="02040503050406030204" pitchFamily="18" charset="0"/>
                        </a:rPr>
                        <m:t>𝐿</m:t>
                      </m:r>
                      <m:sSup>
                        <m:sSupPr>
                          <m:ctrlPr>
                            <a:rPr lang="de-DE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e>
                        <m:sup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de-DE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de-DE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d>
                        <m:dPr>
                          <m:ctrlPr>
                            <a:rPr lang="de-DE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𝑁𝑖</m:t>
                          </m:r>
                        </m:e>
                      </m:d>
                      <m:r>
                        <m:rPr>
                          <m:sty m:val="p"/>
                        </m:rPr>
                        <a:rPr lang="el-GR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Φ</m:t>
                      </m:r>
                    </m:oMath>
                  </m:oMathPara>
                </a14:m>
                <a:endParaRPr lang="de-DE" dirty="0"/>
              </a:p>
            </p:txBody>
          </p:sp>
        </mc:Choice>
        <mc:Fallback xmlns="">
          <p:sp>
            <p:nvSpPr>
              <p:cNvPr id="3" name="Inhaltsplatzhalter 2">
                <a:extLst>
                  <a:ext uri="{FF2B5EF4-FFF2-40B4-BE49-F238E27FC236}">
                    <a16:creationId xmlns:a16="http://schemas.microsoft.com/office/drawing/2014/main" id="{3AF5A71D-F254-E969-1185-0B7D516D08B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06" b="-25000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9B535A72-3DC6-B52E-04A4-2C6462E460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03FC7C-1F2C-4946-B702-1A52A755583B}" type="slidenum">
              <a:rPr lang="de-DE" smtClean="0"/>
              <a:t>34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2163070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73C3F3-4553-959C-3F12-3431A51BCB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ED814D1-3881-8D72-B0A8-62D260D1CF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Inductors</a:t>
            </a:r>
            <a:r>
              <a:rPr lang="de-DE" dirty="0"/>
              <a:t> in Series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540818D1-809C-1DB1-24D4-4BCAF9BE9D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03FC7C-1F2C-4946-B702-1A52A755583B}" type="slidenum">
              <a:rPr lang="de-DE" smtClean="0"/>
              <a:t>35</a:t>
            </a:fld>
            <a:endParaRPr lang="de-DE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feld 6">
                <a:extLst>
                  <a:ext uri="{FF2B5EF4-FFF2-40B4-BE49-F238E27FC236}">
                    <a16:creationId xmlns:a16="http://schemas.microsoft.com/office/drawing/2014/main" id="{2B6814D5-9940-47A2-5276-DF3D43A046F3}"/>
                  </a:ext>
                </a:extLst>
              </p:cNvPr>
              <p:cNvSpPr txBox="1"/>
              <p:nvPr/>
            </p:nvSpPr>
            <p:spPr>
              <a:xfrm>
                <a:off x="6095999" y="2427409"/>
                <a:ext cx="4676719" cy="79355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2400" b="0" i="1" smtClean="0">
                          <a:latin typeface="Cambria Math" panose="02040503050406030204" pitchFamily="18" charset="0"/>
                        </a:rPr>
                        <m:t>𝑣</m:t>
                      </m:r>
                      <m:r>
                        <a:rPr lang="de-DE" sz="240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de-DE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sz="2400" i="1"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b>
                          <m:r>
                            <a:rPr lang="de-DE" sz="240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f>
                        <m:fPr>
                          <m:ctrlPr>
                            <a:rPr lang="de-DE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de-DE" sz="2400" i="1">
                              <a:latin typeface="Cambria Math" panose="02040503050406030204" pitchFamily="18" charset="0"/>
                            </a:rPr>
                            <m:t>𝑑𝑖</m:t>
                          </m:r>
                        </m:num>
                        <m:den>
                          <m:r>
                            <a:rPr lang="de-DE" sz="2400" i="1"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  <m:r>
                        <a:rPr lang="de-DE" sz="240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de-DE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sz="2400" i="1"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b>
                          <m:r>
                            <a:rPr lang="de-DE" sz="240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f>
                        <m:fPr>
                          <m:ctrlPr>
                            <a:rPr lang="de-DE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de-DE" sz="2400" i="1">
                              <a:latin typeface="Cambria Math" panose="02040503050406030204" pitchFamily="18" charset="0"/>
                            </a:rPr>
                            <m:t>𝑑𝑖</m:t>
                          </m:r>
                        </m:num>
                        <m:den>
                          <m:r>
                            <a:rPr lang="de-DE" sz="2400" i="1"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  <m:r>
                        <a:rPr lang="de-DE" sz="2400">
                          <a:latin typeface="Cambria Math" panose="02040503050406030204" pitchFamily="18" charset="0"/>
                        </a:rPr>
                        <m:t>+⋯+</m:t>
                      </m:r>
                      <m:sSub>
                        <m:sSubPr>
                          <m:ctrlPr>
                            <a:rPr lang="de-DE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sz="2400" i="1"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b>
                          <m:r>
                            <a:rPr lang="de-DE" sz="2400" i="1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f>
                        <m:fPr>
                          <m:ctrlPr>
                            <a:rPr lang="de-DE" sz="24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de-DE" sz="2400" i="1">
                              <a:latin typeface="Cambria Math" panose="02040503050406030204" pitchFamily="18" charset="0"/>
                            </a:rPr>
                            <m:t>𝑑𝑖</m:t>
                          </m:r>
                        </m:num>
                        <m:den>
                          <m:r>
                            <a:rPr lang="de-DE" sz="2400" i="1"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</m:oMath>
                  </m:oMathPara>
                </a14:m>
                <a:endParaRPr lang="de-DE" sz="2400" dirty="0"/>
              </a:p>
            </p:txBody>
          </p:sp>
        </mc:Choice>
        <mc:Fallback xmlns="">
          <p:sp>
            <p:nvSpPr>
              <p:cNvPr id="7" name="Textfeld 6">
                <a:extLst>
                  <a:ext uri="{FF2B5EF4-FFF2-40B4-BE49-F238E27FC236}">
                    <a16:creationId xmlns:a16="http://schemas.microsoft.com/office/drawing/2014/main" id="{2B6814D5-9940-47A2-5276-DF3D43A046F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5999" y="2427409"/>
                <a:ext cx="4676719" cy="793551"/>
              </a:xfrm>
              <a:prstGeom prst="rect">
                <a:avLst/>
              </a:prstGeom>
              <a:blipFill>
                <a:blip r:embed="rId2"/>
                <a:stretch>
                  <a:fillRect b="-6349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feld 8">
                <a:extLst>
                  <a:ext uri="{FF2B5EF4-FFF2-40B4-BE49-F238E27FC236}">
                    <a16:creationId xmlns:a16="http://schemas.microsoft.com/office/drawing/2014/main" id="{B95EAAB7-3B65-30BC-E036-68620C124A15}"/>
                  </a:ext>
                </a:extLst>
              </p:cNvPr>
              <p:cNvSpPr txBox="1"/>
              <p:nvPr/>
            </p:nvSpPr>
            <p:spPr>
              <a:xfrm>
                <a:off x="3815254" y="3960284"/>
                <a:ext cx="4561491" cy="1184555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2600" b="0" i="1" smtClean="0">
                          <a:latin typeface="Cambria Math" panose="02040503050406030204" pitchFamily="18" charset="0"/>
                        </a:rPr>
                        <m:t>𝐿</m:t>
                      </m:r>
                      <m:r>
                        <a:rPr lang="de-DE" sz="2600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de-DE" sz="2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sz="2600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b>
                          <m:r>
                            <a:rPr lang="de-DE" sz="260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de-DE" sz="2600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de-DE" sz="2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sz="2600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b>
                          <m:r>
                            <a:rPr lang="de-DE" sz="2600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de-DE" sz="2600" i="1">
                          <a:latin typeface="Cambria Math" panose="02040503050406030204" pitchFamily="18" charset="0"/>
                        </a:rPr>
                        <m:t>+⋯+</m:t>
                      </m:r>
                      <m:sSub>
                        <m:sSubPr>
                          <m:ctrlPr>
                            <a:rPr lang="de-DE" sz="2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sz="2600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b>
                          <m:r>
                            <a:rPr lang="de-DE" sz="2600" i="1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de-DE" sz="2600" i="1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limLoc m:val="undOvr"/>
                          <m:ctrlPr>
                            <a:rPr lang="de-DE" sz="26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/>
                            </m:rPr>
                            <a:rPr lang="de-DE" sz="26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de-DE" sz="2600" i="1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de-DE" sz="2600" i="1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sSub>
                            <m:sSubPr>
                              <m:ctrlPr>
                                <a:rPr lang="de-DE" sz="2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e-DE" sz="2600" b="0" i="1" smtClean="0"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</m:e>
                            <m:sub>
                              <m:r>
                                <a:rPr lang="de-DE" sz="2600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de-DE" sz="2600" dirty="0"/>
              </a:p>
            </p:txBody>
          </p:sp>
        </mc:Choice>
        <mc:Fallback>
          <p:sp>
            <p:nvSpPr>
              <p:cNvPr id="9" name="Textfeld 8">
                <a:extLst>
                  <a:ext uri="{FF2B5EF4-FFF2-40B4-BE49-F238E27FC236}">
                    <a16:creationId xmlns:a16="http://schemas.microsoft.com/office/drawing/2014/main" id="{B95EAAB7-3B65-30BC-E036-68620C124A1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15254" y="3960284"/>
                <a:ext cx="4561491" cy="1184555"/>
              </a:xfrm>
              <a:prstGeom prst="rect">
                <a:avLst/>
              </a:prstGeom>
              <a:blipFill>
                <a:blip r:embed="rId3"/>
                <a:stretch>
                  <a:fillRect t="-106316" r="-7222" b="-163158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Inhaltsplatzhalter 4">
            <a:extLst>
              <a:ext uri="{FF2B5EF4-FFF2-40B4-BE49-F238E27FC236}">
                <a16:creationId xmlns:a16="http://schemas.microsoft.com/office/drawing/2014/main" id="{B42701A9-036E-D8DE-BA66-6AF33A457BFE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1986390"/>
            <a:ext cx="4720590" cy="1288796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feld 2">
                <a:extLst>
                  <a:ext uri="{FF2B5EF4-FFF2-40B4-BE49-F238E27FC236}">
                    <a16:creationId xmlns:a16="http://schemas.microsoft.com/office/drawing/2014/main" id="{D31E24EC-0C6D-88AD-7CAA-0BF347CDA0EB}"/>
                  </a:ext>
                </a:extLst>
              </p:cNvPr>
              <p:cNvSpPr txBox="1"/>
              <p:nvPr/>
            </p:nvSpPr>
            <p:spPr>
              <a:xfrm>
                <a:off x="838200" y="5487602"/>
                <a:ext cx="10197662" cy="131035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r>
                  <a:rPr lang="de-DE" sz="2800" dirty="0"/>
                  <a:t>voltage </a:t>
                </a:r>
                <a:r>
                  <a:rPr lang="de-DE" sz="2800" dirty="0" err="1"/>
                  <a:t>divider</a:t>
                </a:r>
                <a:r>
                  <a:rPr lang="de-DE" sz="2800" dirty="0"/>
                  <a:t> </a:t>
                </a:r>
                <a:r>
                  <a:rPr lang="de-DE" sz="2800" dirty="0" err="1"/>
                  <a:t>rule</a:t>
                </a:r>
                <a:r>
                  <a:rPr lang="de-DE" sz="2800" dirty="0"/>
                  <a:t>: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DE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sz="2800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de-DE" sz="2800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de-DE" sz="28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de-DE" sz="2800" b="0" i="1" smtClean="0">
                        <a:latin typeface="Cambria Math" panose="02040503050406030204" pitchFamily="18" charset="0"/>
                      </a:rPr>
                      <m:t>𝑣</m:t>
                    </m:r>
                    <m:f>
                      <m:fPr>
                        <m:ctrlPr>
                          <a:rPr lang="de-DE" sz="28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de-DE" sz="2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de-DE" sz="2800" b="0" i="1" smtClean="0">
                                <a:latin typeface="Cambria Math" panose="02040503050406030204" pitchFamily="18" charset="0"/>
                              </a:rPr>
                              <m:t>𝐿</m:t>
                            </m:r>
                          </m:e>
                          <m:sub>
                            <m:r>
                              <a:rPr lang="de-DE" sz="2800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num>
                      <m:den>
                        <m:r>
                          <a:rPr lang="de-DE" sz="2800" b="0" i="1" smtClean="0">
                            <a:latin typeface="Cambria Math" panose="02040503050406030204" pitchFamily="18" charset="0"/>
                          </a:rPr>
                          <m:t>𝐿</m:t>
                        </m:r>
                      </m:den>
                    </m:f>
                  </m:oMath>
                </a14:m>
                <a:endParaRPr lang="de-DE" sz="2800" dirty="0"/>
              </a:p>
              <a:p>
                <a:r>
                  <a:rPr lang="de-DE" sz="2800" dirty="0" err="1"/>
                  <a:t>for</a:t>
                </a:r>
                <a:r>
                  <a:rPr lang="de-DE" sz="2800" dirty="0"/>
                  <a:t> </a:t>
                </a:r>
                <a:r>
                  <a:rPr lang="de-DE" sz="2800" dirty="0" err="1"/>
                  <a:t>two</a:t>
                </a:r>
                <a:r>
                  <a:rPr lang="de-DE" sz="2800" dirty="0"/>
                  <a:t> </a:t>
                </a:r>
                <a:r>
                  <a:rPr lang="de-DE" sz="2800" dirty="0" err="1"/>
                  <a:t>inductors</a:t>
                </a:r>
                <a:r>
                  <a:rPr lang="de-DE" sz="2800" dirty="0"/>
                  <a:t>:		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de-DE" sz="28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de-DE" sz="2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de-DE" sz="2800" b="0" i="1" smtClean="0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de-DE" sz="28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de-DE" sz="2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de-DE" sz="2800" b="0" i="1" smtClean="0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de-DE" sz="28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den>
                    </m:f>
                    <m:r>
                      <a:rPr lang="de-DE" sz="2800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de-DE" sz="28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de-DE" sz="2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de-DE" sz="2800" b="0" i="1" smtClean="0">
                                <a:latin typeface="Cambria Math" panose="02040503050406030204" pitchFamily="18" charset="0"/>
                              </a:rPr>
                              <m:t>𝐿</m:t>
                            </m:r>
                          </m:e>
                          <m:sub>
                            <m:r>
                              <a:rPr lang="de-DE" sz="28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de-DE" sz="2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de-DE" sz="2800" b="0" i="1" smtClean="0">
                                <a:latin typeface="Cambria Math" panose="02040503050406030204" pitchFamily="18" charset="0"/>
                              </a:rPr>
                              <m:t>𝐿</m:t>
                            </m:r>
                          </m:e>
                          <m:sub>
                            <m:r>
                              <a:rPr lang="de-DE" sz="28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den>
                    </m:f>
                  </m:oMath>
                </a14:m>
                <a:endParaRPr lang="de-DE" sz="2800" dirty="0"/>
              </a:p>
            </p:txBody>
          </p:sp>
        </mc:Choice>
        <mc:Fallback>
          <p:sp>
            <p:nvSpPr>
              <p:cNvPr id="3" name="Textfeld 2">
                <a:extLst>
                  <a:ext uri="{FF2B5EF4-FFF2-40B4-BE49-F238E27FC236}">
                    <a16:creationId xmlns:a16="http://schemas.microsoft.com/office/drawing/2014/main" id="{D31E24EC-0C6D-88AD-7CAA-0BF347CDA0E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5487602"/>
                <a:ext cx="10197662" cy="1310359"/>
              </a:xfrm>
              <a:prstGeom prst="rect">
                <a:avLst/>
              </a:prstGeom>
              <a:blipFill>
                <a:blip r:embed="rId5"/>
                <a:stretch>
                  <a:fillRect l="-2242" t="-1923" b="-2885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45816969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5CB1F9-017C-26AC-37B1-DF502C5C57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9A71B57-B85B-CF6D-0A43-1143B4A613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Inductors</a:t>
            </a:r>
            <a:r>
              <a:rPr lang="de-DE" dirty="0"/>
              <a:t> in Parallel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412B3B34-6F81-A23F-BE20-EBEF296AC9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03FC7C-1F2C-4946-B702-1A52A755583B}" type="slidenum">
              <a:rPr lang="de-DE" smtClean="0"/>
              <a:t>36</a:t>
            </a:fld>
            <a:endParaRPr lang="de-DE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feld 6">
                <a:extLst>
                  <a:ext uri="{FF2B5EF4-FFF2-40B4-BE49-F238E27FC236}">
                    <a16:creationId xmlns:a16="http://schemas.microsoft.com/office/drawing/2014/main" id="{7DE25207-3A15-1B9F-9BA8-6CF9DAAE661B}"/>
                  </a:ext>
                </a:extLst>
              </p:cNvPr>
              <p:cNvSpPr txBox="1"/>
              <p:nvPr/>
            </p:nvSpPr>
            <p:spPr>
              <a:xfrm>
                <a:off x="4700753" y="2150867"/>
                <a:ext cx="5778061" cy="133446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15000"/>
                  </a:lnSpc>
                  <a:spcAft>
                    <a:spcPts val="10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2400" i="1" smtClean="0"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𝑖</m:t>
                      </m:r>
                      <m:r>
                        <a:rPr lang="de-DE" sz="2400" i="1" smtClean="0"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lang="de-DE" sz="2400" i="1"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de-DE" sz="2400" i="1"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1</m:t>
                          </m:r>
                        </m:num>
                        <m:den>
                          <m:sSub>
                            <m:sSubPr>
                              <m:ctrlPr>
                                <a:rPr lang="de-DE" sz="2400" i="1"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de-DE" sz="2400" i="1"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𝐿</m:t>
                              </m:r>
                            </m:e>
                            <m:sub>
                              <m:r>
                                <a:rPr lang="de-DE" sz="2400" i="1"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sub>
                          </m:sSub>
                        </m:den>
                      </m:f>
                      <m:nary>
                        <m:naryPr>
                          <m:limLoc m:val="undOvr"/>
                          <m:subHide m:val="on"/>
                          <m:supHide m:val="on"/>
                          <m:ctrlPr>
                            <a:rPr lang="de-DE" sz="2400" i="1"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naryPr>
                        <m:sub/>
                        <m:sup/>
                        <m:e>
                          <m:r>
                            <a:rPr lang="de-DE" sz="2400" b="0" i="1" smtClean="0"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𝑣</m:t>
                          </m:r>
                          <m:r>
                            <a:rPr lang="de-DE" sz="2400" i="1"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 </m:t>
                          </m:r>
                          <m:r>
                            <a:rPr lang="de-DE" sz="2400" i="1"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𝑑𝑡</m:t>
                          </m:r>
                        </m:e>
                      </m:nary>
                      <m:r>
                        <a:rPr lang="de-DE" sz="2400" i="1"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+</m:t>
                      </m:r>
                      <m:f>
                        <m:fPr>
                          <m:ctrlPr>
                            <a:rPr lang="de-DE" sz="2400" i="1"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de-DE" sz="2400" i="1"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1</m:t>
                          </m:r>
                        </m:num>
                        <m:den>
                          <m:sSub>
                            <m:sSubPr>
                              <m:ctrlPr>
                                <a:rPr lang="de-DE" sz="2400" i="1"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de-DE" sz="2400" i="1"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𝐿</m:t>
                              </m:r>
                            </m:e>
                            <m:sub>
                              <m:r>
                                <a:rPr lang="de-DE" sz="2400" i="1"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sub>
                          </m:sSub>
                        </m:den>
                      </m:f>
                      <m:nary>
                        <m:naryPr>
                          <m:limLoc m:val="undOvr"/>
                          <m:subHide m:val="on"/>
                          <m:supHide m:val="on"/>
                          <m:ctrlPr>
                            <a:rPr lang="de-DE" sz="2400" i="1"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naryPr>
                        <m:sub/>
                        <m:sup/>
                        <m:e>
                          <m:r>
                            <a:rPr lang="de-DE" sz="2400" b="0" i="1" smtClean="0"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𝑣</m:t>
                          </m:r>
                          <m:r>
                            <a:rPr lang="de-DE" sz="2400" i="1"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 </m:t>
                          </m:r>
                          <m:r>
                            <a:rPr lang="de-DE" sz="2400" i="1"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𝑑𝑡</m:t>
                          </m:r>
                        </m:e>
                      </m:nary>
                      <m:r>
                        <a:rPr lang="de-DE" sz="2400" i="1"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+</m:t>
                      </m:r>
                      <m:r>
                        <a:rPr lang="de-DE" sz="2400" i="1"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⋯+</m:t>
                      </m:r>
                      <m:f>
                        <m:fPr>
                          <m:ctrlPr>
                            <a:rPr lang="de-DE" sz="2400" i="1"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de-DE" sz="2400" i="1"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1</m:t>
                          </m:r>
                        </m:num>
                        <m:den>
                          <m:sSub>
                            <m:sSubPr>
                              <m:ctrlPr>
                                <a:rPr lang="de-DE" sz="2400" i="1"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de-DE" sz="2400" i="1"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𝐿</m:t>
                              </m:r>
                            </m:e>
                            <m:sub>
                              <m:r>
                                <a:rPr lang="de-DE" sz="2400" i="1"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𝑛</m:t>
                              </m:r>
                            </m:sub>
                          </m:sSub>
                        </m:den>
                      </m:f>
                      <m:nary>
                        <m:naryPr>
                          <m:limLoc m:val="undOvr"/>
                          <m:subHide m:val="on"/>
                          <m:supHide m:val="on"/>
                          <m:ctrlPr>
                            <a:rPr lang="de-DE" sz="2400" i="1"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naryPr>
                        <m:sub/>
                        <m:sup/>
                        <m:e>
                          <m:r>
                            <a:rPr lang="de-DE" sz="2400" b="0" i="1" smtClean="0"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𝑣</m:t>
                          </m:r>
                          <m:r>
                            <a:rPr lang="de-DE" sz="2400" i="1"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 </m:t>
                          </m:r>
                          <m:r>
                            <a:rPr lang="de-DE" sz="2400" i="1"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𝑑𝑡</m:t>
                          </m:r>
                        </m:e>
                      </m:nary>
                    </m:oMath>
                  </m:oMathPara>
                </a14:m>
                <a:endParaRPr lang="de-DE" sz="2400" dirty="0"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7" name="Textfeld 6">
                <a:extLst>
                  <a:ext uri="{FF2B5EF4-FFF2-40B4-BE49-F238E27FC236}">
                    <a16:creationId xmlns:a16="http://schemas.microsoft.com/office/drawing/2014/main" id="{7DE25207-3A15-1B9F-9BA8-6CF9DAAE661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00753" y="2150867"/>
                <a:ext cx="5778061" cy="1334468"/>
              </a:xfrm>
              <a:prstGeom prst="rect">
                <a:avLst/>
              </a:prstGeom>
              <a:blipFill>
                <a:blip r:embed="rId2"/>
                <a:stretch>
                  <a:fillRect l="-5263" t="-100943" r="-5263" b="-144340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feld 8">
                <a:extLst>
                  <a:ext uri="{FF2B5EF4-FFF2-40B4-BE49-F238E27FC236}">
                    <a16:creationId xmlns:a16="http://schemas.microsoft.com/office/drawing/2014/main" id="{A680173C-7FA5-44B8-C89E-2F9A1D46AFFD}"/>
                  </a:ext>
                </a:extLst>
              </p:cNvPr>
              <p:cNvSpPr txBox="1"/>
              <p:nvPr/>
            </p:nvSpPr>
            <p:spPr>
              <a:xfrm>
                <a:off x="3628691" y="3945515"/>
                <a:ext cx="4981909" cy="1268552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de-DE" sz="28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de-DE" sz="280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de-DE" sz="2800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den>
                      </m:f>
                      <m:r>
                        <a:rPr lang="de-DE" sz="280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de-DE" sz="28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de-DE" sz="280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sSub>
                            <m:sSubPr>
                              <m:ctrlPr>
                                <a:rPr lang="de-DE" sz="2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e-DE" sz="2800" i="1"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</m:e>
                            <m:sub>
                              <m:r>
                                <a:rPr lang="de-DE" sz="280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den>
                      </m:f>
                      <m:r>
                        <a:rPr lang="de-DE" sz="280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de-DE" sz="28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de-DE" sz="280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sSub>
                            <m:sSubPr>
                              <m:ctrlPr>
                                <a:rPr lang="de-DE" sz="2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e-DE" sz="2800" i="1"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</m:e>
                            <m:sub>
                              <m:r>
                                <a:rPr lang="de-DE" sz="280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den>
                      </m:f>
                      <m:r>
                        <a:rPr lang="de-DE" sz="2800">
                          <a:latin typeface="Cambria Math" panose="02040503050406030204" pitchFamily="18" charset="0"/>
                        </a:rPr>
                        <m:t>+⋯+</m:t>
                      </m:r>
                      <m:f>
                        <m:fPr>
                          <m:ctrlPr>
                            <a:rPr lang="de-DE" sz="28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de-DE" sz="280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sSub>
                            <m:sSubPr>
                              <m:ctrlPr>
                                <a:rPr lang="de-DE" sz="2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e-DE" sz="2800" i="1"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</m:e>
                            <m:sub>
                              <m:r>
                                <a:rPr lang="de-DE" sz="280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</m:den>
                      </m:f>
                      <m:r>
                        <a:rPr lang="de-DE" sz="2800" i="1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limLoc m:val="undOvr"/>
                          <m:ctrlPr>
                            <a:rPr lang="de-DE" sz="28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/>
                            </m:rPr>
                            <a:rPr lang="de-DE" sz="28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de-DE" sz="2800" i="1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de-DE" sz="2800" i="1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f>
                            <m:fPr>
                              <m:ctrlPr>
                                <a:rPr lang="de-DE" sz="28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de-DE" sz="28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sSub>
                                <m:sSubPr>
                                  <m:ctrlPr>
                                    <a:rPr lang="de-DE" sz="28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de-DE" sz="2800" b="0" i="1" smtClean="0">
                                      <a:latin typeface="Cambria Math" panose="02040503050406030204" pitchFamily="18" charset="0"/>
                                    </a:rPr>
                                    <m:t>𝐿</m:t>
                                  </m:r>
                                </m:e>
                                <m:sub>
                                  <m:r>
                                    <a:rPr lang="de-DE" sz="2800" b="0" i="1" smtClean="0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sub>
                              </m:sSub>
                            </m:den>
                          </m:f>
                        </m:e>
                      </m:nary>
                    </m:oMath>
                  </m:oMathPara>
                </a14:m>
                <a:endParaRPr lang="de-DE" sz="2800" dirty="0"/>
              </a:p>
            </p:txBody>
          </p:sp>
        </mc:Choice>
        <mc:Fallback>
          <p:sp>
            <p:nvSpPr>
              <p:cNvPr id="9" name="Textfeld 8">
                <a:extLst>
                  <a:ext uri="{FF2B5EF4-FFF2-40B4-BE49-F238E27FC236}">
                    <a16:creationId xmlns:a16="http://schemas.microsoft.com/office/drawing/2014/main" id="{A680173C-7FA5-44B8-C89E-2F9A1D46AFF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28691" y="3945515"/>
                <a:ext cx="4981909" cy="1268552"/>
              </a:xfrm>
              <a:prstGeom prst="rect">
                <a:avLst/>
              </a:prstGeom>
              <a:blipFill>
                <a:blip r:embed="rId3"/>
                <a:stretch>
                  <a:fillRect t="-105941" r="-5838" b="-162376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Inhaltsplatzhalter 4">
            <a:extLst>
              <a:ext uri="{FF2B5EF4-FFF2-40B4-BE49-F238E27FC236}">
                <a16:creationId xmlns:a16="http://schemas.microsoft.com/office/drawing/2014/main" id="{CB41C26C-D7CE-F5A3-8FB2-D1F2CE870C1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7485" y="1704438"/>
            <a:ext cx="2791206" cy="2227326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feld 5">
                <a:extLst>
                  <a:ext uri="{FF2B5EF4-FFF2-40B4-BE49-F238E27FC236}">
                    <a16:creationId xmlns:a16="http://schemas.microsoft.com/office/drawing/2014/main" id="{2DA33CCC-1C65-C227-1610-0F8566D9F663}"/>
                  </a:ext>
                </a:extLst>
              </p:cNvPr>
              <p:cNvSpPr txBox="1"/>
              <p:nvPr/>
            </p:nvSpPr>
            <p:spPr>
              <a:xfrm>
                <a:off x="520261" y="5829937"/>
                <a:ext cx="10957035" cy="65088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r>
                  <a:rPr lang="de-DE" sz="2600" dirty="0"/>
                  <a:t>for </a:t>
                </a:r>
                <a:r>
                  <a:rPr lang="de-DE" sz="2600" dirty="0" err="1"/>
                  <a:t>two</a:t>
                </a:r>
                <a:r>
                  <a:rPr lang="de-DE" sz="2600" dirty="0"/>
                  <a:t> </a:t>
                </a:r>
                <a:r>
                  <a:rPr lang="de-DE" sz="2600" dirty="0" err="1"/>
                  <a:t>inductors</a:t>
                </a:r>
                <a:r>
                  <a:rPr lang="de-DE" sz="2600" dirty="0"/>
                  <a:t>:	</a:t>
                </a:r>
                <a14:m>
                  <m:oMath xmlns:m="http://schemas.openxmlformats.org/officeDocument/2006/math">
                    <m:r>
                      <a:rPr lang="de-DE" sz="2600" b="0" i="1" smtClean="0">
                        <a:latin typeface="Cambria Math" panose="02040503050406030204" pitchFamily="18" charset="0"/>
                      </a:rPr>
                      <m:t>𝐿</m:t>
                    </m:r>
                    <m:r>
                      <a:rPr lang="de-DE" sz="2600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de-DE" sz="26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de-DE" sz="26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de-DE" sz="2600" b="0" i="1" smtClean="0">
                                <a:latin typeface="Cambria Math" panose="02040503050406030204" pitchFamily="18" charset="0"/>
                              </a:rPr>
                              <m:t>𝐿</m:t>
                            </m:r>
                          </m:e>
                          <m:sub>
                            <m:r>
                              <a:rPr lang="de-DE" sz="26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sSub>
                          <m:sSubPr>
                            <m:ctrlPr>
                              <a:rPr lang="de-DE" sz="26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de-DE" sz="2600" b="0" i="1" smtClean="0">
                                <a:latin typeface="Cambria Math" panose="02040503050406030204" pitchFamily="18" charset="0"/>
                              </a:rPr>
                              <m:t>𝐿</m:t>
                            </m:r>
                          </m:e>
                          <m:sub>
                            <m:r>
                              <a:rPr lang="de-DE" sz="26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de-DE" sz="26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de-DE" sz="2600" b="0" i="1" smtClean="0">
                                <a:latin typeface="Cambria Math" panose="02040503050406030204" pitchFamily="18" charset="0"/>
                              </a:rPr>
                              <m:t>𝐿</m:t>
                            </m:r>
                          </m:e>
                          <m:sub>
                            <m:r>
                              <a:rPr lang="de-DE" sz="26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de-DE" sz="2600" i="1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de-DE" sz="26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de-DE" sz="2600" b="0" i="1" smtClean="0">
                                <a:latin typeface="Cambria Math" panose="02040503050406030204" pitchFamily="18" charset="0"/>
                              </a:rPr>
                              <m:t>𝐿</m:t>
                            </m:r>
                          </m:e>
                          <m:sub>
                            <m:r>
                              <a:rPr lang="de-DE" sz="26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den>
                    </m:f>
                    <m:r>
                      <a:rPr lang="de-DE" sz="2600" b="0" i="1" smtClean="0">
                        <a:latin typeface="Cambria Math" panose="02040503050406030204" pitchFamily="18" charset="0"/>
                      </a:rPr>
                      <m:t>;     </m:t>
                    </m:r>
                    <m:f>
                      <m:fPr>
                        <m:ctrlPr>
                          <a:rPr lang="de-DE" sz="26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de-DE" sz="26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de-DE" sz="26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e>
                          <m:sub>
                            <m:r>
                              <a:rPr lang="de-DE" sz="26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de-DE" sz="26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de-DE" sz="26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e>
                          <m:sub>
                            <m:r>
                              <a:rPr lang="de-DE" sz="26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den>
                    </m:f>
                    <m:r>
                      <a:rPr lang="de-DE" sz="2600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de-DE" sz="26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de-DE" sz="26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de-DE" sz="2600" b="0" i="1" smtClean="0">
                                <a:latin typeface="Cambria Math" panose="02040503050406030204" pitchFamily="18" charset="0"/>
                              </a:rPr>
                              <m:t>𝐿</m:t>
                            </m:r>
                          </m:e>
                          <m:sub>
                            <m:r>
                              <a:rPr lang="de-DE" sz="26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de-DE" sz="26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de-DE" sz="2600" b="0" i="1" smtClean="0">
                                <a:latin typeface="Cambria Math" panose="02040503050406030204" pitchFamily="18" charset="0"/>
                              </a:rPr>
                              <m:t>𝐿</m:t>
                            </m:r>
                          </m:e>
                          <m:sub>
                            <m:r>
                              <a:rPr lang="de-DE" sz="26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den>
                    </m:f>
                    <m:r>
                      <a:rPr lang="de-DE" sz="2600" i="1">
                        <a:latin typeface="Cambria Math" panose="02040503050406030204" pitchFamily="18" charset="0"/>
                      </a:rPr>
                      <m:t>;    </m:t>
                    </m:r>
                    <m:sSub>
                      <m:sSubPr>
                        <m:ctrlPr>
                          <a:rPr lang="de-DE" sz="2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sz="26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  <m:sub>
                        <m:r>
                          <a:rPr lang="de-DE" sz="26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de-DE" sz="26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de-DE" sz="2600" b="0" i="1" smtClean="0">
                        <a:latin typeface="Cambria Math" panose="02040503050406030204" pitchFamily="18" charset="0"/>
                      </a:rPr>
                      <m:t>𝑖</m:t>
                    </m:r>
                    <m:f>
                      <m:fPr>
                        <m:ctrlPr>
                          <a:rPr lang="de-DE" sz="26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de-DE" sz="26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de-DE" sz="2600" b="0" i="1" smtClean="0">
                                <a:latin typeface="Cambria Math" panose="02040503050406030204" pitchFamily="18" charset="0"/>
                              </a:rPr>
                              <m:t>𝐿</m:t>
                            </m:r>
                          </m:e>
                          <m:sub>
                            <m:r>
                              <a:rPr lang="de-DE" sz="26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de-DE" sz="26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de-DE" sz="2600" b="0" i="1" smtClean="0">
                                <a:latin typeface="Cambria Math" panose="02040503050406030204" pitchFamily="18" charset="0"/>
                              </a:rPr>
                              <m:t>𝐿</m:t>
                            </m:r>
                          </m:e>
                          <m:sub>
                            <m:r>
                              <a:rPr lang="de-DE" sz="26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de-DE" sz="2600" i="1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de-DE" sz="26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de-DE" sz="2600" b="0" i="1" smtClean="0">
                                <a:latin typeface="Cambria Math" panose="02040503050406030204" pitchFamily="18" charset="0"/>
                              </a:rPr>
                              <m:t>𝐿</m:t>
                            </m:r>
                          </m:e>
                          <m:sub>
                            <m:r>
                              <a:rPr lang="de-DE" sz="26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den>
                    </m:f>
                  </m:oMath>
                </a14:m>
                <a:r>
                  <a:rPr lang="de-DE" sz="2600" dirty="0"/>
                  <a:t>   (</a:t>
                </a:r>
                <a:r>
                  <a:rPr lang="de-DE" sz="2600" dirty="0" err="1"/>
                  <a:t>current</a:t>
                </a:r>
                <a:r>
                  <a:rPr lang="de-DE" sz="2600" dirty="0"/>
                  <a:t> divider rule)</a:t>
                </a:r>
              </a:p>
            </p:txBody>
          </p:sp>
        </mc:Choice>
        <mc:Fallback>
          <p:sp>
            <p:nvSpPr>
              <p:cNvPr id="6" name="Textfeld 5">
                <a:extLst>
                  <a:ext uri="{FF2B5EF4-FFF2-40B4-BE49-F238E27FC236}">
                    <a16:creationId xmlns:a16="http://schemas.microsoft.com/office/drawing/2014/main" id="{2DA33CCC-1C65-C227-1610-0F8566D9F66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0261" y="5829937"/>
                <a:ext cx="10957035" cy="650884"/>
              </a:xfrm>
              <a:prstGeom prst="rect">
                <a:avLst/>
              </a:prstGeom>
              <a:blipFill>
                <a:blip r:embed="rId5"/>
                <a:stretch>
                  <a:fillRect l="-1736" b="-5660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661686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3554E52-AF5E-3BB4-DFEF-B7C6018534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Transformer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A34CD589-376D-CC8C-E676-B3284089A3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463862" cy="4351338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de-DE" dirty="0" err="1"/>
              <a:t>transfers</a:t>
            </a:r>
            <a:r>
              <a:rPr lang="de-DE" dirty="0"/>
              <a:t> </a:t>
            </a:r>
            <a:r>
              <a:rPr lang="de-DE" dirty="0" err="1"/>
              <a:t>electrical</a:t>
            </a:r>
            <a:r>
              <a:rPr lang="de-DE" dirty="0"/>
              <a:t> </a:t>
            </a:r>
            <a:r>
              <a:rPr lang="de-DE" dirty="0" err="1"/>
              <a:t>energy</a:t>
            </a:r>
            <a:r>
              <a:rPr lang="de-DE" dirty="0"/>
              <a:t> </a:t>
            </a:r>
            <a:r>
              <a:rPr lang="de-DE" dirty="0" err="1"/>
              <a:t>from</a:t>
            </a:r>
            <a:r>
              <a:rPr lang="de-DE" dirty="0"/>
              <a:t> </a:t>
            </a:r>
            <a:r>
              <a:rPr lang="de-DE" dirty="0" err="1"/>
              <a:t>one</a:t>
            </a:r>
            <a:r>
              <a:rPr lang="de-DE" dirty="0"/>
              <a:t> </a:t>
            </a:r>
            <a:r>
              <a:rPr lang="de-DE" dirty="0" err="1"/>
              <a:t>circuit</a:t>
            </a:r>
            <a:r>
              <a:rPr lang="de-DE" dirty="0"/>
              <a:t> </a:t>
            </a:r>
            <a:r>
              <a:rPr lang="de-DE" dirty="0" err="1"/>
              <a:t>into</a:t>
            </a:r>
            <a:r>
              <a:rPr lang="de-DE" dirty="0"/>
              <a:t> </a:t>
            </a:r>
            <a:r>
              <a:rPr lang="de-DE" dirty="0" err="1"/>
              <a:t>another</a:t>
            </a:r>
            <a:endParaRPr lang="de-DE" dirty="0"/>
          </a:p>
          <a:p>
            <a:pPr marL="0" indent="0">
              <a:buNone/>
            </a:pPr>
            <a:endParaRPr lang="de-DE" dirty="0"/>
          </a:p>
          <a:p>
            <a:pPr marL="0" indent="0">
              <a:buNone/>
            </a:pPr>
            <a:r>
              <a:rPr lang="de-DE" dirty="0" err="1"/>
              <a:t>works</a:t>
            </a:r>
            <a:r>
              <a:rPr lang="de-DE" dirty="0"/>
              <a:t> </a:t>
            </a:r>
            <a:r>
              <a:rPr lang="de-DE" dirty="0" err="1"/>
              <a:t>through</a:t>
            </a:r>
            <a:r>
              <a:rPr lang="de-DE" dirty="0"/>
              <a:t> </a:t>
            </a:r>
            <a:r>
              <a:rPr lang="de-DE" dirty="0" err="1"/>
              <a:t>electromagnetic</a:t>
            </a:r>
            <a:r>
              <a:rPr lang="de-DE" dirty="0"/>
              <a:t> </a:t>
            </a:r>
            <a:r>
              <a:rPr lang="de-DE" dirty="0" err="1"/>
              <a:t>induction</a:t>
            </a:r>
            <a:r>
              <a:rPr lang="de-DE" dirty="0"/>
              <a:t> </a:t>
            </a:r>
            <a:r>
              <a:rPr lang="de-DE" dirty="0" err="1"/>
              <a:t>between</a:t>
            </a:r>
            <a:r>
              <a:rPr lang="de-DE" dirty="0"/>
              <a:t> </a:t>
            </a:r>
            <a:r>
              <a:rPr lang="de-DE" dirty="0" err="1"/>
              <a:t>two</a:t>
            </a:r>
            <a:r>
              <a:rPr lang="de-DE" dirty="0"/>
              <a:t> </a:t>
            </a:r>
            <a:r>
              <a:rPr lang="de-DE" dirty="0" err="1"/>
              <a:t>coils</a:t>
            </a:r>
            <a:endParaRPr lang="de-DE" dirty="0"/>
          </a:p>
          <a:p>
            <a:pPr marL="0" indent="0">
              <a:buNone/>
            </a:pPr>
            <a:endParaRPr lang="de-DE" dirty="0"/>
          </a:p>
          <a:p>
            <a:pPr marL="0" indent="0">
              <a:buNone/>
            </a:pPr>
            <a:r>
              <a:rPr lang="de-DE" dirty="0" err="1"/>
              <a:t>coils</a:t>
            </a:r>
            <a:r>
              <a:rPr lang="de-DE" dirty="0"/>
              <a:t> </a:t>
            </a:r>
            <a:r>
              <a:rPr lang="de-DE" dirty="0" err="1"/>
              <a:t>magnetically</a:t>
            </a:r>
            <a:r>
              <a:rPr lang="de-DE" dirty="0"/>
              <a:t> </a:t>
            </a:r>
            <a:r>
              <a:rPr lang="de-DE" dirty="0" err="1"/>
              <a:t>coupled</a:t>
            </a:r>
            <a:r>
              <a:rPr lang="de-DE" dirty="0"/>
              <a:t> via a </a:t>
            </a:r>
            <a:r>
              <a:rPr lang="de-DE" dirty="0" err="1"/>
              <a:t>common</a:t>
            </a:r>
            <a:r>
              <a:rPr lang="de-DE" dirty="0"/>
              <a:t> </a:t>
            </a:r>
            <a:r>
              <a:rPr lang="de-DE" dirty="0" err="1"/>
              <a:t>core</a:t>
            </a:r>
            <a:r>
              <a:rPr lang="de-DE" dirty="0"/>
              <a:t> (</a:t>
            </a:r>
            <a:r>
              <a:rPr lang="de-DE" dirty="0" err="1"/>
              <a:t>shared</a:t>
            </a:r>
            <a:r>
              <a:rPr lang="de-DE" dirty="0"/>
              <a:t> </a:t>
            </a:r>
            <a:r>
              <a:rPr lang="de-DE" dirty="0" err="1"/>
              <a:t>magnetic</a:t>
            </a:r>
            <a:r>
              <a:rPr lang="de-DE" dirty="0"/>
              <a:t> </a:t>
            </a:r>
            <a:r>
              <a:rPr lang="de-DE" dirty="0" err="1"/>
              <a:t>flux</a:t>
            </a:r>
            <a:r>
              <a:rPr lang="de-DE" dirty="0"/>
              <a:t>), </a:t>
            </a:r>
            <a:r>
              <a:rPr lang="de-DE" dirty="0" err="1"/>
              <a:t>without</a:t>
            </a:r>
            <a:r>
              <a:rPr lang="de-DE" dirty="0"/>
              <a:t> </a:t>
            </a:r>
            <a:r>
              <a:rPr lang="de-DE" dirty="0" err="1"/>
              <a:t>any</a:t>
            </a:r>
            <a:r>
              <a:rPr lang="de-DE" dirty="0"/>
              <a:t> </a:t>
            </a:r>
            <a:r>
              <a:rPr lang="de-DE" dirty="0" err="1"/>
              <a:t>direct</a:t>
            </a:r>
            <a:r>
              <a:rPr lang="de-DE" dirty="0"/>
              <a:t> </a:t>
            </a:r>
            <a:r>
              <a:rPr lang="de-DE" dirty="0" err="1"/>
              <a:t>conductive</a:t>
            </a:r>
            <a:r>
              <a:rPr lang="de-DE" dirty="0"/>
              <a:t> </a:t>
            </a:r>
            <a:r>
              <a:rPr lang="de-DE" dirty="0" err="1"/>
              <a:t>connection</a:t>
            </a:r>
            <a:endParaRPr lang="de-DE" dirty="0"/>
          </a:p>
          <a:p>
            <a:pPr marL="0" indent="0">
              <a:buNone/>
            </a:pPr>
            <a:endParaRPr lang="de-DE" dirty="0"/>
          </a:p>
          <a:p>
            <a:pPr marL="0" indent="0">
              <a:buNone/>
            </a:pPr>
            <a:r>
              <a:rPr lang="de-DE" dirty="0"/>
              <a:t>essential </a:t>
            </a:r>
            <a:r>
              <a:rPr lang="de-DE" dirty="0" err="1"/>
              <a:t>for</a:t>
            </a:r>
            <a:r>
              <a:rPr lang="de-DE" dirty="0"/>
              <a:t> </a:t>
            </a:r>
            <a:r>
              <a:rPr lang="de-DE" dirty="0" err="1"/>
              <a:t>transmission</a:t>
            </a:r>
            <a:r>
              <a:rPr lang="de-DE" dirty="0"/>
              <a:t>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electric</a:t>
            </a:r>
            <a:r>
              <a:rPr lang="de-DE" dirty="0"/>
              <a:t> power (in </a:t>
            </a:r>
            <a:r>
              <a:rPr lang="de-DE" dirty="0" err="1"/>
              <a:t>the</a:t>
            </a:r>
            <a:r>
              <a:rPr lang="de-DE" dirty="0"/>
              <a:t> form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alternating</a:t>
            </a:r>
            <a:r>
              <a:rPr lang="de-DE" dirty="0"/>
              <a:t> </a:t>
            </a:r>
            <a:r>
              <a:rPr lang="de-DE" dirty="0" err="1"/>
              <a:t>current</a:t>
            </a:r>
            <a:r>
              <a:rPr lang="de-DE" dirty="0"/>
              <a:t>)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48DF4388-22F3-016F-A6B4-6BB3D46328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03FC7C-1F2C-4946-B702-1A52A755583B}" type="slidenum">
              <a:rPr lang="de-DE" smtClean="0"/>
              <a:t>37</a:t>
            </a:fld>
            <a:endParaRPr lang="de-DE"/>
          </a:p>
        </p:txBody>
      </p:sp>
      <p:pic>
        <p:nvPicPr>
          <p:cNvPr id="8" name="Grafik 7" descr="Ein Bild, das Stromversorgung, Elektrische Leitungen, Kabel enthält.&#10;&#10;KI-generierte Inhalte können fehlerhaft sein.">
            <a:extLst>
              <a:ext uri="{FF2B5EF4-FFF2-40B4-BE49-F238E27FC236}">
                <a16:creationId xmlns:a16="http://schemas.microsoft.com/office/drawing/2014/main" id="{B3A82F11-943A-A451-685E-72058B7C54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02062" y="2125225"/>
            <a:ext cx="4051738" cy="4051738"/>
          </a:xfrm>
          <a:prstGeom prst="rect">
            <a:avLst/>
          </a:prstGeom>
        </p:spPr>
      </p:pic>
      <p:pic>
        <p:nvPicPr>
          <p:cNvPr id="10" name="Grafik 9">
            <a:extLst>
              <a:ext uri="{FF2B5EF4-FFF2-40B4-BE49-F238E27FC236}">
                <a16:creationId xmlns:a16="http://schemas.microsoft.com/office/drawing/2014/main" id="{8D8D78EE-B7FE-971A-D996-1354B68DFD6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029629" y="447920"/>
            <a:ext cx="1161941" cy="11619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8447817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fik 5">
            <a:extLst>
              <a:ext uri="{FF2B5EF4-FFF2-40B4-BE49-F238E27FC236}">
                <a16:creationId xmlns:a16="http://schemas.microsoft.com/office/drawing/2014/main" id="{9F65B3ED-9B26-347C-540C-16789B6005E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337854" y="3429000"/>
            <a:ext cx="4015946" cy="3212757"/>
          </a:xfrm>
          <a:prstGeom prst="rect">
            <a:avLst/>
          </a:prstGeom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C27DB9B7-4BE1-7667-65E7-E151990FC1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Ideal Transformer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Inhaltsplatzhalter 2">
                <a:extLst>
                  <a:ext uri="{FF2B5EF4-FFF2-40B4-BE49-F238E27FC236}">
                    <a16:creationId xmlns:a16="http://schemas.microsoft.com/office/drawing/2014/main" id="{B1650E5E-F32B-E5BC-72BA-5147FD6DC02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6737131" cy="4351338"/>
              </a:xfrm>
            </p:spPr>
            <p:txBody>
              <a:bodyPr>
                <a:normAutofit fontScale="92500" lnSpcReduction="10000"/>
              </a:bodyPr>
              <a:lstStyle/>
              <a:p>
                <a:pPr marL="0" indent="0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de-DE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</m:sub>
                    </m:sSub>
                    <m:r>
                      <a:rPr lang="de-DE" b="0" i="1" smtClean="0">
                        <a:latin typeface="Cambria Math" panose="02040503050406030204" pitchFamily="18" charset="0"/>
                      </a:rPr>
                      <m:t>=−</m:t>
                    </m:r>
                    <m:sSub>
                      <m:sSubPr>
                        <m:ctrlPr>
                          <a:rPr lang="de-DE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</m:sub>
                    </m:sSub>
                    <m:f>
                      <m:fPr>
                        <m:ctrlPr>
                          <a:rPr lang="de-DE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ⅆ</m:t>
                        </m:r>
                        <m:r>
                          <m:rPr>
                            <m:sty m:val="p"/>
                          </m:rPr>
                          <a:rPr lang="el-G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Φ</m:t>
                        </m:r>
                      </m:num>
                      <m:den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ⅆ</m:t>
                        </m:r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den>
                    </m:f>
                  </m:oMath>
                </a14:m>
                <a:r>
                  <a:rPr lang="de-DE" dirty="0"/>
                  <a:t>      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D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i="1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</m:sub>
                    </m:sSub>
                    <m:r>
                      <a:rPr lang="de-DE" i="1">
                        <a:latin typeface="Cambria Math" panose="02040503050406030204" pitchFamily="18" charset="0"/>
                      </a:rPr>
                      <m:t>=−</m:t>
                    </m:r>
                    <m:sSub>
                      <m:sSubPr>
                        <m:ctrlPr>
                          <a:rPr lang="de-D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i="1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</m:sub>
                    </m:sSub>
                    <m:f>
                      <m:fPr>
                        <m:ctrlPr>
                          <a:rPr lang="de-DE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de-DE" i="1">
                            <a:latin typeface="Cambria Math" panose="02040503050406030204" pitchFamily="18" charset="0"/>
                          </a:rPr>
                          <m:t>ⅆ</m:t>
                        </m:r>
                        <m:r>
                          <m:rPr>
                            <m:sty m:val="p"/>
                          </m:rPr>
                          <a:rPr lang="el-G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Φ</m:t>
                        </m:r>
                      </m:num>
                      <m:den>
                        <m:r>
                          <a:rPr lang="de-DE" i="1">
                            <a:latin typeface="Cambria Math" panose="02040503050406030204" pitchFamily="18" charset="0"/>
                          </a:rPr>
                          <m:t>ⅆ</m:t>
                        </m:r>
                        <m:r>
                          <a:rPr lang="de-DE" i="1">
                            <a:latin typeface="Cambria Math" panose="02040503050406030204" pitchFamily="18" charset="0"/>
                          </a:rPr>
                          <m:t>𝑡</m:t>
                        </m:r>
                      </m:den>
                    </m:f>
                  </m:oMath>
                </a14:m>
                <a:endParaRPr lang="de-DE" dirty="0"/>
              </a:p>
              <a:p>
                <a:pPr marL="0" indent="0">
                  <a:buNone/>
                </a:pPr>
                <a:endParaRPr lang="de-DE" dirty="0"/>
              </a:p>
              <a:p>
                <a:pPr marL="0" indent="0">
                  <a:buNone/>
                </a:pPr>
                <a:r>
                  <a:rPr lang="de-DE" dirty="0">
                    <a:sym typeface="Wingdings" pitchFamily="2" charset="2"/>
                  </a:rPr>
                  <a:t>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de-DE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de-DE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de-DE" b="0" i="1" smtClean="0">
                                <a:latin typeface="Cambria Math" panose="02040503050406030204" pitchFamily="18" charset="0"/>
                              </a:rPr>
                              <m:t>𝑉</m:t>
                            </m:r>
                          </m:e>
                          <m:sub>
                            <m:r>
                              <a:rPr lang="de-DE" b="0" i="1" smtClean="0">
                                <a:latin typeface="Cambria Math" panose="02040503050406030204" pitchFamily="18" charset="0"/>
                              </a:rPr>
                              <m:t>𝑃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de-DE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de-DE" b="0" i="1" smtClean="0">
                                <a:latin typeface="Cambria Math" panose="02040503050406030204" pitchFamily="18" charset="0"/>
                              </a:rPr>
                              <m:t>𝑉</m:t>
                            </m:r>
                          </m:e>
                          <m:sub>
                            <m:r>
                              <a:rPr lang="de-DE" b="0" i="1" smtClean="0">
                                <a:latin typeface="Cambria Math" panose="02040503050406030204" pitchFamily="18" charset="0"/>
                              </a:rPr>
                              <m:t>𝑆</m:t>
                            </m:r>
                          </m:sub>
                        </m:sSub>
                      </m:den>
                    </m:f>
                    <m:r>
                      <a:rPr lang="de-DE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de-DE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de-DE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de-DE" b="0" i="1" smtClean="0">
                                <a:latin typeface="Cambria Math" panose="02040503050406030204" pitchFamily="18" charset="0"/>
                              </a:rPr>
                              <m:t>𝑁</m:t>
                            </m:r>
                          </m:e>
                          <m:sub>
                            <m:r>
                              <a:rPr lang="de-DE" b="0" i="1" smtClean="0">
                                <a:latin typeface="Cambria Math" panose="02040503050406030204" pitchFamily="18" charset="0"/>
                              </a:rPr>
                              <m:t>𝑃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de-DE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de-DE" b="0" i="1" smtClean="0">
                                <a:latin typeface="Cambria Math" panose="02040503050406030204" pitchFamily="18" charset="0"/>
                              </a:rPr>
                              <m:t>𝑁</m:t>
                            </m:r>
                          </m:e>
                          <m:sub>
                            <m:r>
                              <a:rPr lang="de-DE" b="0" i="1" smtClean="0">
                                <a:latin typeface="Cambria Math" panose="02040503050406030204" pitchFamily="18" charset="0"/>
                              </a:rPr>
                              <m:t>𝑆</m:t>
                            </m:r>
                          </m:sub>
                        </m:sSub>
                      </m:den>
                    </m:f>
                    <m:r>
                      <a:rPr lang="de-DE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de-DE" b="0" i="1" smtClean="0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endParaRPr lang="de-DE" dirty="0"/>
              </a:p>
              <a:p>
                <a:pPr marL="0" indent="0">
                  <a:buNone/>
                </a:pPr>
                <a:endParaRPr lang="de-DE" dirty="0"/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de-DE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de-DE" b="0" i="1" smtClean="0">
                        <a:latin typeface="Cambria Math" panose="02040503050406030204" pitchFamily="18" charset="0"/>
                      </a:rPr>
                      <m:t>&gt;1</m:t>
                    </m:r>
                  </m:oMath>
                </a14:m>
                <a:r>
                  <a:rPr lang="de-DE" dirty="0"/>
                  <a:t>: </a:t>
                </a:r>
                <a:r>
                  <a:rPr lang="de-DE" dirty="0" err="1"/>
                  <a:t>step</a:t>
                </a:r>
                <a:r>
                  <a:rPr lang="de-DE" dirty="0"/>
                  <a:t>-down </a:t>
                </a:r>
                <a:r>
                  <a:rPr lang="de-DE" dirty="0" err="1"/>
                  <a:t>transformer</a:t>
                </a:r>
                <a:endParaRPr lang="de-DE" dirty="0"/>
              </a:p>
              <a:p>
                <a:pPr marL="0" indent="0">
                  <a:buNone/>
                </a:pPr>
                <a:endParaRPr lang="de-DE" dirty="0"/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de-DE" i="1">
                        <a:latin typeface="Cambria Math" panose="02040503050406030204" pitchFamily="18" charset="0"/>
                      </a:rPr>
                      <m:t>𝑎</m:t>
                    </m:r>
                    <m:r>
                      <a:rPr lang="de-DE" b="0" i="1" smtClean="0">
                        <a:latin typeface="Cambria Math" panose="02040503050406030204" pitchFamily="18" charset="0"/>
                      </a:rPr>
                      <m:t>&lt;</m:t>
                    </m:r>
                    <m:r>
                      <a:rPr lang="de-DE" i="1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de-DE" dirty="0"/>
                  <a:t>: </a:t>
                </a:r>
                <a:r>
                  <a:rPr lang="de-DE" dirty="0" err="1"/>
                  <a:t>step-up</a:t>
                </a:r>
                <a:r>
                  <a:rPr lang="de-DE" dirty="0"/>
                  <a:t> </a:t>
                </a:r>
                <a:r>
                  <a:rPr lang="de-DE" dirty="0" err="1"/>
                  <a:t>transformer</a:t>
                </a:r>
                <a:endParaRPr lang="de-DE" dirty="0"/>
              </a:p>
              <a:p>
                <a:pPr marL="0" indent="0">
                  <a:buNone/>
                </a:pPr>
                <a:r>
                  <a:rPr lang="de-DE" dirty="0" err="1"/>
                  <a:t>higher</a:t>
                </a:r>
                <a:r>
                  <a:rPr lang="de-DE" dirty="0"/>
                  <a:t> </a:t>
                </a:r>
                <a:r>
                  <a:rPr lang="de-DE" dirty="0" err="1"/>
                  <a:t>voltage</a:t>
                </a:r>
                <a:r>
                  <a:rPr lang="de-DE" dirty="0"/>
                  <a:t> </a:t>
                </a:r>
                <a:r>
                  <a:rPr lang="de-DE" dirty="0">
                    <a:sym typeface="Wingdings" pitchFamily="2" charset="2"/>
                  </a:rPr>
                  <a:t> </a:t>
                </a:r>
                <a:r>
                  <a:rPr lang="de-DE" dirty="0" err="1">
                    <a:sym typeface="Wingdings" pitchFamily="2" charset="2"/>
                  </a:rPr>
                  <a:t>less</a:t>
                </a:r>
                <a:r>
                  <a:rPr lang="de-DE" dirty="0">
                    <a:sym typeface="Wingdings" pitchFamily="2" charset="2"/>
                  </a:rPr>
                  <a:t> </a:t>
                </a:r>
                <a:r>
                  <a:rPr lang="de-DE" dirty="0" err="1">
                    <a:sym typeface="Wingdings" pitchFamily="2" charset="2"/>
                  </a:rPr>
                  <a:t>heat</a:t>
                </a:r>
                <a:r>
                  <a:rPr lang="de-DE" dirty="0">
                    <a:sym typeface="Wingdings" pitchFamily="2" charset="2"/>
                  </a:rPr>
                  <a:t> </a:t>
                </a:r>
                <a:r>
                  <a:rPr lang="de-DE" dirty="0" err="1">
                    <a:sym typeface="Wingdings" pitchFamily="2" charset="2"/>
                  </a:rPr>
                  <a:t>loss</a:t>
                </a:r>
                <a:r>
                  <a:rPr lang="de-DE" dirty="0">
                    <a:sym typeface="Wingdings" pitchFamily="2" charset="2"/>
                  </a:rPr>
                  <a:t> </a:t>
                </a:r>
                <a:r>
                  <a:rPr lang="de-DE" dirty="0" err="1">
                    <a:sym typeface="Wingdings" pitchFamily="2" charset="2"/>
                  </a:rPr>
                  <a:t>during</a:t>
                </a:r>
                <a:r>
                  <a:rPr lang="de-DE" dirty="0">
                    <a:sym typeface="Wingdings" pitchFamily="2" charset="2"/>
                  </a:rPr>
                  <a:t> </a:t>
                </a:r>
                <a:r>
                  <a:rPr lang="de-DE" dirty="0" err="1">
                    <a:sym typeface="Wingdings" pitchFamily="2" charset="2"/>
                  </a:rPr>
                  <a:t>energy</a:t>
                </a:r>
                <a:r>
                  <a:rPr lang="de-DE" dirty="0">
                    <a:sym typeface="Wingdings" pitchFamily="2" charset="2"/>
                  </a:rPr>
                  <a:t> </a:t>
                </a:r>
                <a:r>
                  <a:rPr lang="de-DE" dirty="0" err="1">
                    <a:sym typeface="Wingdings" pitchFamily="2" charset="2"/>
                  </a:rPr>
                  <a:t>transfer</a:t>
                </a:r>
                <a:r>
                  <a:rPr lang="de-DE" dirty="0">
                    <a:sym typeface="Wingdings" pitchFamily="2" charset="2"/>
                  </a:rPr>
                  <a:t>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DE" b="0" i="1" smtClean="0">
                            <a:latin typeface="Cambria Math" panose="02040503050406030204" pitchFamily="18" charset="0"/>
                            <a:sym typeface="Wingdings" pitchFamily="2" charset="2"/>
                          </a:rPr>
                        </m:ctrlPr>
                      </m:sSubPr>
                      <m:e>
                        <m:r>
                          <a:rPr lang="de-DE" b="0" i="1" smtClean="0">
                            <a:latin typeface="Cambria Math" panose="02040503050406030204" pitchFamily="18" charset="0"/>
                            <a:sym typeface="Wingdings" pitchFamily="2" charset="2"/>
                          </a:rPr>
                          <m:t>𝑃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de-DE" b="0" i="0" smtClean="0">
                            <a:latin typeface="Cambria Math" panose="02040503050406030204" pitchFamily="18" charset="0"/>
                            <a:sym typeface="Wingdings" pitchFamily="2" charset="2"/>
                          </a:rPr>
                          <m:t>loss</m:t>
                        </m:r>
                      </m:sub>
                    </m:sSub>
                    <m:r>
                      <a:rPr lang="de-DE" b="0" i="1" smtClean="0">
                        <a:latin typeface="Cambria Math" panose="02040503050406030204" pitchFamily="18" charset="0"/>
                        <a:sym typeface="Wingdings" pitchFamily="2" charset="2"/>
                      </a:rPr>
                      <m:t>=</m:t>
                    </m:r>
                    <m:sSub>
                      <m:sSubPr>
                        <m:ctrlPr>
                          <a:rPr lang="de-DE" b="0" i="1" smtClean="0">
                            <a:latin typeface="Cambria Math" panose="02040503050406030204" pitchFamily="18" charset="0"/>
                            <a:sym typeface="Wingdings" pitchFamily="2" charset="2"/>
                          </a:rPr>
                        </m:ctrlPr>
                      </m:sSubPr>
                      <m:e>
                        <m:r>
                          <a:rPr lang="de-DE" b="0" i="1" smtClean="0">
                            <a:latin typeface="Cambria Math" panose="02040503050406030204" pitchFamily="18" charset="0"/>
                            <a:sym typeface="Wingdings" pitchFamily="2" charset="2"/>
                          </a:rPr>
                          <m:t>𝑈</m:t>
                        </m:r>
                      </m:e>
                      <m:sub>
                        <m:r>
                          <a:rPr lang="de-DE" b="0" i="1" smtClean="0">
                            <a:latin typeface="Cambria Math" panose="02040503050406030204" pitchFamily="18" charset="0"/>
                            <a:sym typeface="Wingdings" pitchFamily="2" charset="2"/>
                          </a:rPr>
                          <m:t>𝑅</m:t>
                        </m:r>
                      </m:sub>
                    </m:sSub>
                    <m:r>
                      <a:rPr lang="de-DE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itchFamily="2" charset="2"/>
                      </a:rPr>
                      <m:t>∙</m:t>
                    </m:r>
                    <m:r>
                      <a:rPr lang="de-DE" b="0" i="1" smtClean="0">
                        <a:latin typeface="Cambria Math" panose="02040503050406030204" pitchFamily="18" charset="0"/>
                        <a:sym typeface="Wingdings" pitchFamily="2" charset="2"/>
                      </a:rPr>
                      <m:t>𝐼</m:t>
                    </m:r>
                    <m:r>
                      <a:rPr lang="de-DE" b="0" i="1" smtClean="0">
                        <a:latin typeface="Cambria Math" panose="02040503050406030204" pitchFamily="18" charset="0"/>
                        <a:sym typeface="Wingdings" pitchFamily="2" charset="2"/>
                      </a:rPr>
                      <m:t>=</m:t>
                    </m:r>
                    <m:sSup>
                      <m:sSupPr>
                        <m:ctrlPr>
                          <a:rPr lang="de-DE" b="0" i="1" smtClean="0">
                            <a:latin typeface="Cambria Math" panose="02040503050406030204" pitchFamily="18" charset="0"/>
                            <a:sym typeface="Wingdings" pitchFamily="2" charset="2"/>
                          </a:rPr>
                        </m:ctrlPr>
                      </m:sSupPr>
                      <m:e>
                        <m:r>
                          <a:rPr lang="de-DE" b="0" i="1" smtClean="0">
                            <a:latin typeface="Cambria Math" panose="02040503050406030204" pitchFamily="18" charset="0"/>
                            <a:sym typeface="Wingdings" pitchFamily="2" charset="2"/>
                          </a:rPr>
                          <m:t>𝐼</m:t>
                        </m:r>
                      </m:e>
                      <m:sup>
                        <m:r>
                          <a:rPr lang="de-DE" b="0" i="1" smtClean="0">
                            <a:latin typeface="Cambria Math" panose="02040503050406030204" pitchFamily="18" charset="0"/>
                            <a:sym typeface="Wingdings" pitchFamily="2" charset="2"/>
                          </a:rPr>
                          <m:t>2</m:t>
                        </m:r>
                      </m:sup>
                    </m:sSup>
                    <m:r>
                      <a:rPr lang="de-DE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itchFamily="2" charset="2"/>
                      </a:rPr>
                      <m:t>∙</m:t>
                    </m:r>
                    <m:r>
                      <a:rPr lang="de-DE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itchFamily="2" charset="2"/>
                      </a:rPr>
                      <m:t>𝑅</m:t>
                    </m:r>
                  </m:oMath>
                </a14:m>
                <a:r>
                  <a:rPr lang="de-DE" dirty="0">
                    <a:sym typeface="Wingdings" pitchFamily="2" charset="2"/>
                  </a:rPr>
                  <a:t> and </a:t>
                </a:r>
                <a14:m>
                  <m:oMath xmlns:m="http://schemas.openxmlformats.org/officeDocument/2006/math">
                    <m:r>
                      <a:rPr lang="de-DE" b="0" i="1" smtClean="0">
                        <a:latin typeface="Cambria Math" panose="02040503050406030204" pitchFamily="18" charset="0"/>
                        <a:sym typeface="Wingdings" pitchFamily="2" charset="2"/>
                      </a:rPr>
                      <m:t>𝑃</m:t>
                    </m:r>
                    <m:r>
                      <a:rPr lang="de-DE" b="0" i="1" smtClean="0">
                        <a:latin typeface="Cambria Math" panose="02040503050406030204" pitchFamily="18" charset="0"/>
                        <a:sym typeface="Wingdings" pitchFamily="2" charset="2"/>
                      </a:rPr>
                      <m:t>=</m:t>
                    </m:r>
                    <m:sSub>
                      <m:sSubPr>
                        <m:ctrlPr>
                          <a:rPr lang="de-DE" b="0" i="1" smtClean="0">
                            <a:latin typeface="Cambria Math" panose="02040503050406030204" pitchFamily="18" charset="0"/>
                            <a:sym typeface="Wingdings" pitchFamily="2" charset="2"/>
                          </a:rPr>
                        </m:ctrlPr>
                      </m:sSubPr>
                      <m:e>
                        <m:r>
                          <a:rPr lang="de-DE" b="0" i="1" smtClean="0">
                            <a:latin typeface="Cambria Math" panose="02040503050406030204" pitchFamily="18" charset="0"/>
                            <a:sym typeface="Wingdings" pitchFamily="2" charset="2"/>
                          </a:rPr>
                          <m:t>𝑈</m:t>
                        </m:r>
                      </m:e>
                      <m:sub>
                        <m:r>
                          <a:rPr lang="de-DE" b="0" i="1" smtClean="0">
                            <a:latin typeface="Cambria Math" panose="02040503050406030204" pitchFamily="18" charset="0"/>
                            <a:sym typeface="Wingdings" pitchFamily="2" charset="2"/>
                          </a:rPr>
                          <m:t>𝑆</m:t>
                        </m:r>
                      </m:sub>
                    </m:sSub>
                    <m:r>
                      <a:rPr lang="de-DE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itchFamily="2" charset="2"/>
                      </a:rPr>
                      <m:t>∙</m:t>
                    </m:r>
                    <m:r>
                      <a:rPr lang="de-DE" b="0" i="1" smtClean="0">
                        <a:latin typeface="Cambria Math" panose="02040503050406030204" pitchFamily="18" charset="0"/>
                        <a:sym typeface="Wingdings" pitchFamily="2" charset="2"/>
                      </a:rPr>
                      <m:t>𝐼</m:t>
                    </m:r>
                  </m:oMath>
                </a14:m>
                <a:r>
                  <a:rPr lang="de-DE" dirty="0">
                    <a:sym typeface="Wingdings" pitchFamily="2" charset="2"/>
                  </a:rPr>
                  <a:t>)</a:t>
                </a:r>
                <a:endParaRPr lang="de-DE" dirty="0"/>
              </a:p>
            </p:txBody>
          </p:sp>
        </mc:Choice>
        <mc:Fallback xmlns="">
          <p:sp>
            <p:nvSpPr>
              <p:cNvPr id="3" name="Inhaltsplatzhalter 2">
                <a:extLst>
                  <a:ext uri="{FF2B5EF4-FFF2-40B4-BE49-F238E27FC236}">
                    <a16:creationId xmlns:a16="http://schemas.microsoft.com/office/drawing/2014/main" id="{B1650E5E-F32B-E5BC-72BA-5147FD6DC02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6737131" cy="4351338"/>
              </a:xfrm>
              <a:blipFill>
                <a:blip r:embed="rId4"/>
                <a:stretch>
                  <a:fillRect l="-1695" t="-291" r="-188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62948A9F-A3AA-FE6E-5B7F-69A2249273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03FC7C-1F2C-4946-B702-1A52A755583B}" type="slidenum">
              <a:rPr lang="de-DE" smtClean="0"/>
              <a:t>38</a:t>
            </a:fld>
            <a:endParaRPr lang="de-DE"/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FFF472A0-A62F-E7C8-7B8F-EB076A8496C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575331" y="0"/>
            <a:ext cx="4616669" cy="34625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2553250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ECFC878-8E19-68A5-5A54-A6FEE5997B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Load on </a:t>
            </a:r>
            <a:r>
              <a:rPr lang="de-DE" dirty="0" err="1"/>
              <a:t>Secondary</a:t>
            </a:r>
            <a:r>
              <a:rPr lang="de-DE" dirty="0"/>
              <a:t> Side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38838EBC-5AB9-134C-52A5-09831177EBC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6"/>
            <a:ext cx="10515600" cy="527974"/>
          </a:xfrm>
        </p:spPr>
        <p:txBody>
          <a:bodyPr/>
          <a:lstStyle/>
          <a:p>
            <a:pPr marL="0" indent="0" algn="ctr">
              <a:buNone/>
            </a:pPr>
            <a:r>
              <a:rPr lang="de-DE" dirty="0" err="1"/>
              <a:t>need</a:t>
            </a:r>
            <a:r>
              <a:rPr lang="de-DE" dirty="0"/>
              <a:t> </a:t>
            </a:r>
            <a:r>
              <a:rPr lang="de-DE" dirty="0" err="1"/>
              <a:t>to</a:t>
            </a:r>
            <a:r>
              <a:rPr lang="de-DE" dirty="0"/>
              <a:t> </a:t>
            </a:r>
            <a:r>
              <a:rPr lang="de-DE" dirty="0" err="1"/>
              <a:t>consider</a:t>
            </a:r>
            <a:r>
              <a:rPr lang="de-DE" dirty="0"/>
              <a:t> mutual </a:t>
            </a:r>
            <a:r>
              <a:rPr lang="de-DE" dirty="0" err="1"/>
              <a:t>inductance</a:t>
            </a:r>
            <a:r>
              <a:rPr lang="de-DE" dirty="0"/>
              <a:t>: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0D1B5CD8-25C5-2FCB-F642-D797C75A12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03FC7C-1F2C-4946-B702-1A52A755583B}" type="slidenum">
              <a:rPr lang="de-DE" smtClean="0"/>
              <a:t>39</a:t>
            </a:fld>
            <a:endParaRPr lang="de-DE"/>
          </a:p>
        </p:txBody>
      </p:sp>
      <p:pic>
        <p:nvPicPr>
          <p:cNvPr id="6" name="Grafik 5" descr="Ein Bild, das Entwurf, Diagramm, Zeichnung, Lineart enthält.&#10;&#10;KI-generierte Inhalte können fehlerhaft sein.">
            <a:extLst>
              <a:ext uri="{FF2B5EF4-FFF2-40B4-BE49-F238E27FC236}">
                <a16:creationId xmlns:a16="http://schemas.microsoft.com/office/drawing/2014/main" id="{60BA82CA-A20F-5A3E-D755-F42F5EE646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5007" y="2897249"/>
            <a:ext cx="5580993" cy="2218565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feld 7">
                <a:extLst>
                  <a:ext uri="{FF2B5EF4-FFF2-40B4-BE49-F238E27FC236}">
                    <a16:creationId xmlns:a16="http://schemas.microsoft.com/office/drawing/2014/main" id="{06095F07-C7D5-5882-67A9-E89DF3C30AED}"/>
                  </a:ext>
                </a:extLst>
              </p:cNvPr>
              <p:cNvSpPr txBox="1"/>
              <p:nvPr/>
            </p:nvSpPr>
            <p:spPr>
              <a:xfrm>
                <a:off x="6096000" y="2762312"/>
                <a:ext cx="5562600" cy="304179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sz="26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sz="2600" b="0" i="1" smtClean="0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de-DE" sz="26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de-DE" sz="2600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de-DE" sz="2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sz="2600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b>
                          <m:r>
                            <a:rPr lang="de-DE" sz="26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f>
                        <m:fPr>
                          <m:ctrlPr>
                            <a:rPr lang="de-DE" sz="26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de-DE" sz="2600" i="1">
                              <a:latin typeface="Cambria Math" panose="02040503050406030204" pitchFamily="18" charset="0"/>
                            </a:rPr>
                            <m:t>𝑑</m:t>
                          </m:r>
                          <m:sSub>
                            <m:sSubPr>
                              <m:ctrlPr>
                                <a:rPr lang="de-DE" sz="26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e-DE" sz="26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e>
                            <m:sub>
                              <m:r>
                                <a:rPr lang="de-DE" sz="26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num>
                        <m:den>
                          <m:r>
                            <a:rPr lang="de-DE" sz="2600" i="1"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  <m:r>
                        <a:rPr lang="de-DE" sz="26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de-DE" sz="2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sz="2600" i="1"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b>
                          <m:r>
                            <a:rPr lang="de-DE" sz="2600" b="0" i="1" smtClean="0">
                              <a:latin typeface="Cambria Math" panose="02040503050406030204" pitchFamily="18" charset="0"/>
                            </a:rPr>
                            <m:t>2,</m:t>
                          </m:r>
                          <m:r>
                            <a:rPr lang="de-DE" sz="260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f>
                        <m:fPr>
                          <m:ctrlPr>
                            <a:rPr lang="de-DE" sz="26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de-DE" sz="2600" i="1">
                              <a:latin typeface="Cambria Math" panose="02040503050406030204" pitchFamily="18" charset="0"/>
                            </a:rPr>
                            <m:t>𝑑</m:t>
                          </m:r>
                          <m:sSub>
                            <m:sSubPr>
                              <m:ctrlPr>
                                <a:rPr lang="de-DE" sz="2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e-DE" sz="26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e>
                            <m:sub>
                              <m:r>
                                <a:rPr lang="de-DE" sz="26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num>
                        <m:den>
                          <m:r>
                            <a:rPr lang="de-DE" sz="2600" i="1"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</m:oMath>
                  </m:oMathPara>
                </a14:m>
                <a:endParaRPr lang="de-DE" sz="2600" dirty="0"/>
              </a:p>
              <a:p>
                <a:endParaRPr lang="de-DE" sz="26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sz="2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sz="2600" i="1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de-DE" sz="26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de-DE" sz="2600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de-DE" sz="2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sz="2600" i="1"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b>
                          <m:r>
                            <a:rPr lang="de-DE" sz="26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f>
                        <m:fPr>
                          <m:ctrlPr>
                            <a:rPr lang="de-DE" sz="26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de-DE" sz="2600" i="1">
                              <a:latin typeface="Cambria Math" panose="02040503050406030204" pitchFamily="18" charset="0"/>
                            </a:rPr>
                            <m:t>𝑑</m:t>
                          </m:r>
                          <m:sSub>
                            <m:sSubPr>
                              <m:ctrlPr>
                                <a:rPr lang="de-DE" sz="2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e-DE" sz="26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e>
                            <m:sub>
                              <m:r>
                                <a:rPr lang="de-DE" sz="26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num>
                        <m:den>
                          <m:r>
                            <a:rPr lang="de-DE" sz="2600" i="1"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  <m:r>
                        <a:rPr lang="de-DE" sz="2600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de-DE" sz="2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sz="2600" i="1"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b>
                          <m:r>
                            <a:rPr lang="de-DE" sz="26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de-DE" sz="26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de-DE" sz="26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f>
                        <m:fPr>
                          <m:ctrlPr>
                            <a:rPr lang="de-DE" sz="26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de-DE" sz="2600" i="1">
                              <a:latin typeface="Cambria Math" panose="02040503050406030204" pitchFamily="18" charset="0"/>
                            </a:rPr>
                            <m:t>𝑑</m:t>
                          </m:r>
                          <m:sSub>
                            <m:sSubPr>
                              <m:ctrlPr>
                                <a:rPr lang="de-DE" sz="2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e-DE" sz="26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e>
                            <m:sub>
                              <m:r>
                                <a:rPr lang="de-DE" sz="26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num>
                        <m:den>
                          <m:r>
                            <a:rPr lang="de-DE" sz="2600" i="1"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  <m:r>
                        <a:rPr lang="de-DE" sz="2600" b="0" i="1" smtClean="0">
                          <a:latin typeface="Cambria Math" panose="02040503050406030204" pitchFamily="18" charset="0"/>
                        </a:rPr>
                        <m:t>=−</m:t>
                      </m:r>
                      <m:sSub>
                        <m:sSubPr>
                          <m:ctrlPr>
                            <a:rPr lang="de-DE" sz="2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sz="26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e>
                        <m:sub>
                          <m:r>
                            <a:rPr lang="de-DE" sz="26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de-DE" sz="2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r>
                        <a:rPr lang="de-DE" sz="2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𝑅</m:t>
                      </m:r>
                    </m:oMath>
                  </m:oMathPara>
                </a14:m>
                <a:endParaRPr lang="de-DE" sz="2600" dirty="0"/>
              </a:p>
              <a:p>
                <a:endParaRPr lang="de-DE" sz="2600" dirty="0"/>
              </a:p>
              <a:p>
                <a:pPr algn="ctr"/>
                <a:r>
                  <a:rPr lang="de-DE" sz="2600" dirty="0" err="1"/>
                  <a:t>with</a:t>
                </a:r>
                <a:r>
                  <a:rPr lang="de-DE" sz="2600" dirty="0"/>
                  <a:t> 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DE" sz="2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sz="2600" i="1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de-DE" sz="2600" i="1">
                            <a:latin typeface="Cambria Math" panose="02040503050406030204" pitchFamily="18" charset="0"/>
                          </a:rPr>
                          <m:t>1,2</m:t>
                        </m:r>
                      </m:sub>
                    </m:sSub>
                    <m:r>
                      <a:rPr lang="de-DE" sz="2600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de-DE" sz="2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sz="2600" i="1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de-DE" sz="2600" b="0" i="1" smtClean="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de-DE" sz="260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de-DE" sz="26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de-DE" sz="26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de-DE" sz="28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de-DE" sz="28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de-DE" sz="2800" b="0" i="1" smtClean="0">
                                <a:latin typeface="Cambria Math" panose="02040503050406030204" pitchFamily="18" charset="0"/>
                              </a:rPr>
                              <m:t>𝑁</m:t>
                            </m:r>
                          </m:e>
                          <m:sub>
                            <m:r>
                              <a:rPr lang="de-DE" sz="2800" b="0" i="1" smtClean="0">
                                <a:latin typeface="Cambria Math" panose="02040503050406030204" pitchFamily="18" charset="0"/>
                              </a:rPr>
                              <m:t>𝑃</m:t>
                            </m:r>
                          </m:sub>
                        </m:sSub>
                        <m:r>
                          <a:rPr lang="de-DE" sz="28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∙</m:t>
                        </m:r>
                        <m:sSub>
                          <m:sSubPr>
                            <m:ctrlPr>
                              <a:rPr lang="de-DE" sz="280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de-DE" sz="2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𝑁</m:t>
                            </m:r>
                          </m:e>
                          <m:sub>
                            <m:r>
                              <a:rPr lang="de-DE" sz="2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𝑆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de-DE" sz="2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de-DE" sz="2800" i="1"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de-DE" sz="2800" i="1">
                                <a:latin typeface="Cambria Math" panose="02040503050406030204" pitchFamily="18" charset="0"/>
                              </a:rPr>
                              <m:t>𝑚</m:t>
                            </m:r>
                          </m:sub>
                        </m:sSub>
                      </m:den>
                    </m:f>
                  </m:oMath>
                </a14:m>
                <a:endParaRPr lang="de-DE" sz="2600" dirty="0"/>
              </a:p>
            </p:txBody>
          </p:sp>
        </mc:Choice>
        <mc:Fallback xmlns="">
          <p:sp>
            <p:nvSpPr>
              <p:cNvPr id="8" name="Textfeld 7">
                <a:extLst>
                  <a:ext uri="{FF2B5EF4-FFF2-40B4-BE49-F238E27FC236}">
                    <a16:creationId xmlns:a16="http://schemas.microsoft.com/office/drawing/2014/main" id="{06095F07-C7D5-5882-67A9-E89DF3C30AE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6000" y="2762312"/>
                <a:ext cx="5562600" cy="304179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73397750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3FA4C72-0C01-AA64-2013-9B1A31FAEA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Maxwell‘s</a:t>
            </a:r>
            <a:r>
              <a:rPr lang="de-DE" dirty="0"/>
              <a:t> </a:t>
            </a:r>
            <a:r>
              <a:rPr lang="de-DE" dirty="0" err="1"/>
              <a:t>Correction</a:t>
            </a:r>
            <a:r>
              <a:rPr lang="de-DE" dirty="0"/>
              <a:t> </a:t>
            </a:r>
            <a:r>
              <a:rPr lang="de-DE" dirty="0" err="1"/>
              <a:t>to</a:t>
            </a:r>
            <a:r>
              <a:rPr lang="de-DE" dirty="0"/>
              <a:t> </a:t>
            </a:r>
            <a:r>
              <a:rPr lang="de-DE" dirty="0" err="1"/>
              <a:t>Ampère‘s</a:t>
            </a:r>
            <a:r>
              <a:rPr lang="de-DE" dirty="0"/>
              <a:t> Law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Inhaltsplatzhalter 2">
                <a:extLst>
                  <a:ext uri="{FF2B5EF4-FFF2-40B4-BE49-F238E27FC236}">
                    <a16:creationId xmlns:a16="http://schemas.microsoft.com/office/drawing/2014/main" id="{A71C403A-C816-14CE-E71E-2A77F3B914E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4"/>
                <a:ext cx="10515600" cy="4895851"/>
              </a:xfrm>
            </p:spPr>
            <p:txBody>
              <a:bodyPr>
                <a:normAutofit fontScale="92500" lnSpcReduction="20000"/>
              </a:bodyPr>
              <a:lstStyle/>
              <a:p>
                <a:pPr marL="0" indent="0">
                  <a:buNone/>
                </a:pPr>
                <a:r>
                  <a:rPr lang="de-DE" dirty="0"/>
                  <a:t>s</a:t>
                </a:r>
                <a:r>
                  <a:rPr lang="de-DE" dirty="0" err="1"/>
                  <a:t>ymmetry</a:t>
                </a:r>
                <a:r>
                  <a:rPr lang="de-DE" dirty="0"/>
                  <a:t> </a:t>
                </a:r>
                <a:r>
                  <a:rPr lang="de-DE" dirty="0" err="1"/>
                  <a:t>to</a:t>
                </a:r>
                <a:r>
                  <a:rPr lang="de-DE" dirty="0"/>
                  <a:t> </a:t>
                </a:r>
                <a:r>
                  <a:rPr lang="de-DE" dirty="0" err="1"/>
                  <a:t>electromagnetic</a:t>
                </a:r>
                <a:r>
                  <a:rPr lang="de-DE" dirty="0"/>
                  <a:t> </a:t>
                </a:r>
                <a:r>
                  <a:rPr lang="de-DE" dirty="0" err="1"/>
                  <a:t>induction</a:t>
                </a:r>
                <a:r>
                  <a:rPr lang="de-DE" dirty="0"/>
                  <a:t>:</a:t>
                </a:r>
              </a:p>
              <a:p>
                <a:pPr marL="0" indent="0">
                  <a:buNone/>
                </a:pPr>
                <a:r>
                  <a:rPr lang="de-DE" dirty="0"/>
                  <a:t>a time-</a:t>
                </a:r>
                <a:r>
                  <a:rPr lang="de-DE" dirty="0" err="1"/>
                  <a:t>varying</a:t>
                </a:r>
                <a:r>
                  <a:rPr lang="de-DE" dirty="0"/>
                  <a:t> </a:t>
                </a:r>
                <a:r>
                  <a:rPr lang="de-DE" dirty="0" err="1"/>
                  <a:t>electric</a:t>
                </a:r>
                <a:r>
                  <a:rPr lang="de-DE" dirty="0"/>
                  <a:t> </a:t>
                </a:r>
                <a:r>
                  <a:rPr lang="de-DE" dirty="0" err="1"/>
                  <a:t>field</a:t>
                </a:r>
                <a:r>
                  <a:rPr lang="de-DE" dirty="0"/>
                  <a:t> </a:t>
                </a:r>
                <a:r>
                  <a:rPr lang="de-DE" dirty="0" err="1"/>
                  <a:t>produces</a:t>
                </a:r>
                <a:r>
                  <a:rPr lang="de-DE" dirty="0"/>
                  <a:t> a </a:t>
                </a:r>
                <a:r>
                  <a:rPr lang="de-DE" dirty="0" err="1"/>
                  <a:t>circulating</a:t>
                </a:r>
                <a:r>
                  <a:rPr lang="de-DE" dirty="0"/>
                  <a:t> </a:t>
                </a:r>
                <a:r>
                  <a:rPr lang="de-DE" dirty="0" err="1"/>
                  <a:t>magnetic</a:t>
                </a:r>
                <a:r>
                  <a:rPr lang="de-DE" dirty="0"/>
                  <a:t> </a:t>
                </a:r>
                <a:r>
                  <a:rPr lang="de-DE" dirty="0" err="1"/>
                  <a:t>field</a:t>
                </a:r>
                <a:endParaRPr lang="de-DE" dirty="0"/>
              </a:p>
              <a:p>
                <a:pPr marL="0" indent="0">
                  <a:buNone/>
                </a:pPr>
                <a:endParaRPr lang="de-DE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∮"/>
                          <m:limLoc m:val="undOvr"/>
                          <m:subHide m:val="on"/>
                          <m:supHide m:val="on"/>
                          <m:ctrlPr>
                            <a:rPr lang="de-DE" i="1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acc>
                            <m:accPr>
                              <m:chr m:val="⃑"/>
                              <m:ctrlPr>
                                <a:rPr lang="de-DE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de-DE" i="1"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e>
                          </m:acc>
                          <m:r>
                            <a:rPr lang="de-DE">
                              <a:latin typeface="Cambria Math" panose="02040503050406030204" pitchFamily="18" charset="0"/>
                            </a:rPr>
                            <m:t>∙</m:t>
                          </m:r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𝑑</m:t>
                          </m:r>
                          <m:acc>
                            <m:accPr>
                              <m:chr m:val="⃑"/>
                              <m:ctrlPr>
                                <a:rPr lang="de-DE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de-DE" i="1">
                                  <a:latin typeface="Cambria Math" panose="02040503050406030204" pitchFamily="18" charset="0"/>
                                </a:rPr>
                                <m:t>𝑙</m:t>
                              </m:r>
                            </m:e>
                          </m:acc>
                        </m:e>
                      </m:nary>
                      <m:r>
                        <a:rPr lang="de-DE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de-DE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de-DE" i="1">
                          <a:latin typeface="Cambria Math" panose="02040503050406030204" pitchFamily="18" charset="0"/>
                        </a:rPr>
                        <m:t>𝐼</m:t>
                      </m:r>
                      <m:r>
                        <a:rPr lang="de-DE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de-DE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sSub>
                        <m:sSubPr>
                          <m:ctrlPr>
                            <a:rPr lang="de-DE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𝜀</m:t>
                          </m:r>
                        </m:e>
                        <m:sub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f>
                        <m:fPr>
                          <m:ctrlPr>
                            <a:rPr lang="de-DE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ⅆ</m:t>
                          </m:r>
                        </m:num>
                        <m:den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ⅆ</m:t>
                          </m:r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𝑡</m:t>
                          </m:r>
                        </m:den>
                      </m:f>
                      <m:nary>
                        <m:naryPr>
                          <m:limLoc m:val="undOvr"/>
                          <m:subHide m:val="on"/>
                          <m:supHide m:val="on"/>
                          <m:ctrlPr>
                            <a:rPr lang="de-DE" i="1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acc>
                            <m:accPr>
                              <m:chr m:val="⃑"/>
                              <m:ctrlPr>
                                <a:rPr lang="de-DE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de-DE" i="1">
                                  <a:latin typeface="Cambria Math" panose="02040503050406030204" pitchFamily="18" charset="0"/>
                                </a:rPr>
                                <m:t>𝐸</m:t>
                              </m:r>
                            </m:e>
                          </m:acc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𝑑</m:t>
                          </m:r>
                          <m:acc>
                            <m:accPr>
                              <m:chr m:val="⃑"/>
                              <m:ctrlPr>
                                <a:rPr lang="de-DE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de-DE" i="1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</m:acc>
                        </m:e>
                      </m:nary>
                    </m:oMath>
                  </m:oMathPara>
                </a14:m>
                <a:endParaRPr lang="de-DE" dirty="0"/>
              </a:p>
              <a:p>
                <a:pPr marL="0" indent="0">
                  <a:buNone/>
                </a:pPr>
                <a:endParaRPr lang="de-DE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de-DE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∇</m:t>
                      </m:r>
                      <m:r>
                        <a:rPr lang="de-DE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acc>
                        <m:accPr>
                          <m:chr m:val="⃑"/>
                          <m:ctrlPr>
                            <a:rPr lang="de-DE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</m:acc>
                      <m:r>
                        <a:rPr lang="de-DE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de-DE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acc>
                        <m:accPr>
                          <m:chr m:val="⃑"/>
                          <m:ctrlPr>
                            <a:rPr lang="de-DE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𝐽</m:t>
                          </m:r>
                        </m:e>
                      </m:acc>
                      <m:r>
                        <a:rPr lang="de-DE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de-DE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sSub>
                        <m:sSubPr>
                          <m:ctrlPr>
                            <a:rPr lang="de-DE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𝜀</m:t>
                          </m:r>
                        </m:e>
                        <m:sub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f>
                        <m:fPr>
                          <m:ctrlPr>
                            <a:rPr lang="de-DE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  <m:acc>
                            <m:accPr>
                              <m:chr m:val="⃑"/>
                              <m:ctrlPr>
                                <a:rPr lang="de-DE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de-DE" b="0" i="1" smtClean="0">
                                  <a:latin typeface="Cambria Math" panose="02040503050406030204" pitchFamily="18" charset="0"/>
                                </a:rPr>
                                <m:t>𝐸</m:t>
                              </m:r>
                            </m:e>
                          </m:acc>
                        </m:num>
                        <m:den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de-DE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</m:den>
                      </m:f>
                    </m:oMath>
                  </m:oMathPara>
                </a14:m>
                <a:endParaRPr lang="de-DE" dirty="0"/>
              </a:p>
              <a:p>
                <a:pPr marL="0" indent="0">
                  <a:buNone/>
                </a:pPr>
                <a:endParaRPr lang="de-DE" dirty="0"/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f>
                      <m:fPr>
                        <m:ctrlPr>
                          <a:rPr lang="de-DE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de-DE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𝜕</m:t>
                        </m:r>
                        <m:r>
                          <a:rPr lang="de-DE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𝐵</m:t>
                        </m:r>
                      </m:num>
                      <m:den>
                        <m:r>
                          <a:rPr lang="de-DE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𝜕</m:t>
                        </m:r>
                        <m:r>
                          <a:rPr lang="de-DE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𝑡</m:t>
                        </m:r>
                      </m:den>
                    </m:f>
                  </m:oMath>
                </a14:m>
                <a:r>
                  <a:rPr lang="de-DE" dirty="0"/>
                  <a:t> </a:t>
                </a:r>
                <a:r>
                  <a:rPr lang="de-DE" dirty="0">
                    <a:sym typeface="Wingdings" pitchFamily="2" charset="2"/>
                  </a:rPr>
                  <a:t> </a:t>
                </a:r>
                <a:r>
                  <a:rPr lang="de-DE" dirty="0" err="1">
                    <a:sym typeface="Wingdings" pitchFamily="2" charset="2"/>
                  </a:rPr>
                  <a:t>rotational</a:t>
                </a:r>
                <a:r>
                  <a:rPr lang="de-DE" dirty="0">
                    <a:sym typeface="Wingdings" pitchFamily="2" charset="2"/>
                  </a:rPr>
                  <a:t> </a:t>
                </a:r>
                <a14:m>
                  <m:oMath xmlns:m="http://schemas.openxmlformats.org/officeDocument/2006/math">
                    <m:r>
                      <a:rPr lang="de-DE" i="1" smtClean="0">
                        <a:latin typeface="Cambria Math" panose="02040503050406030204" pitchFamily="18" charset="0"/>
                      </a:rPr>
                      <m:t>𝐸</m:t>
                    </m:r>
                  </m:oMath>
                </a14:m>
                <a:r>
                  <a:rPr lang="de-DE" dirty="0"/>
                  <a:t>,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de-DE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de-DE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𝜕</m:t>
                        </m:r>
                        <m:r>
                          <a:rPr lang="de-DE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𝐸</m:t>
                        </m:r>
                      </m:num>
                      <m:den>
                        <m:r>
                          <a:rPr lang="de-DE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𝜕</m:t>
                        </m:r>
                        <m:r>
                          <a:rPr lang="de-DE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𝑡</m:t>
                        </m:r>
                      </m:den>
                    </m:f>
                  </m:oMath>
                </a14:m>
                <a:r>
                  <a:rPr lang="de-DE" dirty="0"/>
                  <a:t> </a:t>
                </a:r>
                <a:r>
                  <a:rPr lang="de-DE" dirty="0">
                    <a:sym typeface="Wingdings" pitchFamily="2" charset="2"/>
                  </a:rPr>
                  <a:t> </a:t>
                </a:r>
                <a:r>
                  <a:rPr lang="de-DE" dirty="0" err="1">
                    <a:sym typeface="Wingdings" pitchFamily="2" charset="2"/>
                  </a:rPr>
                  <a:t>rotational</a:t>
                </a:r>
                <a:r>
                  <a:rPr lang="de-DE" dirty="0">
                    <a:sym typeface="Wingdings" pitchFamily="2" charset="2"/>
                  </a:rPr>
                  <a:t> </a:t>
                </a:r>
                <a14:m>
                  <m:oMath xmlns:m="http://schemas.openxmlformats.org/officeDocument/2006/math">
                    <m:r>
                      <a:rPr lang="de-DE" b="0" i="1" smtClean="0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de-DE" dirty="0"/>
                  <a:t>:</a:t>
                </a:r>
              </a:p>
              <a:p>
                <a:pPr marL="0" indent="0">
                  <a:buNone/>
                </a:pPr>
                <a:r>
                  <a:rPr lang="de-DE" dirty="0">
                    <a:sym typeface="Wingdings" pitchFamily="2" charset="2"/>
                  </a:rPr>
                  <a:t> </a:t>
                </a:r>
                <a:r>
                  <a:rPr lang="de-DE" dirty="0" err="1"/>
                  <a:t>electromagnetic</a:t>
                </a:r>
                <a:r>
                  <a:rPr lang="de-DE" dirty="0"/>
                  <a:t> </a:t>
                </a:r>
                <a:r>
                  <a:rPr lang="de-DE" dirty="0" err="1"/>
                  <a:t>waves</a:t>
                </a:r>
                <a:r>
                  <a:rPr lang="de-DE" dirty="0"/>
                  <a:t> in </a:t>
                </a:r>
                <a:r>
                  <a:rPr lang="de-DE" dirty="0" err="1"/>
                  <a:t>vacuum</a:t>
                </a:r>
                <a:r>
                  <a:rPr lang="de-DE" dirty="0"/>
                  <a:t> (</a:t>
                </a:r>
                <a:r>
                  <a:rPr lang="de-DE" dirty="0" err="1"/>
                  <a:t>no</a:t>
                </a:r>
                <a:r>
                  <a:rPr lang="de-DE" dirty="0"/>
                  <a:t> </a:t>
                </a:r>
                <a:r>
                  <a:rPr lang="de-DE" dirty="0" err="1"/>
                  <a:t>charges</a:t>
                </a:r>
                <a:r>
                  <a:rPr lang="de-DE" dirty="0"/>
                  <a:t> </a:t>
                </a:r>
                <a:r>
                  <a:rPr lang="de-DE" dirty="0" err="1"/>
                  <a:t>or</a:t>
                </a:r>
                <a:r>
                  <a:rPr lang="de-DE" dirty="0"/>
                  <a:t> </a:t>
                </a:r>
                <a:r>
                  <a:rPr lang="de-DE" dirty="0" err="1"/>
                  <a:t>wires</a:t>
                </a:r>
                <a:r>
                  <a:rPr lang="de-DE" dirty="0"/>
                  <a:t> </a:t>
                </a:r>
                <a:r>
                  <a:rPr lang="de-DE" dirty="0" err="1"/>
                  <a:t>needed</a:t>
                </a:r>
                <a:r>
                  <a:rPr lang="de-DE" dirty="0"/>
                  <a:t>)</a:t>
                </a:r>
              </a:p>
            </p:txBody>
          </p:sp>
        </mc:Choice>
        <mc:Fallback xmlns="">
          <p:sp>
            <p:nvSpPr>
              <p:cNvPr id="3" name="Inhaltsplatzhalter 2">
                <a:extLst>
                  <a:ext uri="{FF2B5EF4-FFF2-40B4-BE49-F238E27FC236}">
                    <a16:creationId xmlns:a16="http://schemas.microsoft.com/office/drawing/2014/main" id="{A71C403A-C816-14CE-E71E-2A77F3B914E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4"/>
                <a:ext cx="10515600" cy="4895851"/>
              </a:xfrm>
              <a:blipFill>
                <a:blip r:embed="rId2"/>
                <a:stretch>
                  <a:fillRect l="-1086" t="-12145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7AFD69E2-FD42-9F14-79D3-C17E18BDC1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03FC7C-1F2C-4946-B702-1A52A755583B}" type="slidenum">
              <a:rPr lang="de-DE" smtClean="0"/>
              <a:t>40</a:t>
            </a:fld>
            <a:endParaRPr lang="de-DE"/>
          </a:p>
        </p:txBody>
      </p:sp>
      <p:sp>
        <p:nvSpPr>
          <p:cNvPr id="5" name="Abgerundetes Rechteck 4">
            <a:extLst>
              <a:ext uri="{FF2B5EF4-FFF2-40B4-BE49-F238E27FC236}">
                <a16:creationId xmlns:a16="http://schemas.microsoft.com/office/drawing/2014/main" id="{D5541EF8-937A-F2ED-0035-18718395102D}"/>
              </a:ext>
            </a:extLst>
          </p:cNvPr>
          <p:cNvSpPr/>
          <p:nvPr/>
        </p:nvSpPr>
        <p:spPr>
          <a:xfrm>
            <a:off x="5896303" y="2853567"/>
            <a:ext cx="2575035" cy="955733"/>
          </a:xfrm>
          <a:prstGeom prst="round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6" name="Abgerundetes Rechteck 5">
            <a:extLst>
              <a:ext uri="{FF2B5EF4-FFF2-40B4-BE49-F238E27FC236}">
                <a16:creationId xmlns:a16="http://schemas.microsoft.com/office/drawing/2014/main" id="{5C670480-0B6C-8D8C-EFFA-C85B4F8F51DD}"/>
              </a:ext>
            </a:extLst>
          </p:cNvPr>
          <p:cNvSpPr/>
          <p:nvPr/>
        </p:nvSpPr>
        <p:spPr>
          <a:xfrm>
            <a:off x="6190594" y="4236386"/>
            <a:ext cx="1566040" cy="955733"/>
          </a:xfrm>
          <a:prstGeom prst="round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8" name="Textfeld 7">
            <a:extLst>
              <a:ext uri="{FF2B5EF4-FFF2-40B4-BE49-F238E27FC236}">
                <a16:creationId xmlns:a16="http://schemas.microsoft.com/office/drawing/2014/main" id="{11844B65-2CF3-5051-7A4A-EC12BE258381}"/>
              </a:ext>
            </a:extLst>
          </p:cNvPr>
          <p:cNvSpPr txBox="1"/>
          <p:nvPr/>
        </p:nvSpPr>
        <p:spPr>
          <a:xfrm>
            <a:off x="8433239" y="4051720"/>
            <a:ext cx="309004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dirty="0" err="1"/>
              <a:t>displacement</a:t>
            </a:r>
            <a:r>
              <a:rPr lang="de-DE" dirty="0"/>
              <a:t> </a:t>
            </a:r>
            <a:r>
              <a:rPr lang="de-DE" dirty="0" err="1"/>
              <a:t>current</a:t>
            </a:r>
            <a:endParaRPr lang="de-DE" dirty="0"/>
          </a:p>
        </p:txBody>
      </p:sp>
      <p:cxnSp>
        <p:nvCxnSpPr>
          <p:cNvPr id="10" name="Gerade Verbindung mit Pfeil 9">
            <a:extLst>
              <a:ext uri="{FF2B5EF4-FFF2-40B4-BE49-F238E27FC236}">
                <a16:creationId xmlns:a16="http://schemas.microsoft.com/office/drawing/2014/main" id="{69B304CE-AF0F-BA16-A1A9-D89A40FB51C3}"/>
              </a:ext>
            </a:extLst>
          </p:cNvPr>
          <p:cNvCxnSpPr>
            <a:cxnSpLocks/>
            <a:stCxn id="8" idx="1"/>
          </p:cNvCxnSpPr>
          <p:nvPr/>
        </p:nvCxnSpPr>
        <p:spPr>
          <a:xfrm flipH="1" flipV="1">
            <a:off x="7849915" y="3867054"/>
            <a:ext cx="583324" cy="36933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69865327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6B2370A-7850-9F73-A240-5263165475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Maxwell‘s</a:t>
            </a:r>
            <a:r>
              <a:rPr lang="de-DE" dirty="0"/>
              <a:t> </a:t>
            </a:r>
            <a:r>
              <a:rPr lang="de-DE" dirty="0" err="1"/>
              <a:t>Equations</a:t>
            </a:r>
            <a:r>
              <a:rPr lang="de-DE" dirty="0"/>
              <a:t> in Vacuum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Inhaltsplatzhalter 4">
                <a:extLst>
                  <a:ext uri="{FF2B5EF4-FFF2-40B4-BE49-F238E27FC236}">
                    <a16:creationId xmlns:a16="http://schemas.microsoft.com/office/drawing/2014/main" id="{761A91F8-F48F-2EDF-3375-5AFCF597E9E9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>
              <a:xfrm>
                <a:off x="838200" y="1825625"/>
                <a:ext cx="5181600" cy="2756886"/>
              </a:xfrm>
              <a:ln>
                <a:solidFill>
                  <a:schemeClr val="tx1"/>
                </a:solidFill>
              </a:ln>
            </p:spPr>
            <p:txBody>
              <a:bodyPr>
                <a:noAutofit/>
              </a:bodyPr>
              <a:lstStyle/>
              <a:p>
                <a:pPr marL="0" indent="0">
                  <a:buNone/>
                </a:pPr>
                <a:r>
                  <a:rPr lang="de-DE" sz="2200" dirty="0"/>
                  <a:t>integral form:</a:t>
                </a:r>
              </a:p>
              <a:p>
                <a14:m>
                  <m:oMath xmlns:m="http://schemas.openxmlformats.org/officeDocument/2006/math">
                    <m:nary>
                      <m:naryPr>
                        <m:chr m:val="∯"/>
                        <m:limLoc m:val="undOvr"/>
                        <m:subHide m:val="on"/>
                        <m:supHide m:val="on"/>
                        <m:ctrlPr>
                          <a:rPr lang="de-DE" sz="2200" i="1">
                            <a:latin typeface="Cambria Math" panose="02040503050406030204" pitchFamily="18" charset="0"/>
                          </a:rPr>
                        </m:ctrlPr>
                      </m:naryPr>
                      <m:sub/>
                      <m:sup/>
                      <m:e>
                        <m:acc>
                          <m:accPr>
                            <m:chr m:val="⃑"/>
                            <m:ctrlPr>
                              <a:rPr lang="de-DE" sz="22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de-DE" sz="2200" b="0" i="1" smtClean="0">
                                <a:latin typeface="Cambria Math" panose="02040503050406030204" pitchFamily="18" charset="0"/>
                              </a:rPr>
                              <m:t>𝐸</m:t>
                            </m:r>
                          </m:e>
                        </m:acc>
                        <m:r>
                          <a:rPr lang="de-DE" sz="2200" i="1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de-DE" sz="2200" i="1">
                            <a:latin typeface="Cambria Math" panose="02040503050406030204" pitchFamily="18" charset="0"/>
                          </a:rPr>
                          <m:t>𝑑</m:t>
                        </m:r>
                        <m:acc>
                          <m:accPr>
                            <m:chr m:val="⃑"/>
                            <m:ctrlPr>
                              <a:rPr lang="de-DE" sz="22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de-DE" sz="2200" i="1"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</m:acc>
                      </m:e>
                    </m:nary>
                    <m:r>
                      <a:rPr lang="de-DE" sz="2200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de-DE" sz="22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de-DE" sz="2200" b="0" i="1" smtClean="0">
                            <a:latin typeface="Cambria Math" panose="02040503050406030204" pitchFamily="18" charset="0"/>
                          </a:rPr>
                          <m:t>𝑄</m:t>
                        </m:r>
                      </m:num>
                      <m:den>
                        <m:sSub>
                          <m:sSubPr>
                            <m:ctrlPr>
                              <a:rPr lang="de-DE" sz="22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de-DE" sz="2200" i="1">
                                <a:latin typeface="Cambria Math" panose="02040503050406030204" pitchFamily="18" charset="0"/>
                              </a:rPr>
                              <m:t>𝜀</m:t>
                            </m:r>
                          </m:e>
                          <m:sub>
                            <m:r>
                              <a:rPr lang="de-DE" sz="2200" i="1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den>
                    </m:f>
                  </m:oMath>
                </a14:m>
                <a:endParaRPr lang="de-DE" sz="2000" dirty="0"/>
              </a:p>
              <a:p>
                <a14:m>
                  <m:oMath xmlns:m="http://schemas.openxmlformats.org/officeDocument/2006/math">
                    <m:nary>
                      <m:naryPr>
                        <m:chr m:val="∯"/>
                        <m:limLoc m:val="undOvr"/>
                        <m:subHide m:val="on"/>
                        <m:supHide m:val="on"/>
                        <m:ctrlPr>
                          <a:rPr lang="de-DE" sz="2200" i="1">
                            <a:latin typeface="Cambria Math" panose="02040503050406030204" pitchFamily="18" charset="0"/>
                          </a:rPr>
                        </m:ctrlPr>
                      </m:naryPr>
                      <m:sub/>
                      <m:sup/>
                      <m:e>
                        <m:acc>
                          <m:accPr>
                            <m:chr m:val="⃑"/>
                            <m:ctrlPr>
                              <a:rPr lang="de-DE" sz="22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de-DE" sz="2200" b="0" i="1" smtClean="0">
                                <a:latin typeface="Cambria Math" panose="02040503050406030204" pitchFamily="18" charset="0"/>
                              </a:rPr>
                              <m:t>𝐵</m:t>
                            </m:r>
                          </m:e>
                        </m:acc>
                        <m:r>
                          <a:rPr lang="de-DE" sz="2200" i="1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de-DE" sz="2200" i="1">
                            <a:latin typeface="Cambria Math" panose="02040503050406030204" pitchFamily="18" charset="0"/>
                          </a:rPr>
                          <m:t>𝑑</m:t>
                        </m:r>
                        <m:acc>
                          <m:accPr>
                            <m:chr m:val="⃑"/>
                            <m:ctrlPr>
                              <a:rPr lang="de-DE" sz="22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de-DE" sz="2200" i="1"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</m:acc>
                      </m:e>
                    </m:nary>
                    <m:r>
                      <a:rPr lang="de-DE" sz="22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de-DE" sz="2200" b="0" i="1" smtClean="0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endParaRPr lang="de-DE" sz="2400" dirty="0"/>
              </a:p>
              <a:p>
                <a14:m>
                  <m:oMath xmlns:m="http://schemas.openxmlformats.org/officeDocument/2006/math">
                    <m:nary>
                      <m:naryPr>
                        <m:chr m:val="∮"/>
                        <m:limLoc m:val="undOvr"/>
                        <m:subHide m:val="on"/>
                        <m:supHide m:val="on"/>
                        <m:ctrlPr>
                          <a:rPr lang="de-DE" sz="2200" i="1" smtClean="0">
                            <a:latin typeface="Cambria Math" panose="02040503050406030204" pitchFamily="18" charset="0"/>
                          </a:rPr>
                        </m:ctrlPr>
                      </m:naryPr>
                      <m:sub/>
                      <m:sup/>
                      <m:e>
                        <m:acc>
                          <m:accPr>
                            <m:chr m:val="⃑"/>
                            <m:ctrlPr>
                              <a:rPr lang="de-DE" sz="22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de-DE" sz="2200" i="1">
                                <a:latin typeface="Cambria Math" panose="02040503050406030204" pitchFamily="18" charset="0"/>
                              </a:rPr>
                              <m:t>𝐸</m:t>
                            </m:r>
                          </m:e>
                        </m:acc>
                        <m:r>
                          <a:rPr lang="de-DE" sz="2200">
                            <a:latin typeface="Cambria Math" panose="02040503050406030204" pitchFamily="18" charset="0"/>
                          </a:rPr>
                          <m:t>∙</m:t>
                        </m:r>
                        <m:r>
                          <a:rPr lang="de-DE" sz="2200" i="1">
                            <a:latin typeface="Cambria Math" panose="02040503050406030204" pitchFamily="18" charset="0"/>
                          </a:rPr>
                          <m:t>𝑑</m:t>
                        </m:r>
                        <m:acc>
                          <m:accPr>
                            <m:chr m:val="⃑"/>
                            <m:ctrlPr>
                              <a:rPr lang="de-DE" sz="22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de-DE" sz="2200" b="0" i="1" smtClean="0">
                                <a:latin typeface="Cambria Math" panose="02040503050406030204" pitchFamily="18" charset="0"/>
                              </a:rPr>
                              <m:t>𝑙</m:t>
                            </m:r>
                          </m:e>
                        </m:acc>
                      </m:e>
                    </m:nary>
                    <m:r>
                      <a:rPr lang="de-DE" sz="2200" b="0" i="1" smtClean="0">
                        <a:latin typeface="Cambria Math" panose="02040503050406030204" pitchFamily="18" charset="0"/>
                      </a:rPr>
                      <m:t>=−</m:t>
                    </m:r>
                    <m:f>
                      <m:fPr>
                        <m:ctrlPr>
                          <a:rPr lang="de-DE" sz="22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de-DE" sz="2200" b="0" i="1" smtClean="0">
                            <a:latin typeface="Cambria Math" panose="02040503050406030204" pitchFamily="18" charset="0"/>
                          </a:rPr>
                          <m:t>ⅆ</m:t>
                        </m:r>
                      </m:num>
                      <m:den>
                        <m:r>
                          <a:rPr lang="de-DE" sz="2200" b="0" i="1" smtClean="0">
                            <a:latin typeface="Cambria Math" panose="02040503050406030204" pitchFamily="18" charset="0"/>
                          </a:rPr>
                          <m:t>ⅆ</m:t>
                        </m:r>
                        <m:r>
                          <a:rPr lang="de-DE" sz="22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den>
                    </m:f>
                    <m:nary>
                      <m:naryPr>
                        <m:limLoc m:val="undOvr"/>
                        <m:subHide m:val="on"/>
                        <m:supHide m:val="on"/>
                        <m:ctrlPr>
                          <a:rPr lang="de-DE" sz="2200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/>
                      <m:sup/>
                      <m:e>
                        <m:acc>
                          <m:accPr>
                            <m:chr m:val="⃑"/>
                            <m:ctrlPr>
                              <a:rPr lang="de-DE" sz="22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de-DE" sz="2200" i="1">
                                <a:latin typeface="Cambria Math" panose="02040503050406030204" pitchFamily="18" charset="0"/>
                              </a:rPr>
                              <m:t>𝐵</m:t>
                            </m:r>
                          </m:e>
                        </m:acc>
                        <m:r>
                          <a:rPr lang="de-DE" sz="2200" i="1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de-DE" sz="2200" i="1">
                            <a:latin typeface="Cambria Math" panose="02040503050406030204" pitchFamily="18" charset="0"/>
                          </a:rPr>
                          <m:t>𝑑</m:t>
                        </m:r>
                        <m:acc>
                          <m:accPr>
                            <m:chr m:val="⃑"/>
                            <m:ctrlPr>
                              <a:rPr lang="de-DE" sz="22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de-DE" sz="2200" i="1"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</m:acc>
                      </m:e>
                    </m:nary>
                  </m:oMath>
                </a14:m>
                <a:endParaRPr lang="de-DE" sz="2200" dirty="0"/>
              </a:p>
              <a:p>
                <a14:m>
                  <m:oMath xmlns:m="http://schemas.openxmlformats.org/officeDocument/2006/math">
                    <m:nary>
                      <m:naryPr>
                        <m:chr m:val="∮"/>
                        <m:limLoc m:val="undOvr"/>
                        <m:subHide m:val="on"/>
                        <m:supHide m:val="on"/>
                        <m:ctrlPr>
                          <a:rPr lang="de-DE" sz="2200" i="1">
                            <a:latin typeface="Cambria Math" panose="02040503050406030204" pitchFamily="18" charset="0"/>
                          </a:rPr>
                        </m:ctrlPr>
                      </m:naryPr>
                      <m:sub/>
                      <m:sup/>
                      <m:e>
                        <m:acc>
                          <m:accPr>
                            <m:chr m:val="⃑"/>
                            <m:ctrlPr>
                              <a:rPr lang="de-DE" sz="22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de-DE" sz="2200" b="0" i="1" smtClean="0">
                                <a:latin typeface="Cambria Math" panose="02040503050406030204" pitchFamily="18" charset="0"/>
                              </a:rPr>
                              <m:t>𝐵</m:t>
                            </m:r>
                          </m:e>
                        </m:acc>
                        <m:r>
                          <a:rPr lang="de-DE" sz="2200">
                            <a:latin typeface="Cambria Math" panose="02040503050406030204" pitchFamily="18" charset="0"/>
                          </a:rPr>
                          <m:t>∙</m:t>
                        </m:r>
                        <m:r>
                          <a:rPr lang="de-DE" sz="2200" i="1">
                            <a:latin typeface="Cambria Math" panose="02040503050406030204" pitchFamily="18" charset="0"/>
                          </a:rPr>
                          <m:t>𝑑</m:t>
                        </m:r>
                        <m:acc>
                          <m:accPr>
                            <m:chr m:val="⃑"/>
                            <m:ctrlPr>
                              <a:rPr lang="de-DE" sz="22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de-DE" sz="2200" i="1">
                                <a:latin typeface="Cambria Math" panose="02040503050406030204" pitchFamily="18" charset="0"/>
                              </a:rPr>
                              <m:t>𝑙</m:t>
                            </m:r>
                          </m:e>
                        </m:acc>
                      </m:e>
                    </m:nary>
                    <m:r>
                      <a:rPr lang="de-DE" sz="2200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de-DE" sz="2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sz="2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de-DE" sz="2200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de-DE" sz="2200" b="0" i="1" smtClean="0">
                        <a:latin typeface="Cambria Math" panose="02040503050406030204" pitchFamily="18" charset="0"/>
                      </a:rPr>
                      <m:t>𝐼</m:t>
                    </m:r>
                    <m:r>
                      <a:rPr lang="de-DE" sz="2200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de-DE" sz="2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sz="2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de-DE" sz="2200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sSub>
                      <m:sSubPr>
                        <m:ctrlPr>
                          <a:rPr lang="de-DE" sz="2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sz="2200" i="1">
                            <a:latin typeface="Cambria Math" panose="02040503050406030204" pitchFamily="18" charset="0"/>
                          </a:rPr>
                          <m:t>𝜀</m:t>
                        </m:r>
                      </m:e>
                      <m:sub>
                        <m:r>
                          <a:rPr lang="de-DE" sz="2200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f>
                      <m:fPr>
                        <m:ctrlPr>
                          <a:rPr lang="de-DE" sz="22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de-DE" sz="2200" i="1">
                            <a:latin typeface="Cambria Math" panose="02040503050406030204" pitchFamily="18" charset="0"/>
                          </a:rPr>
                          <m:t>ⅆ</m:t>
                        </m:r>
                      </m:num>
                      <m:den>
                        <m:r>
                          <a:rPr lang="de-DE" sz="2200" i="1">
                            <a:latin typeface="Cambria Math" panose="02040503050406030204" pitchFamily="18" charset="0"/>
                          </a:rPr>
                          <m:t>ⅆ</m:t>
                        </m:r>
                        <m:r>
                          <a:rPr lang="de-DE" sz="2200" i="1">
                            <a:latin typeface="Cambria Math" panose="02040503050406030204" pitchFamily="18" charset="0"/>
                          </a:rPr>
                          <m:t>𝑡</m:t>
                        </m:r>
                      </m:den>
                    </m:f>
                    <m:nary>
                      <m:naryPr>
                        <m:limLoc m:val="undOvr"/>
                        <m:subHide m:val="on"/>
                        <m:supHide m:val="on"/>
                        <m:ctrlPr>
                          <a:rPr lang="de-DE" sz="2200" i="1">
                            <a:latin typeface="Cambria Math" panose="02040503050406030204" pitchFamily="18" charset="0"/>
                          </a:rPr>
                        </m:ctrlPr>
                      </m:naryPr>
                      <m:sub/>
                      <m:sup/>
                      <m:e>
                        <m:acc>
                          <m:accPr>
                            <m:chr m:val="⃑"/>
                            <m:ctrlPr>
                              <a:rPr lang="de-DE" sz="22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de-DE" sz="2200" b="0" i="1" smtClean="0">
                                <a:latin typeface="Cambria Math" panose="02040503050406030204" pitchFamily="18" charset="0"/>
                              </a:rPr>
                              <m:t>𝐸</m:t>
                            </m:r>
                          </m:e>
                        </m:acc>
                        <m:r>
                          <a:rPr lang="de-DE" sz="2200" i="1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de-DE" sz="2200" i="1">
                            <a:latin typeface="Cambria Math" panose="02040503050406030204" pitchFamily="18" charset="0"/>
                          </a:rPr>
                          <m:t>𝑑</m:t>
                        </m:r>
                        <m:acc>
                          <m:accPr>
                            <m:chr m:val="⃑"/>
                            <m:ctrlPr>
                              <a:rPr lang="de-DE" sz="22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de-DE" sz="2200" i="1"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</m:acc>
                      </m:e>
                    </m:nary>
                  </m:oMath>
                </a14:m>
                <a:endParaRPr lang="de-DE" sz="2200" dirty="0"/>
              </a:p>
            </p:txBody>
          </p:sp>
        </mc:Choice>
        <mc:Fallback xmlns="">
          <p:sp>
            <p:nvSpPr>
              <p:cNvPr id="5" name="Inhaltsplatzhalter 4">
                <a:extLst>
                  <a:ext uri="{FF2B5EF4-FFF2-40B4-BE49-F238E27FC236}">
                    <a16:creationId xmlns:a16="http://schemas.microsoft.com/office/drawing/2014/main" id="{761A91F8-F48F-2EDF-3375-5AFCF597E9E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xfrm>
                <a:off x="838200" y="1825625"/>
                <a:ext cx="5181600" cy="2756886"/>
              </a:xfrm>
              <a:blipFill>
                <a:blip r:embed="rId2"/>
                <a:stretch>
                  <a:fillRect l="-5366" t="-7763" b="-29680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Inhaltsplatzhalter 5">
                <a:extLst>
                  <a:ext uri="{FF2B5EF4-FFF2-40B4-BE49-F238E27FC236}">
                    <a16:creationId xmlns:a16="http://schemas.microsoft.com/office/drawing/2014/main" id="{FB5B8073-54AD-3951-85D3-27483A6A980C}"/>
                  </a:ext>
                </a:extLst>
              </p:cNvPr>
              <p:cNvSpPr>
                <a:spLocks noGrp="1"/>
              </p:cNvSpPr>
              <p:nvPr>
                <p:ph sz="half" idx="2"/>
              </p:nvPr>
            </p:nvSpPr>
            <p:spPr>
              <a:xfrm>
                <a:off x="6172200" y="1825625"/>
                <a:ext cx="5181600" cy="2756886"/>
              </a:xfrm>
              <a:ln>
                <a:solidFill>
                  <a:schemeClr val="tx1"/>
                </a:solidFill>
              </a:ln>
            </p:spPr>
            <p:txBody>
              <a:bodyPr>
                <a:noAutofit/>
              </a:bodyPr>
              <a:lstStyle/>
              <a:p>
                <a:pPr marL="0" indent="0">
                  <a:buNone/>
                </a:pPr>
                <a:r>
                  <a:rPr lang="de-DE" sz="2200" dirty="0"/>
                  <a:t>differential form:</a:t>
                </a:r>
              </a:p>
              <a:p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de-DE" sz="2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∇</m:t>
                    </m:r>
                    <m:r>
                      <a:rPr lang="de-DE" sz="2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acc>
                      <m:accPr>
                        <m:chr m:val="⃑"/>
                        <m:ctrlPr>
                          <a:rPr lang="de-DE" sz="22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de-DE" sz="2200" b="0" i="1" smtClean="0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</m:acc>
                    <m:r>
                      <a:rPr lang="de-DE" sz="2200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de-DE" sz="22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de-DE" sz="2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𝜌</m:t>
                        </m:r>
                      </m:num>
                      <m:den>
                        <m:sSub>
                          <m:sSubPr>
                            <m:ctrlPr>
                              <a:rPr lang="de-DE" sz="22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de-DE" sz="2200" i="1">
                                <a:latin typeface="Cambria Math" panose="02040503050406030204" pitchFamily="18" charset="0"/>
                              </a:rPr>
                              <m:t>𝜀</m:t>
                            </m:r>
                          </m:e>
                          <m:sub>
                            <m:r>
                              <a:rPr lang="de-DE" sz="2200" i="1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den>
                    </m:f>
                  </m:oMath>
                </a14:m>
                <a:endParaRPr lang="de-DE" sz="2200" dirty="0"/>
              </a:p>
              <a:p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de-DE" sz="2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∇</m:t>
                    </m:r>
                    <m:r>
                      <a:rPr lang="de-DE" sz="2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acc>
                      <m:accPr>
                        <m:chr m:val="⃑"/>
                        <m:ctrlPr>
                          <a:rPr lang="de-DE" sz="22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de-DE" sz="2200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</m:acc>
                    <m:r>
                      <a:rPr lang="de-DE" sz="22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de-DE" sz="2200" b="0" i="1" smtClean="0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endParaRPr lang="de-DE" sz="2200" dirty="0"/>
              </a:p>
              <a:p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de-DE" sz="2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∇</m:t>
                    </m:r>
                    <m:r>
                      <a:rPr lang="de-DE" sz="22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acc>
                      <m:accPr>
                        <m:chr m:val="⃑"/>
                        <m:ctrlPr>
                          <a:rPr lang="de-DE" sz="22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de-DE" sz="2200" b="0" i="1" smtClean="0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</m:acc>
                    <m:r>
                      <a:rPr lang="de-DE" sz="22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de-DE" sz="2200" b="0" i="1" smtClean="0"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ctrlPr>
                          <a:rPr lang="de-DE" sz="22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de-DE" sz="2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𝜕</m:t>
                        </m:r>
                        <m:acc>
                          <m:accPr>
                            <m:chr m:val="⃑"/>
                            <m:ctrlPr>
                              <a:rPr lang="de-DE" sz="22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de-DE" sz="2200" i="1">
                                <a:latin typeface="Cambria Math" panose="02040503050406030204" pitchFamily="18" charset="0"/>
                              </a:rPr>
                              <m:t>𝐵</m:t>
                            </m:r>
                          </m:e>
                        </m:acc>
                      </m:num>
                      <m:den>
                        <m:r>
                          <a:rPr lang="de-DE" sz="2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𝜕</m:t>
                        </m:r>
                        <m:r>
                          <a:rPr lang="de-DE" sz="2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𝑡</m:t>
                        </m:r>
                      </m:den>
                    </m:f>
                  </m:oMath>
                </a14:m>
                <a:endParaRPr lang="de-DE" sz="2200" dirty="0"/>
              </a:p>
              <a:p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de-DE" sz="2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∇</m:t>
                    </m:r>
                    <m:r>
                      <a:rPr lang="de-DE" sz="2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acc>
                      <m:accPr>
                        <m:chr m:val="⃑"/>
                        <m:ctrlPr>
                          <a:rPr lang="de-DE" sz="22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de-DE" sz="2200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</m:acc>
                    <m:r>
                      <a:rPr lang="de-DE" sz="2200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de-DE" sz="2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sz="2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de-DE" sz="2200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acc>
                      <m:accPr>
                        <m:chr m:val="⃑"/>
                        <m:ctrlPr>
                          <a:rPr lang="de-DE" sz="22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de-DE" sz="2200" b="0" i="1" smtClean="0">
                            <a:latin typeface="Cambria Math" panose="02040503050406030204" pitchFamily="18" charset="0"/>
                          </a:rPr>
                          <m:t>𝐽</m:t>
                        </m:r>
                      </m:e>
                    </m:acc>
                    <m:r>
                      <a:rPr lang="de-DE" sz="2200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de-DE" sz="2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sz="22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de-DE" sz="2200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sSub>
                      <m:sSubPr>
                        <m:ctrlPr>
                          <a:rPr lang="de-DE" sz="2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sz="2200" i="1">
                            <a:latin typeface="Cambria Math" panose="02040503050406030204" pitchFamily="18" charset="0"/>
                          </a:rPr>
                          <m:t>𝜀</m:t>
                        </m:r>
                      </m:e>
                      <m:sub>
                        <m:r>
                          <a:rPr lang="de-DE" sz="2200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f>
                      <m:fPr>
                        <m:ctrlPr>
                          <a:rPr lang="de-DE" sz="22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de-DE" sz="2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𝜕</m:t>
                        </m:r>
                        <m:acc>
                          <m:accPr>
                            <m:chr m:val="⃑"/>
                            <m:ctrlPr>
                              <a:rPr lang="de-DE" sz="22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de-DE" sz="2200" b="0" i="1" smtClean="0">
                                <a:latin typeface="Cambria Math" panose="02040503050406030204" pitchFamily="18" charset="0"/>
                              </a:rPr>
                              <m:t>𝐸</m:t>
                            </m:r>
                          </m:e>
                        </m:acc>
                      </m:num>
                      <m:den>
                        <m:r>
                          <a:rPr lang="de-DE" sz="2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𝜕</m:t>
                        </m:r>
                        <m:r>
                          <a:rPr lang="de-DE" sz="2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𝑡</m:t>
                        </m:r>
                      </m:den>
                    </m:f>
                  </m:oMath>
                </a14:m>
                <a:endParaRPr lang="de-DE" sz="2200" dirty="0"/>
              </a:p>
            </p:txBody>
          </p:sp>
        </mc:Choice>
        <mc:Fallback xmlns="">
          <p:sp>
            <p:nvSpPr>
              <p:cNvPr id="6" name="Inhaltsplatzhalter 5">
                <a:extLst>
                  <a:ext uri="{FF2B5EF4-FFF2-40B4-BE49-F238E27FC236}">
                    <a16:creationId xmlns:a16="http://schemas.microsoft.com/office/drawing/2014/main" id="{FB5B8073-54AD-3951-85D3-27483A6A980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xfrm>
                <a:off x="6172200" y="1825625"/>
                <a:ext cx="5181600" cy="2756886"/>
              </a:xfrm>
              <a:blipFill>
                <a:blip r:embed="rId3"/>
                <a:stretch>
                  <a:fillRect l="-1220" t="-2283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890BF1F1-BD18-9489-FE44-E9AD525497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03FC7C-1F2C-4946-B702-1A52A755583B}" type="slidenum">
              <a:rPr lang="de-DE" smtClean="0"/>
              <a:t>41</a:t>
            </a:fld>
            <a:endParaRPr lang="de-DE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feld 8">
                <a:extLst>
                  <a:ext uri="{FF2B5EF4-FFF2-40B4-BE49-F238E27FC236}">
                    <a16:creationId xmlns:a16="http://schemas.microsoft.com/office/drawing/2014/main" id="{C167A141-AEDC-0477-2758-DE52E0E81EF4}"/>
                  </a:ext>
                </a:extLst>
              </p:cNvPr>
              <p:cNvSpPr txBox="1"/>
              <p:nvPr/>
            </p:nvSpPr>
            <p:spPr>
              <a:xfrm>
                <a:off x="4064401" y="5175899"/>
                <a:ext cx="1832361" cy="118051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de-DE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de-DE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∇</m:t>
                          </m:r>
                        </m:e>
                        <m:sup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acc>
                        <m:accPr>
                          <m:chr m:val="⃑"/>
                          <m:ctrlPr>
                            <a:rPr lang="de-DE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</m:acc>
                      <m:r>
                        <a:rPr lang="de-DE" b="0" i="1" smtClean="0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de-DE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sSup>
                            <m:sSupPr>
                              <m:ctrlPr>
                                <a:rPr lang="de-DE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de-DE" b="0" i="1" smtClean="0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p>
                              <m:r>
                                <a:rPr lang="de-DE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f>
                        <m:fPr>
                          <m:ctrlPr>
                            <a:rPr lang="de-DE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de-DE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de-DE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𝜕</m:t>
                              </m:r>
                            </m:e>
                            <m:sup>
                              <m:r>
                                <a:rPr lang="de-DE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acc>
                            <m:accPr>
                              <m:chr m:val="⃑"/>
                              <m:ctrlPr>
                                <a:rPr lang="de-DE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de-DE" b="0" i="1" smtClean="0">
                                  <a:latin typeface="Cambria Math" panose="02040503050406030204" pitchFamily="18" charset="0"/>
                                </a:rPr>
                                <m:t>𝐸</m:t>
                              </m:r>
                            </m:e>
                          </m:acc>
                        </m:num>
                        <m:den>
                          <m:r>
                            <a:rPr lang="de-DE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  <m:sSup>
                            <m:sSupPr>
                              <m:ctrlPr>
                                <a:rPr lang="de-DE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de-DE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p>
                              <m:r>
                                <a:rPr lang="de-DE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r>
                        <a:rPr lang="de-DE" b="0" i="1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de-DE" b="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de-DE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de-DE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∇</m:t>
                          </m:r>
                        </m:e>
                        <m:sup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acc>
                        <m:accPr>
                          <m:chr m:val="⃑"/>
                          <m:ctrlPr>
                            <a:rPr lang="de-DE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</m:acc>
                      <m:r>
                        <a:rPr lang="de-DE" i="1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de-DE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sSup>
                            <m:sSupPr>
                              <m:ctrlPr>
                                <a:rPr lang="de-DE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de-DE" i="1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p>
                              <m:r>
                                <a:rPr lang="de-DE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f>
                        <m:fPr>
                          <m:ctrlPr>
                            <a:rPr lang="de-DE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de-DE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de-DE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𝜕</m:t>
                              </m:r>
                            </m:e>
                            <m:sup>
                              <m:r>
                                <a:rPr lang="de-DE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acc>
                            <m:accPr>
                              <m:chr m:val="⃑"/>
                              <m:ctrlPr>
                                <a:rPr lang="de-DE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de-DE" i="1"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e>
                          </m:acc>
                        </m:num>
                        <m:den>
                          <m:r>
                            <a:rPr lang="de-DE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  <m:sSup>
                            <m:sSupPr>
                              <m:ctrlPr>
                                <a:rPr lang="de-DE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de-DE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p>
                              <m:r>
                                <a:rPr lang="de-DE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r>
                        <a:rPr lang="de-DE" i="1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de-DE" dirty="0"/>
              </a:p>
            </p:txBody>
          </p:sp>
        </mc:Choice>
        <mc:Fallback xmlns="">
          <p:sp>
            <p:nvSpPr>
              <p:cNvPr id="9" name="Textfeld 8">
                <a:extLst>
                  <a:ext uri="{FF2B5EF4-FFF2-40B4-BE49-F238E27FC236}">
                    <a16:creationId xmlns:a16="http://schemas.microsoft.com/office/drawing/2014/main" id="{C167A141-AEDC-0477-2758-DE52E0E81EF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64401" y="5175899"/>
                <a:ext cx="1832361" cy="1180516"/>
              </a:xfrm>
              <a:prstGeom prst="rect">
                <a:avLst/>
              </a:prstGeom>
              <a:blipFill>
                <a:blip r:embed="rId4"/>
                <a:stretch>
                  <a:fillRect l="-2759" r="-2069" b="-6383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feld 10">
                <a:extLst>
                  <a:ext uri="{FF2B5EF4-FFF2-40B4-BE49-F238E27FC236}">
                    <a16:creationId xmlns:a16="http://schemas.microsoft.com/office/drawing/2014/main" id="{CE457B8D-41CF-3785-CAE2-F682B1B84F59}"/>
                  </a:ext>
                </a:extLst>
              </p:cNvPr>
              <p:cNvSpPr txBox="1"/>
              <p:nvPr/>
            </p:nvSpPr>
            <p:spPr>
              <a:xfrm>
                <a:off x="6562239" y="5501372"/>
                <a:ext cx="3856890" cy="52956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de-DE" i="1">
                        <a:latin typeface="Cambria Math" panose="02040503050406030204" pitchFamily="18" charset="0"/>
                      </a:rPr>
                      <m:t>𝑐</m:t>
                    </m:r>
                    <m:r>
                      <a:rPr lang="de-DE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de-DE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de-DE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de-DE" i="1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sSub>
                              <m:sSubPr>
                                <m:ctrlPr>
                                  <a:rPr lang="de-DE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de-DE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𝜇</m:t>
                                </m:r>
                              </m:e>
                              <m:sub>
                                <m:r>
                                  <a:rPr lang="de-DE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</m:sSub>
                            <m:sSub>
                              <m:sSubPr>
                                <m:ctrlPr>
                                  <a:rPr lang="de-DE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de-DE" i="1">
                                    <a:latin typeface="Cambria Math" panose="02040503050406030204" pitchFamily="18" charset="0"/>
                                  </a:rPr>
                                  <m:t>𝜀</m:t>
                                </m:r>
                              </m:e>
                              <m:sub>
                                <m:r>
                                  <a:rPr lang="de-DE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</m:sSub>
                          </m:e>
                        </m:rad>
                      </m:den>
                    </m:f>
                  </m:oMath>
                </a14:m>
                <a:r>
                  <a:rPr lang="de-DE" dirty="0"/>
                  <a:t>     (</a:t>
                </a:r>
                <a:r>
                  <a:rPr lang="de-DE" dirty="0" err="1"/>
                  <a:t>speed</a:t>
                </a:r>
                <a:r>
                  <a:rPr lang="de-DE" dirty="0"/>
                  <a:t> </a:t>
                </a:r>
                <a:r>
                  <a:rPr lang="de-DE" dirty="0" err="1"/>
                  <a:t>of</a:t>
                </a:r>
                <a:r>
                  <a:rPr lang="de-DE" dirty="0"/>
                  <a:t> light in </a:t>
                </a:r>
                <a:r>
                  <a:rPr lang="de-DE" dirty="0" err="1"/>
                  <a:t>vacuum</a:t>
                </a:r>
                <a:r>
                  <a:rPr lang="de-DE" dirty="0"/>
                  <a:t>)</a:t>
                </a:r>
              </a:p>
            </p:txBody>
          </p:sp>
        </mc:Choice>
        <mc:Fallback xmlns="">
          <p:sp>
            <p:nvSpPr>
              <p:cNvPr id="11" name="Textfeld 10">
                <a:extLst>
                  <a:ext uri="{FF2B5EF4-FFF2-40B4-BE49-F238E27FC236}">
                    <a16:creationId xmlns:a16="http://schemas.microsoft.com/office/drawing/2014/main" id="{CE457B8D-41CF-3785-CAE2-F682B1B84F5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62239" y="5501372"/>
                <a:ext cx="3856890" cy="529569"/>
              </a:xfrm>
              <a:prstGeom prst="rect">
                <a:avLst/>
              </a:prstGeom>
              <a:blipFill>
                <a:blip r:embed="rId5"/>
                <a:stretch>
                  <a:fillRect r="-328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Textfeld 11">
            <a:extLst>
              <a:ext uri="{FF2B5EF4-FFF2-40B4-BE49-F238E27FC236}">
                <a16:creationId xmlns:a16="http://schemas.microsoft.com/office/drawing/2014/main" id="{D46BF93C-F6FB-0E8C-F0C6-AAB37BFF77DE}"/>
              </a:ext>
            </a:extLst>
          </p:cNvPr>
          <p:cNvSpPr txBox="1"/>
          <p:nvPr/>
        </p:nvSpPr>
        <p:spPr>
          <a:xfrm>
            <a:off x="1925271" y="5581490"/>
            <a:ext cx="18063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 err="1"/>
              <a:t>wave</a:t>
            </a:r>
            <a:r>
              <a:rPr lang="de-DE" dirty="0"/>
              <a:t> </a:t>
            </a:r>
            <a:r>
              <a:rPr lang="de-DE" dirty="0" err="1"/>
              <a:t>equations</a:t>
            </a:r>
            <a:r>
              <a:rPr lang="de-DE" dirty="0"/>
              <a:t>:</a:t>
            </a:r>
          </a:p>
        </p:txBody>
      </p:sp>
      <p:sp>
        <p:nvSpPr>
          <p:cNvPr id="13" name="Rechteck 12">
            <a:extLst>
              <a:ext uri="{FF2B5EF4-FFF2-40B4-BE49-F238E27FC236}">
                <a16:creationId xmlns:a16="http://schemas.microsoft.com/office/drawing/2014/main" id="{D519A7F6-5B69-B506-19C7-71BD24379EF9}"/>
              </a:ext>
            </a:extLst>
          </p:cNvPr>
          <p:cNvSpPr/>
          <p:nvPr/>
        </p:nvSpPr>
        <p:spPr>
          <a:xfrm>
            <a:off x="1925271" y="5129046"/>
            <a:ext cx="8493858" cy="1290364"/>
          </a:xfrm>
          <a:prstGeom prst="rect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246236231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6D69A32-47DF-5904-A480-63E4852F84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Transient Responses: RC Series Circuit</a:t>
            </a:r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35E8F4DA-C1BD-95F0-7B52-E2CF7188B3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03FC7C-1F2C-4946-B702-1A52A755583B}" type="slidenum">
              <a:rPr lang="de-DE" smtClean="0"/>
              <a:t>42</a:t>
            </a:fld>
            <a:endParaRPr lang="de-DE"/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7262CE27-98C4-F52E-FACC-82F53235DAA2}"/>
              </a:ext>
            </a:extLst>
          </p:cNvPr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28844" y="2373207"/>
            <a:ext cx="5891038" cy="3918446"/>
          </a:xfrm>
          <a:prstGeom prst="rect">
            <a:avLst/>
          </a:prstGeom>
          <a:noFill/>
        </p:spPr>
      </p:pic>
      <p:pic>
        <p:nvPicPr>
          <p:cNvPr id="5" name="Grafik 4">
            <a:extLst>
              <a:ext uri="{FF2B5EF4-FFF2-40B4-BE49-F238E27FC236}">
                <a16:creationId xmlns:a16="http://schemas.microsoft.com/office/drawing/2014/main" id="{F127E921-17DC-5B89-6552-62E53226D860}"/>
              </a:ext>
            </a:extLst>
          </p:cNvPr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1987" y="4645840"/>
            <a:ext cx="2247900" cy="1288415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feld 7">
                <a:extLst>
                  <a:ext uri="{FF2B5EF4-FFF2-40B4-BE49-F238E27FC236}">
                    <a16:creationId xmlns:a16="http://schemas.microsoft.com/office/drawing/2014/main" id="{E9D9C505-45C5-8E94-9A95-BDAB5BB4BC7D}"/>
                  </a:ext>
                </a:extLst>
              </p:cNvPr>
              <p:cNvSpPr txBox="1"/>
              <p:nvPr/>
            </p:nvSpPr>
            <p:spPr>
              <a:xfrm>
                <a:off x="838200" y="2064864"/>
                <a:ext cx="2953437" cy="123841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de-DE" sz="2400" dirty="0"/>
                  <a:t>differential </a:t>
                </a:r>
                <a:r>
                  <a:rPr lang="de-DE" sz="2400" dirty="0" err="1"/>
                  <a:t>equation</a:t>
                </a:r>
                <a:r>
                  <a:rPr lang="de-DE" sz="2400" dirty="0"/>
                  <a:t>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sz="2400" i="1">
                              <a:latin typeface="Cambria Math" panose="02040503050406030204" pitchFamily="18" charset="0"/>
                            </a:rPr>
                            <m:t>𝑈</m:t>
                          </m:r>
                        </m:e>
                        <m:sub>
                          <m:r>
                            <a:rPr lang="de-DE" sz="2400" i="1">
                              <a:latin typeface="Cambria Math" panose="02040503050406030204" pitchFamily="18" charset="0"/>
                            </a:rPr>
                            <m:t>𝑞</m:t>
                          </m:r>
                        </m:sub>
                      </m:sSub>
                      <m:r>
                        <a:rPr lang="de-DE" sz="240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de-DE" sz="2400" i="1">
                          <a:latin typeface="Cambria Math" panose="02040503050406030204" pitchFamily="18" charset="0"/>
                        </a:rPr>
                        <m:t>𝑖𝑅</m:t>
                      </m:r>
                      <m:r>
                        <a:rPr lang="de-DE" sz="240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de-DE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de-DE" sz="240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de-DE" sz="2400" i="1">
                              <a:latin typeface="Cambria Math" panose="02040503050406030204" pitchFamily="18" charset="0"/>
                            </a:rPr>
                            <m:t>𝐶</m:t>
                          </m:r>
                        </m:den>
                      </m:f>
                      <m:nary>
                        <m:naryPr>
                          <m:subHide m:val="on"/>
                          <m:supHide m:val="on"/>
                          <m:ctrlPr>
                            <a:rPr lang="de-DE" sz="2400" i="1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r>
                            <a:rPr lang="de-DE" sz="2400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de-DE" sz="240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de-DE" sz="2400" i="1">
                              <a:latin typeface="Cambria Math" panose="02040503050406030204" pitchFamily="18" charset="0"/>
                            </a:rPr>
                            <m:t>𝑑𝑡</m:t>
                          </m:r>
                        </m:e>
                      </m:nary>
                    </m:oMath>
                  </m:oMathPara>
                </a14:m>
                <a:endParaRPr lang="de-DE" sz="2400" dirty="0"/>
              </a:p>
            </p:txBody>
          </p:sp>
        </mc:Choice>
        <mc:Fallback xmlns="">
          <p:sp>
            <p:nvSpPr>
              <p:cNvPr id="8" name="Textfeld 7">
                <a:extLst>
                  <a:ext uri="{FF2B5EF4-FFF2-40B4-BE49-F238E27FC236}">
                    <a16:creationId xmlns:a16="http://schemas.microsoft.com/office/drawing/2014/main" id="{E9D9C505-45C5-8E94-9A95-BDAB5BB4BC7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2064864"/>
                <a:ext cx="2953437" cy="1238416"/>
              </a:xfrm>
              <a:prstGeom prst="rect">
                <a:avLst/>
              </a:prstGeom>
              <a:blipFill>
                <a:blip r:embed="rId4"/>
                <a:stretch>
                  <a:fillRect l="-3433" t="-92929" r="-10730" b="-175758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feld 9">
                <a:extLst>
                  <a:ext uri="{FF2B5EF4-FFF2-40B4-BE49-F238E27FC236}">
                    <a16:creationId xmlns:a16="http://schemas.microsoft.com/office/drawing/2014/main" id="{3081F9BD-6B9D-50CA-23C4-1CCADACB225E}"/>
                  </a:ext>
                </a:extLst>
              </p:cNvPr>
              <p:cNvSpPr txBox="1"/>
              <p:nvPr/>
            </p:nvSpPr>
            <p:spPr>
              <a:xfrm>
                <a:off x="2669320" y="4162274"/>
                <a:ext cx="2333297" cy="257884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i="1" smtClean="0"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de-DE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de-DE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de-DE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e-DE" i="1">
                                  <a:latin typeface="Cambria Math" panose="02040503050406030204" pitchFamily="18" charset="0"/>
                                </a:rPr>
                                <m:t>𝑈</m:t>
                              </m:r>
                            </m:e>
                            <m:sub>
                              <m:r>
                                <a:rPr lang="de-DE" i="1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sub>
                          </m:sSub>
                        </m:num>
                        <m:den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𝑅</m:t>
                          </m:r>
                        </m:den>
                      </m:f>
                      <m:r>
                        <a:rPr lang="de-DE">
                          <a:latin typeface="Cambria Math" panose="02040503050406030204" pitchFamily="18" charset="0"/>
                        </a:rPr>
                        <m:t>∙</m:t>
                      </m:r>
                      <m:sSup>
                        <m:sSupPr>
                          <m:ctrlPr>
                            <a:rPr lang="de-DE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de-DE">
                              <a:latin typeface="Cambria Math" panose="020405030504060302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de-DE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de-DE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num>
                            <m:den>
                              <m:r>
                                <a:rPr lang="de-DE" i="1">
                                  <a:latin typeface="Cambria Math" panose="02040503050406030204" pitchFamily="18" charset="0"/>
                                </a:rPr>
                                <m:t>𝜏</m:t>
                              </m:r>
                            </m:den>
                          </m:f>
                        </m:sup>
                      </m:sSup>
                    </m:oMath>
                  </m:oMathPara>
                </a14:m>
                <a:endParaRPr lang="de-DE" i="1" dirty="0">
                  <a:latin typeface="Cambria Math" panose="02040503050406030204" pitchFamily="18" charset="0"/>
                </a:endParaRPr>
              </a:p>
              <a:p>
                <a:endParaRPr lang="de-DE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i="1" smtClean="0">
                          <a:latin typeface="Cambria Math" panose="02040503050406030204" pitchFamily="18" charset="0"/>
                        </a:rPr>
                        <m:t>𝜏</m:t>
                      </m:r>
                      <m:r>
                        <a:rPr lang="de-DE" i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de-DE" i="1">
                          <a:latin typeface="Cambria Math" panose="02040503050406030204" pitchFamily="18" charset="0"/>
                        </a:rPr>
                        <m:t>𝑅𝐶</m:t>
                      </m:r>
                    </m:oMath>
                  </m:oMathPara>
                </a14:m>
                <a:endParaRPr lang="de-DE" dirty="0"/>
              </a:p>
              <a:p>
                <a:endParaRPr lang="de-DE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𝑅</m:t>
                          </m:r>
                        </m:sub>
                      </m:sSub>
                      <m:r>
                        <a:rPr lang="de-DE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de-DE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𝑈</m:t>
                          </m:r>
                        </m:e>
                        <m:sub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𝑞</m:t>
                          </m:r>
                        </m:sub>
                      </m:sSub>
                      <m:r>
                        <a:rPr lang="de-DE">
                          <a:latin typeface="Cambria Math" panose="02040503050406030204" pitchFamily="18" charset="0"/>
                        </a:rPr>
                        <m:t>∙</m:t>
                      </m:r>
                      <m:sSup>
                        <m:sSupPr>
                          <m:ctrlPr>
                            <a:rPr lang="de-DE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de-DE">
                              <a:latin typeface="Cambria Math" panose="020405030504060302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de-DE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de-DE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num>
                            <m:den>
                              <m:r>
                                <a:rPr lang="de-DE" i="1">
                                  <a:latin typeface="Cambria Math" panose="02040503050406030204" pitchFamily="18" charset="0"/>
                                </a:rPr>
                                <m:t>𝜏</m:t>
                              </m:r>
                            </m:den>
                          </m:f>
                        </m:sup>
                      </m:sSup>
                    </m:oMath>
                  </m:oMathPara>
                </a14:m>
                <a:endParaRPr lang="de-DE" i="1" dirty="0">
                  <a:latin typeface="Cambria Math" panose="02040503050406030204" pitchFamily="18" charset="0"/>
                </a:endParaRPr>
              </a:p>
              <a:p>
                <a:endParaRPr lang="de-DE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𝐶</m:t>
                          </m:r>
                        </m:sub>
                      </m:sSub>
                      <m:r>
                        <a:rPr lang="de-DE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de-DE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𝑈</m:t>
                          </m:r>
                        </m:e>
                        <m:sub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𝑞</m:t>
                          </m:r>
                        </m:sub>
                      </m:sSub>
                      <m:d>
                        <m:dPr>
                          <m:ctrlPr>
                            <a:rPr lang="de-DE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de-DE">
                              <a:latin typeface="Cambria Math" panose="02040503050406030204" pitchFamily="18" charset="0"/>
                            </a:rPr>
                            <m:t>1−</m:t>
                          </m:r>
                          <m:sSup>
                            <m:sSupPr>
                              <m:ctrlPr>
                                <a:rPr lang="de-DE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de-DE" i="1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de-DE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f>
                                <m:fPr>
                                  <m:ctrlPr>
                                    <a:rPr lang="de-DE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de-DE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num>
                                <m:den>
                                  <m:r>
                                    <a:rPr lang="de-DE" i="1">
                                      <a:latin typeface="Cambria Math" panose="02040503050406030204" pitchFamily="18" charset="0"/>
                                    </a:rPr>
                                    <m:t>𝜏</m:t>
                                  </m:r>
                                </m:den>
                              </m:f>
                            </m:sup>
                          </m:sSup>
                        </m:e>
                      </m:d>
                    </m:oMath>
                  </m:oMathPara>
                </a14:m>
                <a:endParaRPr lang="de-DE" dirty="0"/>
              </a:p>
            </p:txBody>
          </p:sp>
        </mc:Choice>
        <mc:Fallback xmlns="">
          <p:sp>
            <p:nvSpPr>
              <p:cNvPr id="10" name="Textfeld 9">
                <a:extLst>
                  <a:ext uri="{FF2B5EF4-FFF2-40B4-BE49-F238E27FC236}">
                    <a16:creationId xmlns:a16="http://schemas.microsoft.com/office/drawing/2014/main" id="{3081F9BD-6B9D-50CA-23C4-1CCADACB225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69320" y="4162274"/>
                <a:ext cx="2333297" cy="2578847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Textfeld 12">
            <a:extLst>
              <a:ext uri="{FF2B5EF4-FFF2-40B4-BE49-F238E27FC236}">
                <a16:creationId xmlns:a16="http://schemas.microsoft.com/office/drawing/2014/main" id="{9D95278F-E329-6A44-6095-36318FA88B35}"/>
              </a:ext>
            </a:extLst>
          </p:cNvPr>
          <p:cNvSpPr txBox="1"/>
          <p:nvPr/>
        </p:nvSpPr>
        <p:spPr>
          <a:xfrm>
            <a:off x="658799" y="3608141"/>
            <a:ext cx="434381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2400" dirty="0" err="1"/>
              <a:t>charging</a:t>
            </a:r>
            <a:r>
              <a:rPr lang="de-DE" sz="2400" dirty="0"/>
              <a:t> </a:t>
            </a:r>
            <a:r>
              <a:rPr lang="de-DE" sz="2400" dirty="0" err="1"/>
              <a:t>the</a:t>
            </a:r>
            <a:r>
              <a:rPr lang="de-DE" sz="2400" dirty="0"/>
              <a:t> </a:t>
            </a:r>
            <a:r>
              <a:rPr lang="de-DE" sz="2400" dirty="0" err="1"/>
              <a:t>capacitor</a:t>
            </a:r>
            <a:r>
              <a:rPr lang="de-DE" sz="2400" dirty="0"/>
              <a:t> </a:t>
            </a:r>
            <a:r>
              <a:rPr lang="de-DE" sz="2400" dirty="0" err="1"/>
              <a:t>with</a:t>
            </a:r>
            <a:r>
              <a:rPr lang="de-DE" sz="2400" dirty="0"/>
              <a:t> DC:</a:t>
            </a:r>
          </a:p>
        </p:txBody>
      </p:sp>
      <p:sp>
        <p:nvSpPr>
          <p:cNvPr id="6" name="Textfeld 5">
            <a:extLst>
              <a:ext uri="{FF2B5EF4-FFF2-40B4-BE49-F238E27FC236}">
                <a16:creationId xmlns:a16="http://schemas.microsoft.com/office/drawing/2014/main" id="{3EE26FF0-1D96-8482-E5BE-DC47C347DA70}"/>
              </a:ext>
            </a:extLst>
          </p:cNvPr>
          <p:cNvSpPr txBox="1"/>
          <p:nvPr/>
        </p:nvSpPr>
        <p:spPr>
          <a:xfrm>
            <a:off x="5833241" y="1607161"/>
            <a:ext cx="615379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 err="1"/>
              <a:t>transients</a:t>
            </a:r>
            <a:r>
              <a:rPr lang="de-DE" dirty="0"/>
              <a:t>: time-</a:t>
            </a:r>
            <a:r>
              <a:rPr lang="de-DE" dirty="0" err="1"/>
              <a:t>varying</a:t>
            </a:r>
            <a:r>
              <a:rPr lang="de-DE" dirty="0"/>
              <a:t> </a:t>
            </a:r>
            <a:r>
              <a:rPr lang="de-DE" dirty="0" err="1"/>
              <a:t>currents</a:t>
            </a:r>
            <a:r>
              <a:rPr lang="de-DE" dirty="0"/>
              <a:t> and </a:t>
            </a:r>
            <a:r>
              <a:rPr lang="de-DE" dirty="0" err="1"/>
              <a:t>voltages</a:t>
            </a:r>
            <a:r>
              <a:rPr lang="de-DE" dirty="0"/>
              <a:t> </a:t>
            </a:r>
            <a:r>
              <a:rPr lang="de-DE" dirty="0" err="1"/>
              <a:t>resulting</a:t>
            </a:r>
            <a:r>
              <a:rPr lang="de-DE" dirty="0"/>
              <a:t> </a:t>
            </a:r>
            <a:r>
              <a:rPr lang="de-DE" dirty="0" err="1"/>
              <a:t>from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sudden</a:t>
            </a:r>
            <a:r>
              <a:rPr lang="de-DE" dirty="0"/>
              <a:t> </a:t>
            </a:r>
            <a:r>
              <a:rPr lang="de-DE" dirty="0" err="1"/>
              <a:t>application</a:t>
            </a:r>
            <a:r>
              <a:rPr lang="de-DE" dirty="0"/>
              <a:t>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sources</a:t>
            </a:r>
            <a:r>
              <a:rPr lang="de-DE" dirty="0"/>
              <a:t> (</a:t>
            </a:r>
            <a:r>
              <a:rPr lang="de-DE" dirty="0" err="1"/>
              <a:t>usually</a:t>
            </a:r>
            <a:r>
              <a:rPr lang="de-DE" dirty="0"/>
              <a:t> due </a:t>
            </a:r>
            <a:r>
              <a:rPr lang="de-DE" dirty="0" err="1"/>
              <a:t>to</a:t>
            </a:r>
            <a:r>
              <a:rPr lang="de-DE" dirty="0"/>
              <a:t> </a:t>
            </a:r>
            <a:r>
              <a:rPr lang="de-DE" dirty="0" err="1"/>
              <a:t>switching</a:t>
            </a:r>
            <a:r>
              <a:rPr lang="de-DE" dirty="0"/>
              <a:t>)</a:t>
            </a:r>
          </a:p>
        </p:txBody>
      </p:sp>
      <p:sp>
        <p:nvSpPr>
          <p:cNvPr id="9" name="Textfeld 8">
            <a:extLst>
              <a:ext uri="{FF2B5EF4-FFF2-40B4-BE49-F238E27FC236}">
                <a16:creationId xmlns:a16="http://schemas.microsoft.com/office/drawing/2014/main" id="{4E1E26F3-84BA-69A9-1773-6AAD3B2032AA}"/>
              </a:ext>
            </a:extLst>
          </p:cNvPr>
          <p:cNvSpPr txBox="1"/>
          <p:nvPr/>
        </p:nvSpPr>
        <p:spPr>
          <a:xfrm>
            <a:off x="9074363" y="4528367"/>
            <a:ext cx="3088728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de-DE" dirty="0" err="1">
                <a:effectLst/>
                <a:latin typeface="Helvetica Neue" panose="02000503000000020004" pitchFamily="2" charset="0"/>
              </a:rPr>
              <a:t>steady-state</a:t>
            </a:r>
            <a:r>
              <a:rPr lang="de-DE" dirty="0">
                <a:effectLst/>
                <a:latin typeface="Helvetica Neue" panose="02000503000000020004" pitchFamily="2" charset="0"/>
              </a:rPr>
              <a:t> </a:t>
            </a:r>
            <a:r>
              <a:rPr lang="de-DE" dirty="0" err="1">
                <a:effectLst/>
                <a:latin typeface="Helvetica Neue" panose="02000503000000020004" pitchFamily="2" charset="0"/>
              </a:rPr>
              <a:t>conditions</a:t>
            </a:r>
            <a:r>
              <a:rPr lang="de-DE" dirty="0">
                <a:effectLst/>
                <a:latin typeface="Helvetica Neue" panose="02000503000000020004" pitchFamily="2" charset="0"/>
              </a:rPr>
              <a:t> </a:t>
            </a:r>
            <a:r>
              <a:rPr lang="de-DE" dirty="0" err="1">
                <a:effectLst/>
                <a:latin typeface="Helvetica Neue" panose="02000503000000020004" pitchFamily="2" charset="0"/>
              </a:rPr>
              <a:t>with</a:t>
            </a:r>
            <a:r>
              <a:rPr lang="de-DE" dirty="0">
                <a:effectLst/>
                <a:latin typeface="Helvetica Neue" panose="02000503000000020004" pitchFamily="2" charset="0"/>
              </a:rPr>
              <a:t> </a:t>
            </a:r>
            <a:r>
              <a:rPr lang="de-DE" dirty="0">
                <a:latin typeface="Helvetica Neue" panose="02000503000000020004" pitchFamily="2" charset="0"/>
              </a:rPr>
              <a:t>DC</a:t>
            </a:r>
            <a:r>
              <a:rPr lang="de-DE" dirty="0">
                <a:effectLst/>
                <a:latin typeface="Helvetica Neue" panose="02000503000000020004" pitchFamily="2" charset="0"/>
              </a:rPr>
              <a:t> </a:t>
            </a:r>
            <a:r>
              <a:rPr lang="de-DE" dirty="0" err="1">
                <a:effectLst/>
                <a:latin typeface="Helvetica Neue" panose="02000503000000020004" pitchFamily="2" charset="0"/>
              </a:rPr>
              <a:t>sources</a:t>
            </a:r>
            <a:r>
              <a:rPr lang="de-DE" dirty="0">
                <a:latin typeface="Helvetica Neue" panose="02000503000000020004" pitchFamily="2" charset="0"/>
              </a:rPr>
              <a:t>: </a:t>
            </a:r>
            <a:r>
              <a:rPr lang="de-DE" dirty="0" err="1">
                <a:effectLst/>
                <a:latin typeface="Helvetica Neue" panose="02000503000000020004" pitchFamily="2" charset="0"/>
              </a:rPr>
              <a:t>capacitances</a:t>
            </a:r>
            <a:r>
              <a:rPr lang="de-DE" dirty="0">
                <a:effectLst/>
                <a:latin typeface="Helvetica Neue" panose="02000503000000020004" pitchFamily="2" charset="0"/>
              </a:rPr>
              <a:t> </a:t>
            </a:r>
            <a:r>
              <a:rPr lang="de-DE" dirty="0" err="1">
                <a:effectLst/>
                <a:latin typeface="Helvetica Neue" panose="02000503000000020004" pitchFamily="2" charset="0"/>
              </a:rPr>
              <a:t>behave</a:t>
            </a:r>
            <a:r>
              <a:rPr lang="de-DE" dirty="0">
                <a:effectLst/>
                <a:latin typeface="Helvetica Neue" panose="02000503000000020004" pitchFamily="2" charset="0"/>
              </a:rPr>
              <a:t> </a:t>
            </a:r>
            <a:r>
              <a:rPr lang="de-DE" dirty="0" err="1">
                <a:effectLst/>
                <a:latin typeface="Helvetica Neue" panose="02000503000000020004" pitchFamily="2" charset="0"/>
              </a:rPr>
              <a:t>as</a:t>
            </a:r>
            <a:r>
              <a:rPr lang="de-DE" dirty="0">
                <a:effectLst/>
                <a:latin typeface="Helvetica Neue" panose="02000503000000020004" pitchFamily="2" charset="0"/>
              </a:rPr>
              <a:t> open </a:t>
            </a:r>
            <a:r>
              <a:rPr lang="de-DE" dirty="0" err="1">
                <a:effectLst/>
                <a:latin typeface="Helvetica Neue" panose="02000503000000020004" pitchFamily="2" charset="0"/>
              </a:rPr>
              <a:t>circuits</a:t>
            </a:r>
            <a:endParaRPr lang="de-DE" dirty="0">
              <a:effectLst/>
              <a:latin typeface="Helvetica Neue" panose="020005030000000200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998202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347E41B-764F-49AA-4B91-2ED2CB2C8D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Transient Responses: RC Series Circuit</a:t>
            </a:r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7D68C110-C1DC-DEB3-5F70-353FFFE718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03FC7C-1F2C-4946-B702-1A52A755583B}" type="slidenum">
              <a:rPr lang="de-DE" smtClean="0"/>
              <a:t>43</a:t>
            </a:fld>
            <a:endParaRPr lang="de-DE"/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27EF0147-E09A-C757-2848-3B62C0983B89}"/>
              </a:ext>
            </a:extLst>
          </p:cNvPr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94529" y="3327061"/>
            <a:ext cx="2404745" cy="1378585"/>
          </a:xfrm>
          <a:prstGeom prst="rect">
            <a:avLst/>
          </a:prstGeom>
        </p:spPr>
      </p:pic>
      <p:pic>
        <p:nvPicPr>
          <p:cNvPr id="5" name="Grafik 4">
            <a:extLst>
              <a:ext uri="{FF2B5EF4-FFF2-40B4-BE49-F238E27FC236}">
                <a16:creationId xmlns:a16="http://schemas.microsoft.com/office/drawing/2014/main" id="{322CA677-64AB-399D-E770-A7E62840F03F}"/>
              </a:ext>
            </a:extLst>
          </p:cNvPr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70181" y="2119108"/>
            <a:ext cx="5633670" cy="3998367"/>
          </a:xfrm>
          <a:prstGeom prst="rect">
            <a:avLst/>
          </a:prstGeom>
          <a:noFill/>
        </p:spPr>
      </p:pic>
      <p:sp>
        <p:nvSpPr>
          <p:cNvPr id="7" name="Textfeld 6">
            <a:extLst>
              <a:ext uri="{FF2B5EF4-FFF2-40B4-BE49-F238E27FC236}">
                <a16:creationId xmlns:a16="http://schemas.microsoft.com/office/drawing/2014/main" id="{54D38FDF-7428-CA03-27D8-3089CC70A0EA}"/>
              </a:ext>
            </a:extLst>
          </p:cNvPr>
          <p:cNvSpPr txBox="1"/>
          <p:nvPr/>
        </p:nvSpPr>
        <p:spPr>
          <a:xfrm>
            <a:off x="988149" y="2278042"/>
            <a:ext cx="361750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2400" dirty="0" err="1"/>
              <a:t>discharging</a:t>
            </a:r>
            <a:r>
              <a:rPr lang="de-DE" sz="2400" dirty="0"/>
              <a:t> </a:t>
            </a:r>
            <a:r>
              <a:rPr lang="de-DE" sz="2400" dirty="0" err="1"/>
              <a:t>the</a:t>
            </a:r>
            <a:r>
              <a:rPr lang="de-DE" sz="2400" dirty="0"/>
              <a:t> </a:t>
            </a:r>
            <a:r>
              <a:rPr lang="de-DE" sz="2400" dirty="0" err="1"/>
              <a:t>capacitor</a:t>
            </a:r>
            <a:r>
              <a:rPr lang="de-DE" sz="2400" dirty="0"/>
              <a:t>:</a:t>
            </a:r>
          </a:p>
        </p:txBody>
      </p:sp>
    </p:spTree>
    <p:extLst>
      <p:ext uri="{BB962C8B-B14F-4D97-AF65-F5344CB8AC3E}">
        <p14:creationId xmlns:p14="http://schemas.microsoft.com/office/powerpoint/2010/main" val="8877878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53" presetClass="entr" presetSubtype="16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38AC83-87A6-27B7-70BB-27DD49340A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8BADA4F-AD89-9FED-24A4-711582CD75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Transient Responses: RL Parallel Circuit</a:t>
            </a:r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8F13AD2B-7B82-FCF6-2807-C1F970D3A0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03FC7C-1F2C-4946-B702-1A52A755583B}" type="slidenum">
              <a:rPr lang="de-DE" smtClean="0"/>
              <a:t>44</a:t>
            </a:fld>
            <a:endParaRPr lang="de-DE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feld 7">
                <a:extLst>
                  <a:ext uri="{FF2B5EF4-FFF2-40B4-BE49-F238E27FC236}">
                    <a16:creationId xmlns:a16="http://schemas.microsoft.com/office/drawing/2014/main" id="{DBE91921-29E3-B023-E958-EECDE178B187}"/>
                  </a:ext>
                </a:extLst>
              </p:cNvPr>
              <p:cNvSpPr txBox="1"/>
              <p:nvPr/>
            </p:nvSpPr>
            <p:spPr>
              <a:xfrm>
                <a:off x="838200" y="1989875"/>
                <a:ext cx="2953437" cy="170380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de-DE" sz="2400" dirty="0"/>
                  <a:t>differential </a:t>
                </a:r>
                <a:r>
                  <a:rPr lang="de-DE" sz="2400" dirty="0" err="1"/>
                  <a:t>equation</a:t>
                </a:r>
                <a:r>
                  <a:rPr lang="de-DE" sz="2400" dirty="0"/>
                  <a:t>:</a:t>
                </a:r>
              </a:p>
              <a:p>
                <a:pPr>
                  <a:lnSpc>
                    <a:spcPct val="115000"/>
                  </a:lnSpc>
                  <a:spcAft>
                    <a:spcPts val="10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sz="2400" i="1"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de-DE" sz="2400" i="1"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de-DE" sz="2400" i="1"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𝑞</m:t>
                          </m:r>
                        </m:sub>
                      </m:sSub>
                      <m:r>
                        <a:rPr lang="de-DE" sz="2400" i="1"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lang="de-DE" sz="2400" i="1"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de-DE" sz="2400" i="1"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𝑢</m:t>
                          </m:r>
                        </m:num>
                        <m:den>
                          <m:r>
                            <a:rPr lang="de-DE" sz="2400" i="1"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𝑅</m:t>
                          </m:r>
                        </m:den>
                      </m:f>
                      <m:r>
                        <a:rPr lang="de-DE" sz="2400" i="1"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+</m:t>
                      </m:r>
                      <m:f>
                        <m:fPr>
                          <m:ctrlPr>
                            <a:rPr lang="de-DE" sz="2400" i="1"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de-DE" sz="2400" i="1"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de-DE" sz="2400" i="1"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𝐿</m:t>
                          </m:r>
                        </m:den>
                      </m:f>
                      <m:nary>
                        <m:naryPr>
                          <m:limLoc m:val="undOvr"/>
                          <m:subHide m:val="on"/>
                          <m:supHide m:val="on"/>
                          <m:ctrlPr>
                            <a:rPr lang="de-DE" sz="2400" i="1"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naryPr>
                        <m:sub/>
                        <m:sup/>
                        <m:e>
                          <m:r>
                            <a:rPr lang="de-DE" sz="2400" i="1"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𝑢</m:t>
                          </m:r>
                          <m:r>
                            <a:rPr lang="de-DE" sz="2400" i="1"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 </m:t>
                          </m:r>
                          <m:r>
                            <a:rPr lang="de-DE" sz="2400" i="1"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𝑑𝑡</m:t>
                          </m:r>
                        </m:e>
                      </m:nary>
                    </m:oMath>
                  </m:oMathPara>
                </a14:m>
                <a:endParaRPr lang="de-DE" sz="2000" dirty="0"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8" name="Textfeld 7">
                <a:extLst>
                  <a:ext uri="{FF2B5EF4-FFF2-40B4-BE49-F238E27FC236}">
                    <a16:creationId xmlns:a16="http://schemas.microsoft.com/office/drawing/2014/main" id="{DBE91921-29E3-B023-E958-EECDE178B18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1989875"/>
                <a:ext cx="2953437" cy="1703800"/>
              </a:xfrm>
              <a:prstGeom prst="rect">
                <a:avLst/>
              </a:prstGeom>
              <a:blipFill>
                <a:blip r:embed="rId2"/>
                <a:stretch>
                  <a:fillRect l="-3433" t="-57037" r="-4721" b="-113333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feld 9">
                <a:extLst>
                  <a:ext uri="{FF2B5EF4-FFF2-40B4-BE49-F238E27FC236}">
                    <a16:creationId xmlns:a16="http://schemas.microsoft.com/office/drawing/2014/main" id="{37D1A79A-6AE0-F261-CE0A-FFABA2E13CC8}"/>
                  </a:ext>
                </a:extLst>
              </p:cNvPr>
              <p:cNvSpPr txBox="1"/>
              <p:nvPr/>
            </p:nvSpPr>
            <p:spPr>
              <a:xfrm>
                <a:off x="2669320" y="3910026"/>
                <a:ext cx="2333297" cy="228928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15000"/>
                  </a:lnSpc>
                  <a:spcAft>
                    <a:spcPts val="10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i="1"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𝑢</m:t>
                      </m:r>
                      <m:r>
                        <a:rPr lang="de-DE" i="1"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=</m:t>
                      </m:r>
                      <m:sSub>
                        <m:sSubPr>
                          <m:ctrlPr>
                            <a:rPr lang="de-DE" i="1"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de-DE" i="1"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de-DE" i="1"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𝑞</m:t>
                          </m:r>
                        </m:sub>
                      </m:sSub>
                      <m:r>
                        <a:rPr lang="de-DE" i="1"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𝑅</m:t>
                      </m:r>
                      <m:r>
                        <a:rPr lang="de-DE" i="1"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∙</m:t>
                      </m:r>
                      <m:sSup>
                        <m:sSupPr>
                          <m:ctrlPr>
                            <a:rPr lang="de-DE" i="1"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de-DE" i="1"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de-DE" i="1"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de-DE" i="1"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</m:ctrlPr>
                            </m:fPr>
                            <m:num>
                              <m:r>
                                <a:rPr lang="de-DE" i="1"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𝑡</m:t>
                              </m:r>
                            </m:num>
                            <m:den>
                              <m:r>
                                <a:rPr lang="de-DE" i="1"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𝜏</m:t>
                              </m:r>
                            </m:den>
                          </m:f>
                        </m:sup>
                      </m:sSup>
                    </m:oMath>
                  </m:oMathPara>
                </a14:m>
                <a:endParaRPr lang="de-DE" i="1" dirty="0">
                  <a:latin typeface="Cambria Math" panose="02040503050406030204" pitchFamily="18" charset="0"/>
                </a:endParaRPr>
              </a:p>
              <a:p>
                <a:pPr>
                  <a:lnSpc>
                    <a:spcPct val="115000"/>
                  </a:lnSpc>
                  <a:spcAft>
                    <a:spcPts val="10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i="1"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𝜏</m:t>
                      </m:r>
                      <m:r>
                        <a:rPr lang="de-DE" i="1"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lang="de-DE" i="1"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de-DE" i="1"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𝐿</m:t>
                          </m:r>
                        </m:num>
                        <m:den>
                          <m:r>
                            <a:rPr lang="de-DE" i="1"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𝑅</m:t>
                          </m:r>
                        </m:den>
                      </m:f>
                    </m:oMath>
                  </m:oMathPara>
                </a14:m>
                <a:endParaRPr lang="de-DE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i="1"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de-DE" i="1"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𝑖</m:t>
                          </m:r>
                        </m:e>
                        <m:sub>
                          <m:r>
                            <a:rPr lang="de-DE" i="1"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𝑅</m:t>
                          </m:r>
                        </m:sub>
                      </m:sSub>
                      <m:r>
                        <a:rPr lang="de-DE" i="1"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=</m:t>
                      </m:r>
                      <m:sSub>
                        <m:sSubPr>
                          <m:ctrlPr>
                            <a:rPr lang="de-DE" i="1"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de-DE" i="1"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de-DE" i="1"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𝑞</m:t>
                          </m:r>
                        </m:sub>
                      </m:sSub>
                      <m:r>
                        <a:rPr lang="de-DE" i="1"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∙</m:t>
                      </m:r>
                      <m:sSup>
                        <m:sSupPr>
                          <m:ctrlPr>
                            <a:rPr lang="de-DE" i="1"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de-DE" i="1"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de-DE" i="1"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de-DE" i="1"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</m:ctrlPr>
                            </m:fPr>
                            <m:num>
                              <m:r>
                                <a:rPr lang="de-DE" i="1"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𝑡</m:t>
                              </m:r>
                            </m:num>
                            <m:den>
                              <m:r>
                                <a:rPr lang="de-DE" i="1"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𝜏</m:t>
                              </m:r>
                            </m:den>
                          </m:f>
                        </m:sup>
                      </m:sSup>
                    </m:oMath>
                  </m:oMathPara>
                </a14:m>
                <a:endParaRPr lang="de-DE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i="1"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de-DE" i="1"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𝑖</m:t>
                          </m:r>
                        </m:e>
                        <m:sub>
                          <m:r>
                            <a:rPr lang="de-DE" i="1"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𝐿</m:t>
                          </m:r>
                        </m:sub>
                      </m:sSub>
                      <m:r>
                        <a:rPr lang="de-DE" i="1"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=</m:t>
                      </m:r>
                      <m:sSub>
                        <m:sSubPr>
                          <m:ctrlPr>
                            <a:rPr lang="de-DE" i="1"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de-DE" i="1"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de-DE" i="1"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𝑞</m:t>
                          </m:r>
                        </m:sub>
                      </m:sSub>
                      <m:d>
                        <m:dPr>
                          <m:ctrlPr>
                            <a:rPr lang="de-DE" i="1"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de-DE" i="1"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1−</m:t>
                          </m:r>
                          <m:sSup>
                            <m:sSupPr>
                              <m:ctrlPr>
                                <a:rPr lang="de-DE" i="1"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r>
                                <a:rPr lang="de-DE" i="1"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de-DE" i="1"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−</m:t>
                              </m:r>
                              <m:f>
                                <m:fPr>
                                  <m:ctrlPr>
                                    <a:rPr lang="de-DE" i="1"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de-DE" i="1"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𝑡</m:t>
                                  </m:r>
                                </m:num>
                                <m:den>
                                  <m:r>
                                    <a:rPr lang="de-DE" i="1"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𝜏</m:t>
                                  </m:r>
                                </m:den>
                              </m:f>
                            </m:sup>
                          </m:sSup>
                        </m:e>
                      </m:d>
                    </m:oMath>
                  </m:oMathPara>
                </a14:m>
                <a:endParaRPr lang="de-DE" dirty="0"/>
              </a:p>
            </p:txBody>
          </p:sp>
        </mc:Choice>
        <mc:Fallback xmlns="">
          <p:sp>
            <p:nvSpPr>
              <p:cNvPr id="10" name="Textfeld 9">
                <a:extLst>
                  <a:ext uri="{FF2B5EF4-FFF2-40B4-BE49-F238E27FC236}">
                    <a16:creationId xmlns:a16="http://schemas.microsoft.com/office/drawing/2014/main" id="{37D1A79A-6AE0-F261-CE0A-FFABA2E13CC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69320" y="3910026"/>
                <a:ext cx="2333297" cy="2289281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Inhaltsplatzhalter 4">
            <a:extLst>
              <a:ext uri="{FF2B5EF4-FFF2-40B4-BE49-F238E27FC236}">
                <a16:creationId xmlns:a16="http://schemas.microsoft.com/office/drawing/2014/main" id="{4D827BEA-C117-4EF1-823D-2D622076B978}"/>
              </a:ext>
            </a:extLst>
          </p:cNvPr>
          <p:cNvPicPr>
            <a:picLocks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579" y="4122419"/>
            <a:ext cx="2865120" cy="1920240"/>
          </a:xfrm>
          <a:prstGeom prst="rect">
            <a:avLst/>
          </a:prstGeom>
        </p:spPr>
      </p:pic>
      <p:pic>
        <p:nvPicPr>
          <p:cNvPr id="7" name="Grafik 6">
            <a:extLst>
              <a:ext uri="{FF2B5EF4-FFF2-40B4-BE49-F238E27FC236}">
                <a16:creationId xmlns:a16="http://schemas.microsoft.com/office/drawing/2014/main" id="{42EF7041-D9E8-32D1-622F-8897AF3F6A6B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33621" y="2156459"/>
            <a:ext cx="6273800" cy="3886200"/>
          </a:xfrm>
          <a:prstGeom prst="rect">
            <a:avLst/>
          </a:prstGeom>
          <a:noFill/>
        </p:spPr>
      </p:pic>
      <p:sp>
        <p:nvSpPr>
          <p:cNvPr id="9" name="Textfeld 8">
            <a:extLst>
              <a:ext uri="{FF2B5EF4-FFF2-40B4-BE49-F238E27FC236}">
                <a16:creationId xmlns:a16="http://schemas.microsoft.com/office/drawing/2014/main" id="{F669E235-5F62-2F64-0ABE-D0395E3B0C2D}"/>
              </a:ext>
            </a:extLst>
          </p:cNvPr>
          <p:cNvSpPr txBox="1"/>
          <p:nvPr/>
        </p:nvSpPr>
        <p:spPr>
          <a:xfrm>
            <a:off x="8970521" y="2770345"/>
            <a:ext cx="3088728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de-DE" dirty="0" err="1">
                <a:effectLst/>
                <a:latin typeface="Helvetica Neue" panose="02000503000000020004" pitchFamily="2" charset="0"/>
              </a:rPr>
              <a:t>steady-state</a:t>
            </a:r>
            <a:r>
              <a:rPr lang="de-DE" dirty="0">
                <a:effectLst/>
                <a:latin typeface="Helvetica Neue" panose="02000503000000020004" pitchFamily="2" charset="0"/>
              </a:rPr>
              <a:t> </a:t>
            </a:r>
            <a:r>
              <a:rPr lang="de-DE" dirty="0" err="1">
                <a:effectLst/>
                <a:latin typeface="Helvetica Neue" panose="02000503000000020004" pitchFamily="2" charset="0"/>
              </a:rPr>
              <a:t>conditions</a:t>
            </a:r>
            <a:r>
              <a:rPr lang="de-DE" dirty="0">
                <a:effectLst/>
                <a:latin typeface="Helvetica Neue" panose="02000503000000020004" pitchFamily="2" charset="0"/>
              </a:rPr>
              <a:t> </a:t>
            </a:r>
            <a:r>
              <a:rPr lang="de-DE" dirty="0" err="1">
                <a:effectLst/>
                <a:latin typeface="Helvetica Neue" panose="02000503000000020004" pitchFamily="2" charset="0"/>
              </a:rPr>
              <a:t>with</a:t>
            </a:r>
            <a:r>
              <a:rPr lang="de-DE" dirty="0">
                <a:effectLst/>
                <a:latin typeface="Helvetica Neue" panose="02000503000000020004" pitchFamily="2" charset="0"/>
              </a:rPr>
              <a:t> </a:t>
            </a:r>
            <a:r>
              <a:rPr lang="de-DE" dirty="0">
                <a:latin typeface="Helvetica Neue" panose="02000503000000020004" pitchFamily="2" charset="0"/>
              </a:rPr>
              <a:t>DC</a:t>
            </a:r>
            <a:r>
              <a:rPr lang="de-DE" dirty="0">
                <a:effectLst/>
                <a:latin typeface="Helvetica Neue" panose="02000503000000020004" pitchFamily="2" charset="0"/>
              </a:rPr>
              <a:t> </a:t>
            </a:r>
            <a:r>
              <a:rPr lang="de-DE" dirty="0" err="1">
                <a:effectLst/>
                <a:latin typeface="Helvetica Neue" panose="02000503000000020004" pitchFamily="2" charset="0"/>
              </a:rPr>
              <a:t>sources</a:t>
            </a:r>
            <a:r>
              <a:rPr lang="de-DE" dirty="0">
                <a:latin typeface="Helvetica Neue" panose="02000503000000020004" pitchFamily="2" charset="0"/>
              </a:rPr>
              <a:t>: </a:t>
            </a:r>
            <a:r>
              <a:rPr lang="de-DE" dirty="0" err="1">
                <a:latin typeface="Helvetica Neue" panose="02000503000000020004" pitchFamily="2" charset="0"/>
              </a:rPr>
              <a:t>inductances</a:t>
            </a:r>
            <a:r>
              <a:rPr lang="de-DE" dirty="0">
                <a:latin typeface="Helvetica Neue" panose="02000503000000020004" pitchFamily="2" charset="0"/>
              </a:rPr>
              <a:t> </a:t>
            </a:r>
            <a:r>
              <a:rPr lang="de-DE" dirty="0" err="1">
                <a:effectLst/>
                <a:latin typeface="Helvetica Neue" panose="02000503000000020004" pitchFamily="2" charset="0"/>
              </a:rPr>
              <a:t>behave</a:t>
            </a:r>
            <a:r>
              <a:rPr lang="de-DE" dirty="0">
                <a:effectLst/>
                <a:latin typeface="Helvetica Neue" panose="02000503000000020004" pitchFamily="2" charset="0"/>
              </a:rPr>
              <a:t> </a:t>
            </a:r>
            <a:r>
              <a:rPr lang="de-DE" dirty="0" err="1">
                <a:effectLst/>
                <a:latin typeface="Helvetica Neue" panose="02000503000000020004" pitchFamily="2" charset="0"/>
              </a:rPr>
              <a:t>as</a:t>
            </a:r>
            <a:r>
              <a:rPr lang="de-DE" dirty="0">
                <a:effectLst/>
                <a:latin typeface="Helvetica Neue" panose="02000503000000020004" pitchFamily="2" charset="0"/>
              </a:rPr>
              <a:t> </a:t>
            </a:r>
            <a:r>
              <a:rPr lang="de-DE" dirty="0" err="1">
                <a:effectLst/>
                <a:latin typeface="Helvetica Neue" panose="02000503000000020004" pitchFamily="2" charset="0"/>
              </a:rPr>
              <a:t>short</a:t>
            </a:r>
            <a:r>
              <a:rPr lang="de-DE" dirty="0">
                <a:effectLst/>
                <a:latin typeface="Helvetica Neue" panose="02000503000000020004" pitchFamily="2" charset="0"/>
              </a:rPr>
              <a:t> </a:t>
            </a:r>
            <a:r>
              <a:rPr lang="de-DE" dirty="0" err="1">
                <a:effectLst/>
                <a:latin typeface="Helvetica Neue" panose="02000503000000020004" pitchFamily="2" charset="0"/>
              </a:rPr>
              <a:t>circuits</a:t>
            </a:r>
            <a:endParaRPr lang="de-DE" dirty="0">
              <a:effectLst/>
              <a:latin typeface="Helvetica Neue" panose="020005030000000200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573129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2009</Words>
  <Application>Microsoft Macintosh PowerPoint</Application>
  <PresentationFormat>Breitbild</PresentationFormat>
  <Paragraphs>433</Paragraphs>
  <Slides>44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7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44</vt:i4>
      </vt:variant>
    </vt:vector>
  </HeadingPairs>
  <TitlesOfParts>
    <vt:vector size="52" baseType="lpstr">
      <vt:lpstr>Aptos</vt:lpstr>
      <vt:lpstr>Aptos Display</vt:lpstr>
      <vt:lpstr>Arial</vt:lpstr>
      <vt:lpstr>Calibri</vt:lpstr>
      <vt:lpstr>Cambria Math</vt:lpstr>
      <vt:lpstr>Helvetica Neue</vt:lpstr>
      <vt:lpstr>Wingdings</vt:lpstr>
      <vt:lpstr>Office</vt:lpstr>
      <vt:lpstr>Introduction to Electrical Engineering</vt:lpstr>
      <vt:lpstr>Overview</vt:lpstr>
      <vt:lpstr>Electric and Magnetic Fields</vt:lpstr>
      <vt:lpstr>Coulomb Force</vt:lpstr>
      <vt:lpstr>Electric Field</vt:lpstr>
      <vt:lpstr>Electric Field Lines</vt:lpstr>
      <vt:lpstr>Voltage and Potential</vt:lpstr>
      <vt:lpstr>Electrostatic Induction</vt:lpstr>
      <vt:lpstr>Electric Displacement</vt:lpstr>
      <vt:lpstr>Dielectric Constants</vt:lpstr>
      <vt:lpstr>Gauss‘s Law</vt:lpstr>
      <vt:lpstr>Plate Capacitor</vt:lpstr>
      <vt:lpstr>Capacitance</vt:lpstr>
      <vt:lpstr>Time Dependence</vt:lpstr>
      <vt:lpstr>Energy of Capacitance</vt:lpstr>
      <vt:lpstr>Capacitors in Series</vt:lpstr>
      <vt:lpstr>Capacitors in Parallel</vt:lpstr>
      <vt:lpstr>Common Implementations</vt:lpstr>
      <vt:lpstr>Magnetic Force</vt:lpstr>
      <vt:lpstr>Magnetic Flux Density</vt:lpstr>
      <vt:lpstr>Lorentz Force</vt:lpstr>
      <vt:lpstr>Generation of Magnetic Fields</vt:lpstr>
      <vt:lpstr>Ampère‘s Circuital Law</vt:lpstr>
      <vt:lpstr>Magnetic Field Lines</vt:lpstr>
      <vt:lpstr>Magnetic Field Strength</vt:lpstr>
      <vt:lpstr>Magnetic Flux</vt:lpstr>
      <vt:lpstr>Gauss‘s Law for Magnetism</vt:lpstr>
      <vt:lpstr>Electromagnetic Induction</vt:lpstr>
      <vt:lpstr>Inductance</vt:lpstr>
      <vt:lpstr>Time Dependence</vt:lpstr>
      <vt:lpstr>Inductor (aka Coil)</vt:lpstr>
      <vt:lpstr>Magnetic Analogue of Ohm’s Law</vt:lpstr>
      <vt:lpstr>Electric vs Magnetic Circuits</vt:lpstr>
      <vt:lpstr>Energy of Inductance</vt:lpstr>
      <vt:lpstr>Inductors in Series</vt:lpstr>
      <vt:lpstr>Inductors in Parallel</vt:lpstr>
      <vt:lpstr>Transformer</vt:lpstr>
      <vt:lpstr>Ideal Transformer</vt:lpstr>
      <vt:lpstr>Load on Secondary Side</vt:lpstr>
      <vt:lpstr>Maxwell‘s Correction to Ampère‘s Law</vt:lpstr>
      <vt:lpstr>Maxwell‘s Equations in Vacuum</vt:lpstr>
      <vt:lpstr>Transient Responses: RC Series Circuit</vt:lpstr>
      <vt:lpstr>Transient Responses: RC Series Circuit</vt:lpstr>
      <vt:lpstr>Transient Responses: RL Parallel Circuit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Felix Wick</dc:creator>
  <cp:lastModifiedBy>Felix Wick</cp:lastModifiedBy>
  <cp:revision>175</cp:revision>
  <dcterms:created xsi:type="dcterms:W3CDTF">2025-08-07T19:22:22Z</dcterms:created>
  <dcterms:modified xsi:type="dcterms:W3CDTF">2025-09-08T12:38:34Z</dcterms:modified>
</cp:coreProperties>
</file>